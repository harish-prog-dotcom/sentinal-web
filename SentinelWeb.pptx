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c249bed0-6634-c114-2190-af28737b0210}">
          <p14:sldIdLst>
            <p14:sldId id="256"/>
            <p14:sldId id="257"/>
          </p14:sldIdLst>
        </p14:section>
        <p14:section name="How it works" id="{df0a7ccc-6aeb-963c-f28e-7275876eb0eb}">
          <p14:sldIdLst>
            <p14:sldId id="258"/>
            <p14:sldId id="259"/>
            <p14:sldId id="260"/>
            <p14:sldId id="261"/>
          </p14:sldIdLst>
        </p14:section>
        <p14:section name="Model and results" id="{1dc86f3d-596f-24d4-b6c9-067338c26029}">
          <p14:sldIdLst>
            <p14:sldId id="262"/>
            <p14:sldId id="263"/>
            <p14:sldId id="264"/>
            <p14:sldId id="265"/>
          </p14:sldIdLst>
        </p14:section>
        <p14:section name="The product" id="{c77ebcc3-5ee2-0c52-de1d-3a0817278d47}">
          <p14:sldIdLst>
            <p14:sldId id="266"/>
            <p14:sldId id="267"/>
            <p14:sldId id="268"/>
            <p14:sldId id="269"/>
            <p14:sldId id="270"/>
            <p14:sldId id="271"/>
          </p14:sldIdLst>
        </p14:section>
        <p14:section name="Wrap-up" id="{386c69e6-947f-63cb-28b8-22d820beadb0}">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Score on the 6,106-row test split</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CBD5E1"/>
            </a:solidFill>
            <a:effectLst/>
          </c:spPr>
          <c:invertIfNegative val="0"/>
          <c:dLbls>
            <c:numFmt formatCode="0.0&quot;%&quot;"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Rules only</c:v>
                  </c:pt>
                  <c:pt idx="1">
                    <c:v>ML only (0.70)</c:v>
                  </c:pt>
                  <c:pt idx="2">
                    <c:v>Rules + ML</c:v>
                  </c:pt>
                </c:lvl>
              </c:multiLvlStrCache>
            </c:multiLvlStrRef>
          </c:cat>
          <c:val>
            <c:numRef>
              <c:f>Sheet1!$B$2:$B$4</c:f>
              <c:numCache>
                <c:formatCode>General</c:formatCode>
                <c:ptCount val="3"/>
                <c:pt idx="0">
                  <c:v>73.6</c:v>
                </c:pt>
                <c:pt idx="1">
                  <c:v>99.3</c:v>
                </c:pt>
                <c:pt idx="2">
                  <c:v>98.4</c:v>
                </c:pt>
              </c:numCache>
            </c:numRef>
          </c:val>
        </c:ser>
        <c:ser>
          <c:idx val="1"/>
          <c:order val="1"/>
          <c:tx>
            <c:strRef>
              <c:f>Sheet1!$C$1</c:f>
              <c:strCache>
                <c:ptCount val="1"/>
                <c:pt idx="0">
                  <c:v>Precision</c:v>
                </c:pt>
              </c:strCache>
            </c:strRef>
          </c:tx>
          <c:spPr>
            <a:solidFill>
              <a:srgbClr val="64748B"/>
            </a:solidFill>
            <a:effectLst/>
          </c:spPr>
          <c:invertIfNegative val="0"/>
          <c:dLbls>
            <c:numFmt formatCode="0.0&quot;%&quot;"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Rules only</c:v>
                  </c:pt>
                  <c:pt idx="1">
                    <c:v>ML only (0.70)</c:v>
                  </c:pt>
                  <c:pt idx="2">
                    <c:v>Rules + ML</c:v>
                  </c:pt>
                </c:lvl>
              </c:multiLvlStrCache>
            </c:multiLvlStrRef>
          </c:cat>
          <c:val>
            <c:numRef>
              <c:f>Sheet1!$C$2:$C$4</c:f>
              <c:numCache>
                <c:formatCode>General</c:formatCode>
                <c:ptCount val="3"/>
                <c:pt idx="0">
                  <c:v>92.1</c:v>
                </c:pt>
                <c:pt idx="1">
                  <c:v>100</c:v>
                </c:pt>
                <c:pt idx="2">
                  <c:v>97.3</c:v>
                </c:pt>
              </c:numCache>
            </c:numRef>
          </c:val>
        </c:ser>
        <c:ser>
          <c:idx val="2"/>
          <c:order val="2"/>
          <c:tx>
            <c:strRef>
              <c:f>Sheet1!$D$1</c:f>
              <c:strCache>
                <c:ptCount val="1"/>
                <c:pt idx="0">
                  <c:v>Recall</c:v>
                </c:pt>
              </c:strCache>
            </c:strRef>
          </c:tx>
          <c:spPr>
            <a:solidFill>
              <a:srgbClr val="0E7490"/>
            </a:solidFill>
            <a:effectLst/>
          </c:spPr>
          <c:invertIfNegative val="0"/>
          <c:dLbls>
            <c:numFmt formatCode="0.0&quot;%&quot;"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Rules only</c:v>
                  </c:pt>
                  <c:pt idx="1">
                    <c:v>ML only (0.70)</c:v>
                  </c:pt>
                  <c:pt idx="2">
                    <c:v>Rules + ML</c:v>
                  </c:pt>
                </c:lvl>
              </c:multiLvlStrCache>
            </c:multiLvlStrRef>
          </c:cat>
          <c:val>
            <c:numRef>
              <c:f>Sheet1!$D$2:$D$4</c:f>
              <c:numCache>
                <c:formatCode>General</c:formatCode>
                <c:ptCount val="3"/>
                <c:pt idx="0">
                  <c:v>31.1</c:v>
                </c:pt>
                <c:pt idx="1">
                  <c:v>98.3</c:v>
                </c:pt>
                <c:pt idx="2">
                  <c:v>98.3</c:v>
                </c:pt>
              </c:numCache>
            </c:numRef>
          </c:val>
        </c:ser>
        <c:dLbls>
          <c:numFmt formatCode="0.0&quot;%&quot;"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22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SentinelWeb is an educational prototype: it sits in front of a small demo web app, watches every request, flags suspicious ones with fixed rules and a machine-learning model, and shows everything on a live dashboard. Today: the problem, how it works, how well the model performs, the product itself, and what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threat types SentinelWeb watches for. Red marks the input attacks, which are blocked in the demo; amber marks behaviour-based threats, which are rate-limited. The key point: small teams don't read raw logs, so alerts must be both accurate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product in three verbs. Watch: only requests to /demo are monitored, so the dashboard itself is never scanned. Decide: three kinds of detectors produce a severity of High, Medium, Low or Normal, and an action. Explain: every event carries its evidence and a sentence a non-expert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Every request to /demo hits the middleware first. The middleware asks the detection module for a verdict, writes an event to SQLite, and only then, if the request was not blocked, passes it on to the demo app (the green arrow). The dashboard polls the API every three seconds and draws everything from the same event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Locked clients are rejected first and not logged again, so an attacker can't flood the log. The rate check comes before the more expensive input scan. Login failures need the app's response, so they are counted last. All thresholds are demo values set at the top of main.py.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rule: only high-confidence matches are blocked. A fixed rule matching SQL or script syntax is High and blocked in the demo. When only the model fires, the input is Medium and flagged for a human, never blocked automatically, because a statistical guess can be wrong. XSS is rules-only because the training dataset contains SQL injection examples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n-grams work well for injection because the signal is in punctuation and keyword fragments like quote-space-or, not whole words. Training takes about five seconds. The same normalize function cleans both training text and live requests. If the model file is missing, SentinelWeb falls back to rules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result. Hand-written rules are precise but narrow: they caught under a third of the test attacks. With the model alongside them, SentinelWeb caught 98.3 percent and missed only 39 of 2,256 attack strings in the held-out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combined precision lower than ML alone? Almost all of the 61 false alarms come from the rules: benign SQL-looking sentences such as SELECT ... UNION SELECT match the UNION SELECT rule. That's a deliberate trade-off for a demo, because rule hits are explainable. In a real deployment those rules would need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thresholds on the 6,106-row test split. 0.5 and 0.7 both produce a single false alarm, but 0.7 gives more margin against noisier real traffic. 0.9 removes that last false alarm but misses five percent more attacks. Because model-only hits are flagged, not blocked, a false alarm costs a reviewer a few seconds; a miss costs much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page. At the top, a single threat level: High alert, because a high-severity event happened in the last two minutes. Then five counters, each showing how many arrived in the last five minutes. The activity chart stacks events by severity in 15-second buckets, and the latest alerts list opens any event in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any row on the Events page opens this drawer. This example is an input no fixed rule caught, admin" or "a"="a, but the model scored it 0.80. Because it's a model-only hit, it's Medium and flagged rather than blocked. The caption under the bar is deliberate: the score measures similarity to known attacks, not the probability of an attack. The Events page also filters by severity, type, time and text, and exports to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trust alerts more when they can see why the system decides what it does. This page answers that inside the product: engine status and test metrics come live from the model file, the evaluation table matches the results in this deck, and the rules reference lists every trigger with its severity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is rule-first: it reads the event log and a small FAQ, so it works with no internet and no API key. With a free Gemini or Groq key it falls back to an AI model for questions the rules can't answer, but only summary counts are sent, never IPs, evidence or logs. Replies are rendered as plain text, like everything else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Restrained frosted-glass panels over a quiet backdrop, one accent colour, and severity colours used only for severity and always with a text label. The layout works down to phone width, is keyboard accessible, announces new alerts to screen readers and respects reduced-motion settings. It's a single HTML file with no build step, served directly by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tool that stores attack strings and shows them on a web page is itself a target. These six choices close the obvious holes: no HTML injection in the dashboard, no SQL injection in the log, no secrets in storage, no automatic blocking on a guess, no sensitive data sent to a third-party AI, and no spreadsheet formula injection from exported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The model misses very short or unusual payloads where there is little SQL syntax to learn from. Rate-limit counters live in memory, so a restart resets them. And because the dataset repeats similar payloads, the next real test should use fresh traffic captured from the demo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simulate.py sends harmless test traffic: a normal search, a SQL injection string, an XSS string, two inputs only the model catches, six wrong logins and a burst of 25 requests. Within a few seconds the dashboard shows each one. Fill in the dataset author and license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122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417320"/>
            <a:ext cx="5303520" cy="365760"/>
          </a:xfrm>
          <a:prstGeom prst="rect">
            <a:avLst/>
          </a:prstGeom>
          <a:noFill/>
          <a:ln/>
        </p:spPr>
        <p:txBody>
          <a:bodyPr wrap="square" rtlCol="0"/>
          <a:lstStyle>
            <a:lvl1pPr indent="0" marL="0">
              <a:buNone/>
              <a:defRPr lang="en-US" sz="1400" b="1" spc="3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640080" y="1828800"/>
            <a:ext cx="5303520" cy="109728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0"/>
          <p:cNvSpPr/>
          <p:nvPr>
            <p:ph idx="102" type="body" hasCustomPrompt="1"/>
          </p:nvPr>
        </p:nvSpPr>
        <p:spPr>
          <a:xfrm>
            <a:off x="640080" y="3063240"/>
            <a:ext cx="5120640" cy="17373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tx2"/>
                </a:solidFill>
              </a:rPr>
              <a:t>SentinelWeb</a:t>
            </a:r>
            <a:endParaRPr lang="en-US" sz="1000" dirty="0"/>
          </a:p>
        </p:txBody>
      </p:sp>
      <p:sp>
        <p:nvSpPr>
          <p:cNvPr id="3" name="Text 1"/>
          <p:cNvSpPr/>
          <p:nvPr>
            <p:ph idx="101" type="body" hasCustomPrompt="1"/>
          </p:nvPr>
        </p:nvSpPr>
        <p:spPr>
          <a:xfrm>
            <a:off x="548640" y="365760"/>
            <a:ext cx="11064240" cy="32004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4" name="Text 1"/>
          <p:cNvSpPr/>
          <p:nvPr>
            <p:ph idx="102" type="title" hasCustomPrompt="1"/>
          </p:nvPr>
        </p:nvSpPr>
        <p:spPr>
          <a:xfrm>
            <a:off x="548640" y="685800"/>
            <a:ext cx="11064240"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bg2"/>
                </a:solidFill>
              </a:rPr>
              <a:t>SentinelWeb</a:t>
            </a:r>
            <a:endParaRPr lang="en-US" sz="1000" dirty="0"/>
          </a:p>
        </p:txBody>
      </p:sp>
      <p:sp>
        <p:nvSpPr>
          <p:cNvPr id="3" name="Text 1"/>
          <p:cNvSpPr/>
          <p:nvPr>
            <p:ph idx="101" type="body" hasCustomPrompt="1"/>
          </p:nvPr>
        </p:nvSpPr>
        <p:spPr>
          <a:xfrm>
            <a:off x="548640" y="365760"/>
            <a:ext cx="11064240" cy="320040"/>
          </a:xfrm>
          <a:prstGeom prst="rect">
            <a:avLst/>
          </a:prstGeom>
          <a:noFill/>
          <a:ln/>
        </p:spPr>
        <p:txBody>
          <a:bodyPr wrap="square" rtlCol="0"/>
          <a:lstStyle>
            <a:lvl1pPr indent="0" marL="0">
              <a:buNone/>
              <a:defRPr lang="en-US" sz="1300" b="1" spc="300" kern="0" dirty="0">
                <a:solidFill>
                  <a:schemeClr val="accent5"/>
                </a:solidFill>
              </a:defRPr>
            </a:lvl1pPr>
          </a:lstStyle>
          <a:p>
            <a:pPr indent="0" marL="0">
              <a:buNone/>
            </a:pPr>
            <a:endParaRPr lang="en-US" sz="1300" dirty="0"/>
          </a:p>
        </p:txBody>
      </p:sp>
      <p:sp>
        <p:nvSpPr>
          <p:cNvPr id="4" name="Text 1"/>
          <p:cNvSpPr/>
          <p:nvPr>
            <p:ph idx="102" type="title" hasCustomPrompt="1"/>
          </p:nvPr>
        </p:nvSpPr>
        <p:spPr>
          <a:xfrm>
            <a:off x="548640" y="685800"/>
            <a:ext cx="11064240" cy="68580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3DE6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10515600" cy="365760"/>
          </a:xfrm>
          <a:prstGeom prst="rect">
            <a:avLst/>
          </a:prstGeom>
          <a:noFill/>
          <a:ln/>
        </p:spPr>
        <p:txBody>
          <a:bodyPr wrap="square" rtlCol="0"/>
          <a:lstStyle>
            <a:lvl1pPr indent="0" marL="0">
              <a:buNone/>
              <a:defRPr lang="en-US" sz="1400" b="1" spc="300" kern="0" dirty="0">
                <a:solidFill>
                  <a:schemeClr val="tx2"/>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417320"/>
            <a:ext cx="5303520" cy="365760"/>
          </a:xfrm>
          <a:prstGeom prst="rect">
            <a:avLst/>
          </a:prstGeom>
          <a:noFill/>
          <a:ln/>
        </p:spPr>
        <p:txBody>
          <a:bodyPr wrap="square" lIns="0" tIns="0" rIns="0" bIns="0" rtlCol="0"/>
          <a:lstStyle/>
          <a:p>
            <a:pPr indent="0" marL="0">
              <a:buNone/>
            </a:pPr>
            <a:r>
              <a:rPr lang="en-US" sz="1400" b="1" spc="300" kern="0" dirty="0">
                <a:solidFill>
                  <a:schemeClr val="accent5"/>
                </a:solidFill>
              </a:rPr>
              <a:t>WEB ATTACK MONITORING PROTOTYPE</a:t>
            </a:r>
            <a:endParaRPr lang="en-US" sz="1400" dirty="0"/>
          </a:p>
        </p:txBody>
      </p:sp>
      <p:sp>
        <p:nvSpPr>
          <p:cNvPr id="3" name="Text 0"/>
          <p:cNvSpPr/>
          <p:nvPr>
            <p:ph idx="101" type="title" hasCustomPrompt="1"/>
          </p:nvPr>
        </p:nvSpPr>
        <p:spPr>
          <a:xfrm>
            <a:off x="640080" y="1828800"/>
            <a:ext cx="5303520" cy="1097280"/>
          </a:xfrm>
          <a:prstGeom prst="rect">
            <a:avLst/>
          </a:prstGeom>
          <a:noFill/>
          <a:ln/>
        </p:spPr>
        <p:txBody>
          <a:bodyPr wrap="square" lIns="0" tIns="0" rIns="0" bIns="0" rtlCol="0" anchor="ctr"/>
          <a:lstStyle/>
          <a:p>
            <a:pPr indent="0" marL="0">
              <a:buNone/>
            </a:pPr>
            <a:r>
              <a:rPr lang="en-US" sz="5400" b="1" dirty="0">
                <a:solidFill>
                  <a:schemeClr val="bg1"/>
                </a:solidFill>
              </a:rPr>
              <a:t>SentinelWeb</a:t>
            </a:r>
            <a:endParaRPr lang="en-US" sz="5400" dirty="0"/>
          </a:p>
        </p:txBody>
      </p:sp>
      <p:sp>
        <p:nvSpPr>
          <p:cNvPr id="4" name="Text 0"/>
          <p:cNvSpPr/>
          <p:nvPr>
            <p:ph idx="102" type="body" hasCustomPrompt="1"/>
          </p:nvPr>
        </p:nvSpPr>
        <p:spPr>
          <a:xfrm>
            <a:off x="640080" y="3063240"/>
            <a:ext cx="5120640" cy="1737360"/>
          </a:xfrm>
          <a:prstGeom prst="rect">
            <a:avLst/>
          </a:prstGeom>
          <a:noFill/>
          <a:ln/>
        </p:spPr>
        <p:txBody>
          <a:bodyPr wrap="square" lIns="0" tIns="0" rIns="0" bIns="0" rtlCol="0" anchor="t"/>
          <a:lstStyle/>
          <a:p>
            <a:pPr indent="0" marL="0">
              <a:buNone/>
            </a:pPr>
            <a:r>
              <a:rPr lang="en-US" sz="2000" dirty="0">
                <a:solidFill>
                  <a:schemeClr val="bg2"/>
                </a:solidFill>
              </a:rPr>
              <a:t>Rules plus a trained model catch SQL injection, XSS, brute-force logins and request floods, and explain every alert in plain language.</a:t>
            </a:r>
            <a:endParaRPr lang="en-US" sz="2000" dirty="0"/>
          </a:p>
        </p:txBody>
      </p:sp>
      <p:sp>
        <p:nvSpPr>
          <p:cNvPr id="5" name="Hero screenshot frame"/>
          <p:cNvSpPr/>
          <p:nvPr/>
        </p:nvSpPr>
        <p:spPr>
          <a:xfrm>
            <a:off x="6217920" y="1554480"/>
            <a:ext cx="5486400" cy="3126105"/>
          </a:xfrm>
          <a:prstGeom prst="roundRect">
            <a:avLst>
              <a:gd name="adj" fmla="val 2340"/>
            </a:avLst>
          </a:prstGeom>
          <a:solidFill>
            <a:schemeClr val="tx2"/>
          </a:solidFill>
          <a:ln w="12700">
            <a:solidFill>
              <a:schemeClr val="tx2"/>
            </a:solidFill>
            <a:prstDash val="solid"/>
          </a:ln>
          <a:effectLst>
            <a:outerShdw sx="100000" sy="100000" kx="0" ky="0" algn="bl" rotWithShape="0" blurRad="127000" dist="38100" dir="5400000">
              <a:srgbClr val="0B1220">
                <a:alpha val="14000"/>
              </a:srgbClr>
            </a:outerShdw>
          </a:effectLst>
        </p:spPr>
      </p:sp>
      <p:pic>
        <p:nvPicPr>
          <p:cNvPr id="6" name="Hero screenshot" descr="SentinelWeb overview dashboard with threat level, counters, activity chart and latest alerts">    </p:cNvPr>
          <p:cNvPicPr>
            <a:picLocks noChangeAspect="1"/>
          </p:cNvPicPr>
          <p:nvPr/>
        </p:nvPicPr>
        <p:blipFill>
          <a:blip r:embed="rId1"/>
          <a:stretch>
            <a:fillRect/>
          </a:stretch>
        </p:blipFill>
        <p:spPr>
          <a:xfrm>
            <a:off x="6263640" y="1600200"/>
            <a:ext cx="5394960" cy="3034665"/>
          </a:xfrm>
          <a:prstGeom prst="rect">
            <a:avLst/>
          </a:prstGeom>
        </p:spPr>
      </p:pic>
      <p:sp>
        <p:nvSpPr>
          <p:cNvPr id="7" name="Text 4"/>
          <p:cNvSpPr txBox="1"/>
          <p:nvPr/>
        </p:nvSpPr>
        <p:spPr>
          <a:xfrm>
            <a:off x="640080" y="5989320"/>
            <a:ext cx="7315200" cy="320040"/>
          </a:xfrm>
          <a:prstGeom prst="rect">
            <a:avLst/>
          </a:prstGeom>
          <a:noFill/>
          <a:ln/>
        </p:spPr>
        <p:txBody>
          <a:bodyPr wrap="square" lIns="0" tIns="0" rIns="0" bIns="0" rtlCol="0" anchor="t"/>
          <a:lstStyle/>
          <a:p>
            <a:pPr indent="0" marL="0">
              <a:buNone/>
            </a:pPr>
            <a:r>
              <a:rPr lang="en-US" sz="1400" dirty="0">
                <a:solidFill>
                  <a:schemeClr val="bg2"/>
                </a:solidFill>
              </a:rPr>
              <a:t>FastAPI · scikit-learn · SQLite    |    [Presenter name]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THE PROBLEM</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Four attacks a small web app sees every day</a:t>
            </a:r>
            <a:endParaRPr lang="en-US" sz="3200" dirty="0"/>
          </a:p>
        </p:txBody>
      </p:sp>
      <p:sp>
        <p:nvSpPr>
          <p:cNvPr id="4" name="SQL injection card"/>
          <p:cNvSpPr/>
          <p:nvPr/>
        </p:nvSpPr>
        <p:spPr>
          <a:xfrm>
            <a:off x="548640" y="1691640"/>
            <a:ext cx="2606040" cy="3246120"/>
          </a:xfrm>
          <a:prstGeom prst="roundRect">
            <a:avLst>
              <a:gd name="adj" fmla="val 4211"/>
            </a:avLst>
          </a:prstGeom>
          <a:solidFill>
            <a:schemeClr val="bg2"/>
          </a:solidFill>
          <a:ln w="12700">
            <a:solidFill>
              <a:schemeClr val="bg2">
                <a:alpha val="0"/>
              </a:schemeClr>
            </a:solidFill>
            <a:prstDash val="solid"/>
          </a:ln>
        </p:spPr>
      </p:sp>
      <p:sp>
        <p:nvSpPr>
          <p:cNvPr id="5" name="SQL injection circle"/>
          <p:cNvSpPr/>
          <p:nvPr/>
        </p:nvSpPr>
        <p:spPr>
          <a:xfrm>
            <a:off x="868680" y="2011680"/>
            <a:ext cx="731520" cy="731520"/>
          </a:xfrm>
          <a:prstGeom prst="ellipse">
            <a:avLst/>
          </a:prstGeom>
          <a:solidFill>
            <a:srgbClr val="B91C1C"/>
          </a:solidFill>
          <a:ln w="12700">
            <a:solidFill>
              <a:srgbClr val="B91C1C"/>
            </a:solidFill>
            <a:prstDash val="solid"/>
          </a:ln>
        </p:spPr>
      </p:sp>
      <p:pic>
        <p:nvPicPr>
          <p:cNvPr id="6" name="SQL injection icon"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7" name="Text 4"/>
          <p:cNvSpPr txBox="1"/>
          <p:nvPr/>
        </p:nvSpPr>
        <p:spPr>
          <a:xfrm>
            <a:off x="868680" y="297180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SQL injection</a:t>
            </a:r>
            <a:endParaRPr lang="en-US" sz="2000" dirty="0"/>
          </a:p>
        </p:txBody>
      </p:sp>
      <p:sp>
        <p:nvSpPr>
          <p:cNvPr id="8" name="Text 5"/>
          <p:cNvSpPr txBox="1"/>
          <p:nvPr/>
        </p:nvSpPr>
        <p:spPr>
          <a:xfrm>
            <a:off x="868680" y="3749040"/>
            <a:ext cx="2011680" cy="1051560"/>
          </a:xfrm>
          <a:prstGeom prst="rect">
            <a:avLst/>
          </a:prstGeom>
          <a:noFill/>
          <a:ln/>
        </p:spPr>
        <p:txBody>
          <a:bodyPr wrap="square" lIns="0" tIns="0" rIns="0" bIns="0" rtlCol="0" anchor="t"/>
          <a:lstStyle/>
          <a:p>
            <a:pPr indent="0" marL="0">
              <a:buNone/>
            </a:pPr>
            <a:r>
              <a:rPr lang="en-US" sz="1500" dirty="0">
                <a:solidFill>
                  <a:schemeClr val="tx2"/>
                </a:solidFill>
              </a:rPr>
              <a:t>Database commands typed into an input box to rewrite a query.</a:t>
            </a:r>
            <a:endParaRPr lang="en-US" sz="1500" dirty="0"/>
          </a:p>
        </p:txBody>
      </p:sp>
      <p:sp>
        <p:nvSpPr>
          <p:cNvPr id="9" name="Cross-site scripting card"/>
          <p:cNvSpPr/>
          <p:nvPr/>
        </p:nvSpPr>
        <p:spPr>
          <a:xfrm>
            <a:off x="3374136" y="1691640"/>
            <a:ext cx="2606040" cy="3246120"/>
          </a:xfrm>
          <a:prstGeom prst="roundRect">
            <a:avLst>
              <a:gd name="adj" fmla="val 4211"/>
            </a:avLst>
          </a:prstGeom>
          <a:solidFill>
            <a:schemeClr val="bg2"/>
          </a:solidFill>
          <a:ln w="12700">
            <a:solidFill>
              <a:schemeClr val="bg2">
                <a:alpha val="0"/>
              </a:schemeClr>
            </a:solidFill>
            <a:prstDash val="solid"/>
          </a:ln>
        </p:spPr>
      </p:sp>
      <p:sp>
        <p:nvSpPr>
          <p:cNvPr id="10" name="Cross-site scripting circle"/>
          <p:cNvSpPr/>
          <p:nvPr/>
        </p:nvSpPr>
        <p:spPr>
          <a:xfrm>
            <a:off x="3694176" y="2011680"/>
            <a:ext cx="731520" cy="731520"/>
          </a:xfrm>
          <a:prstGeom prst="ellipse">
            <a:avLst/>
          </a:prstGeom>
          <a:solidFill>
            <a:srgbClr val="B91C1C"/>
          </a:solidFill>
          <a:ln w="12700">
            <a:solidFill>
              <a:srgbClr val="B91C1C"/>
            </a:solidFill>
            <a:prstDash val="solid"/>
          </a:ln>
        </p:spPr>
      </p:sp>
      <p:pic>
        <p:nvPicPr>
          <p:cNvPr id="11" name="Cross-site scripting icon" descr="preencoded.png">    </p:cNvPr>
          <p:cNvPicPr>
            <a:picLocks noChangeAspect="1"/>
          </p:cNvPicPr>
          <p:nvPr/>
        </p:nvPicPr>
        <p:blipFill>
          <a:blip r:embed="rId2"/>
          <a:stretch>
            <a:fillRect/>
          </a:stretch>
        </p:blipFill>
        <p:spPr>
          <a:xfrm>
            <a:off x="3869741" y="2187245"/>
            <a:ext cx="380390" cy="380390"/>
          </a:xfrm>
          <a:prstGeom prst="rect">
            <a:avLst/>
          </a:prstGeom>
        </p:spPr>
      </p:pic>
      <p:sp>
        <p:nvSpPr>
          <p:cNvPr id="12" name="Text 8"/>
          <p:cNvSpPr txBox="1"/>
          <p:nvPr/>
        </p:nvSpPr>
        <p:spPr>
          <a:xfrm>
            <a:off x="3694176" y="297180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Cross-site scripting</a:t>
            </a:r>
            <a:endParaRPr lang="en-US" sz="2000" dirty="0"/>
          </a:p>
        </p:txBody>
      </p:sp>
      <p:sp>
        <p:nvSpPr>
          <p:cNvPr id="13" name="Text 9"/>
          <p:cNvSpPr txBox="1"/>
          <p:nvPr/>
        </p:nvSpPr>
        <p:spPr>
          <a:xfrm>
            <a:off x="3694176" y="3749040"/>
            <a:ext cx="2011680" cy="1051560"/>
          </a:xfrm>
          <a:prstGeom prst="rect">
            <a:avLst/>
          </a:prstGeom>
          <a:noFill/>
          <a:ln/>
        </p:spPr>
        <p:txBody>
          <a:bodyPr wrap="square" lIns="0" tIns="0" rIns="0" bIns="0" rtlCol="0" anchor="t"/>
          <a:lstStyle/>
          <a:p>
            <a:pPr indent="0" marL="0">
              <a:buNone/>
            </a:pPr>
            <a:r>
              <a:rPr lang="en-US" sz="1500" dirty="0">
                <a:solidFill>
                  <a:schemeClr val="tx2"/>
                </a:solidFill>
              </a:rPr>
              <a:t>Script-like text a browser could run if a page showed it unsafely.</a:t>
            </a:r>
            <a:endParaRPr lang="en-US" sz="1500" dirty="0"/>
          </a:p>
        </p:txBody>
      </p:sp>
      <p:sp>
        <p:nvSpPr>
          <p:cNvPr id="14" name="Brute-force logins card"/>
          <p:cNvSpPr/>
          <p:nvPr/>
        </p:nvSpPr>
        <p:spPr>
          <a:xfrm>
            <a:off x="6199632" y="1691640"/>
            <a:ext cx="2606040" cy="3246120"/>
          </a:xfrm>
          <a:prstGeom prst="roundRect">
            <a:avLst>
              <a:gd name="adj" fmla="val 4211"/>
            </a:avLst>
          </a:prstGeom>
          <a:solidFill>
            <a:schemeClr val="bg2"/>
          </a:solidFill>
          <a:ln w="12700">
            <a:solidFill>
              <a:schemeClr val="bg2">
                <a:alpha val="0"/>
              </a:schemeClr>
            </a:solidFill>
            <a:prstDash val="solid"/>
          </a:ln>
        </p:spPr>
      </p:sp>
      <p:sp>
        <p:nvSpPr>
          <p:cNvPr id="15" name="Brute-force logins circle"/>
          <p:cNvSpPr/>
          <p:nvPr/>
        </p:nvSpPr>
        <p:spPr>
          <a:xfrm>
            <a:off x="6519672" y="2011680"/>
            <a:ext cx="731520" cy="731520"/>
          </a:xfrm>
          <a:prstGeom prst="ellipse">
            <a:avLst/>
          </a:prstGeom>
          <a:solidFill>
            <a:srgbClr val="B45309"/>
          </a:solidFill>
          <a:ln w="12700">
            <a:solidFill>
              <a:srgbClr val="B45309"/>
            </a:solidFill>
            <a:prstDash val="solid"/>
          </a:ln>
        </p:spPr>
      </p:sp>
      <p:pic>
        <p:nvPicPr>
          <p:cNvPr id="16" name="Brute-force logins icon" descr="preencoded.png">    </p:cNvPr>
          <p:cNvPicPr>
            <a:picLocks noChangeAspect="1"/>
          </p:cNvPicPr>
          <p:nvPr/>
        </p:nvPicPr>
        <p:blipFill>
          <a:blip r:embed="rId3"/>
          <a:stretch>
            <a:fillRect/>
          </a:stretch>
        </p:blipFill>
        <p:spPr>
          <a:xfrm>
            <a:off x="6695237" y="2187245"/>
            <a:ext cx="380390" cy="380390"/>
          </a:xfrm>
          <a:prstGeom prst="rect">
            <a:avLst/>
          </a:prstGeom>
        </p:spPr>
      </p:pic>
      <p:sp>
        <p:nvSpPr>
          <p:cNvPr id="17" name="Text 12"/>
          <p:cNvSpPr txBox="1"/>
          <p:nvPr/>
        </p:nvSpPr>
        <p:spPr>
          <a:xfrm>
            <a:off x="6519672" y="297180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Brute-force logins</a:t>
            </a:r>
            <a:endParaRPr lang="en-US" sz="2000" dirty="0"/>
          </a:p>
        </p:txBody>
      </p:sp>
      <p:sp>
        <p:nvSpPr>
          <p:cNvPr id="18" name="Text 13"/>
          <p:cNvSpPr txBox="1"/>
          <p:nvPr/>
        </p:nvSpPr>
        <p:spPr>
          <a:xfrm>
            <a:off x="6519672" y="3749040"/>
            <a:ext cx="2011680" cy="1051560"/>
          </a:xfrm>
          <a:prstGeom prst="rect">
            <a:avLst/>
          </a:prstGeom>
          <a:noFill/>
          <a:ln/>
        </p:spPr>
        <p:txBody>
          <a:bodyPr wrap="square" lIns="0" tIns="0" rIns="0" bIns="0" rtlCol="0" anchor="t"/>
          <a:lstStyle/>
          <a:p>
            <a:pPr indent="0" marL="0">
              <a:buNone/>
            </a:pPr>
            <a:r>
              <a:rPr lang="en-US" sz="1500" dirty="0">
                <a:solidFill>
                  <a:schemeClr val="tx2"/>
                </a:solidFill>
              </a:rPr>
              <a:t>Many password guesses against one account in a short time.</a:t>
            </a:r>
            <a:endParaRPr lang="en-US" sz="1500" dirty="0"/>
          </a:p>
        </p:txBody>
      </p:sp>
      <p:sp>
        <p:nvSpPr>
          <p:cNvPr id="19" name="Request floods card"/>
          <p:cNvSpPr/>
          <p:nvPr/>
        </p:nvSpPr>
        <p:spPr>
          <a:xfrm>
            <a:off x="9025128" y="1691640"/>
            <a:ext cx="2606040" cy="3246120"/>
          </a:xfrm>
          <a:prstGeom prst="roundRect">
            <a:avLst>
              <a:gd name="adj" fmla="val 4211"/>
            </a:avLst>
          </a:prstGeom>
          <a:solidFill>
            <a:schemeClr val="bg2"/>
          </a:solidFill>
          <a:ln w="12700">
            <a:solidFill>
              <a:schemeClr val="bg2">
                <a:alpha val="0"/>
              </a:schemeClr>
            </a:solidFill>
            <a:prstDash val="solid"/>
          </a:ln>
        </p:spPr>
      </p:sp>
      <p:sp>
        <p:nvSpPr>
          <p:cNvPr id="20" name="Request floods circle"/>
          <p:cNvSpPr/>
          <p:nvPr/>
        </p:nvSpPr>
        <p:spPr>
          <a:xfrm>
            <a:off x="9345168" y="2011680"/>
            <a:ext cx="731520" cy="731520"/>
          </a:xfrm>
          <a:prstGeom prst="ellipse">
            <a:avLst/>
          </a:prstGeom>
          <a:solidFill>
            <a:srgbClr val="B45309"/>
          </a:solidFill>
          <a:ln w="12700">
            <a:solidFill>
              <a:srgbClr val="B45309"/>
            </a:solidFill>
            <a:prstDash val="solid"/>
          </a:ln>
        </p:spPr>
      </p:sp>
      <p:pic>
        <p:nvPicPr>
          <p:cNvPr id="21" name="Request floods icon" descr="preencoded.png">    </p:cNvPr>
          <p:cNvPicPr>
            <a:picLocks noChangeAspect="1"/>
          </p:cNvPicPr>
          <p:nvPr/>
        </p:nvPicPr>
        <p:blipFill>
          <a:blip r:embed="rId4"/>
          <a:stretch>
            <a:fillRect/>
          </a:stretch>
        </p:blipFill>
        <p:spPr>
          <a:xfrm>
            <a:off x="9520733" y="2187245"/>
            <a:ext cx="380390" cy="380390"/>
          </a:xfrm>
          <a:prstGeom prst="rect">
            <a:avLst/>
          </a:prstGeom>
        </p:spPr>
      </p:pic>
      <p:sp>
        <p:nvSpPr>
          <p:cNvPr id="22" name="Text 16"/>
          <p:cNvSpPr txBox="1"/>
          <p:nvPr/>
        </p:nvSpPr>
        <p:spPr>
          <a:xfrm>
            <a:off x="9345168" y="2971800"/>
            <a:ext cx="2011680" cy="685800"/>
          </a:xfrm>
          <a:prstGeom prst="rect">
            <a:avLst/>
          </a:prstGeom>
          <a:noFill/>
          <a:ln/>
        </p:spPr>
        <p:txBody>
          <a:bodyPr wrap="square" lIns="0" tIns="0" rIns="0" bIns="0" rtlCol="0" anchor="b"/>
          <a:lstStyle/>
          <a:p>
            <a:pPr indent="0" marL="0">
              <a:buNone/>
            </a:pPr>
            <a:r>
              <a:rPr lang="en-US" sz="2000" b="1" dirty="0">
                <a:solidFill>
                  <a:schemeClr val="tx1"/>
                </a:solidFill>
                <a:latin typeface="Arial" pitchFamily="34" charset="0"/>
                <a:ea typeface="Arial" pitchFamily="34" charset="-122"/>
                <a:cs typeface="Arial" pitchFamily="34" charset="-120"/>
              </a:rPr>
              <a:t>Request floods</a:t>
            </a:r>
            <a:endParaRPr lang="en-US" sz="2000" dirty="0"/>
          </a:p>
        </p:txBody>
      </p:sp>
      <p:sp>
        <p:nvSpPr>
          <p:cNvPr id="23" name="Text 17"/>
          <p:cNvSpPr txBox="1"/>
          <p:nvPr/>
        </p:nvSpPr>
        <p:spPr>
          <a:xfrm>
            <a:off x="9345168" y="3749040"/>
            <a:ext cx="2011680" cy="1051560"/>
          </a:xfrm>
          <a:prstGeom prst="rect">
            <a:avLst/>
          </a:prstGeom>
          <a:noFill/>
          <a:ln/>
        </p:spPr>
        <p:txBody>
          <a:bodyPr wrap="square" lIns="0" tIns="0" rIns="0" bIns="0" rtlCol="0" anchor="t"/>
          <a:lstStyle/>
          <a:p>
            <a:pPr indent="0" marL="0">
              <a:buNone/>
            </a:pPr>
            <a:r>
              <a:rPr lang="en-US" sz="1500" dirty="0">
                <a:solidFill>
                  <a:schemeClr val="tx2"/>
                </a:solidFill>
              </a:rPr>
              <a:t>One client sending far more requests than a person ever would.</a:t>
            </a:r>
            <a:endParaRPr lang="en-US" sz="1500" dirty="0"/>
          </a:p>
        </p:txBody>
      </p:sp>
      <p:sp>
        <p:nvSpPr>
          <p:cNvPr id="24" name="Text 18"/>
          <p:cNvSpPr txBox="1"/>
          <p:nvPr/>
        </p:nvSpPr>
        <p:spPr>
          <a:xfrm>
            <a:off x="548640" y="5349240"/>
            <a:ext cx="11064240" cy="548640"/>
          </a:xfrm>
          <a:prstGeom prst="rect">
            <a:avLst/>
          </a:prstGeom>
          <a:noFill/>
          <a:ln/>
        </p:spPr>
        <p:txBody>
          <a:bodyPr wrap="square" lIns="0" tIns="0" rIns="0" bIns="0" rtlCol="0" anchor="t"/>
          <a:lstStyle/>
          <a:p>
            <a:pPr indent="0" marL="0">
              <a:buNone/>
            </a:pPr>
            <a:r>
              <a:rPr lang="en-US" sz="1800" i="1" dirty="0">
                <a:solidFill>
                  <a:schemeClr val="tx1"/>
                </a:solidFill>
              </a:rPr>
              <a:t>Small teams rarely have time to read raw logs. They need alerts they can trust and understand.</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THE IDEA</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SentinelWeb watches, decides and explains</a:t>
            </a:r>
            <a:endParaRPr lang="en-US" sz="3200" dirty="0"/>
          </a:p>
        </p:txBody>
      </p:sp>
      <p:sp>
        <p:nvSpPr>
          <p:cNvPr id="4" name="Watch card"/>
          <p:cNvSpPr/>
          <p:nvPr/>
        </p:nvSpPr>
        <p:spPr>
          <a:xfrm>
            <a:off x="548640" y="1691640"/>
            <a:ext cx="3529584" cy="3931920"/>
          </a:xfrm>
          <a:prstGeom prst="roundRect">
            <a:avLst>
              <a:gd name="adj" fmla="val 3109"/>
            </a:avLst>
          </a:prstGeom>
          <a:solidFill>
            <a:schemeClr val="bg1"/>
          </a:solidFill>
          <a:ln w="12700">
            <a:solidFill>
              <a:srgbClr val="EEF2F7"/>
            </a:solidFill>
            <a:prstDash val="solid"/>
          </a:ln>
          <a:effectLst>
            <a:outerShdw sx="100000" sy="100000" kx="0" ky="0" algn="bl" rotWithShape="0" blurRad="127000" dist="38100" dir="5400000">
              <a:srgbClr val="0B1220">
                <a:alpha val="14000"/>
              </a:srgbClr>
            </a:outerShdw>
          </a:effectLst>
        </p:spPr>
      </p:sp>
      <p:sp>
        <p:nvSpPr>
          <p:cNvPr id="5" name="Text 3"/>
          <p:cNvSpPr txBox="1"/>
          <p:nvPr/>
        </p:nvSpPr>
        <p:spPr>
          <a:xfrm>
            <a:off x="960120" y="2057400"/>
            <a:ext cx="1463040" cy="82296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01</a:t>
            </a:r>
            <a:endParaRPr lang="en-US" sz="4800" dirty="0"/>
          </a:p>
        </p:txBody>
      </p:sp>
      <p:sp>
        <p:nvSpPr>
          <p:cNvPr id="6" name="Watch circle"/>
          <p:cNvSpPr/>
          <p:nvPr/>
        </p:nvSpPr>
        <p:spPr>
          <a:xfrm>
            <a:off x="3154680" y="2103120"/>
            <a:ext cx="594360" cy="594360"/>
          </a:xfrm>
          <a:prstGeom prst="ellipse">
            <a:avLst/>
          </a:prstGeom>
          <a:solidFill>
            <a:srgbClr val="0E7490"/>
          </a:solidFill>
          <a:ln w="12700">
            <a:solidFill>
              <a:srgbClr val="0E7490"/>
            </a:solidFill>
            <a:prstDash val="solid"/>
          </a:ln>
        </p:spPr>
      </p:sp>
      <p:pic>
        <p:nvPicPr>
          <p:cNvPr id="7" name="Watch icon" descr="preencoded.png">    </p:cNvPr>
          <p:cNvPicPr>
            <a:picLocks noChangeAspect="1"/>
          </p:cNvPicPr>
          <p:nvPr/>
        </p:nvPicPr>
        <p:blipFill>
          <a:blip r:embed="rId1"/>
          <a:stretch>
            <a:fillRect/>
          </a:stretch>
        </p:blipFill>
        <p:spPr>
          <a:xfrm>
            <a:off x="3297326" y="2245766"/>
            <a:ext cx="309067" cy="309067"/>
          </a:xfrm>
          <a:prstGeom prst="rect">
            <a:avLst/>
          </a:prstGeom>
        </p:spPr>
      </p:pic>
      <p:sp>
        <p:nvSpPr>
          <p:cNvPr id="8" name="Text 5"/>
          <p:cNvSpPr txBox="1"/>
          <p:nvPr/>
        </p:nvSpPr>
        <p:spPr>
          <a:xfrm>
            <a:off x="960120" y="3063240"/>
            <a:ext cx="2743200" cy="54864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Watch</a:t>
            </a:r>
            <a:endParaRPr lang="en-US" sz="2400" dirty="0"/>
          </a:p>
        </p:txBody>
      </p:sp>
      <p:sp>
        <p:nvSpPr>
          <p:cNvPr id="9" name="Text 6"/>
          <p:cNvSpPr txBox="1"/>
          <p:nvPr/>
        </p:nvSpPr>
        <p:spPr>
          <a:xfrm>
            <a:off x="960120" y="3703320"/>
            <a:ext cx="2743200" cy="1645920"/>
          </a:xfrm>
          <a:prstGeom prst="rect">
            <a:avLst/>
          </a:prstGeom>
          <a:noFill/>
          <a:ln/>
        </p:spPr>
        <p:txBody>
          <a:bodyPr wrap="square" lIns="0" tIns="0" rIns="0" bIns="0" rtlCol="0" anchor="t"/>
          <a:lstStyle/>
          <a:p>
            <a:pPr indent="0" marL="0">
              <a:buNone/>
            </a:pPr>
            <a:r>
              <a:rPr lang="en-US" sz="1600" dirty="0">
                <a:solidFill>
                  <a:schemeClr val="tx2"/>
                </a:solidFill>
              </a:rPr>
              <a:t>A FastAPI middleware sees every request to the demo app under /demo/*.</a:t>
            </a:r>
            <a:endParaRPr lang="en-US" sz="1600" dirty="0"/>
          </a:p>
        </p:txBody>
      </p:sp>
      <p:sp>
        <p:nvSpPr>
          <p:cNvPr id="10" name="Decide card"/>
          <p:cNvSpPr/>
          <p:nvPr/>
        </p:nvSpPr>
        <p:spPr>
          <a:xfrm>
            <a:off x="4315968" y="1691640"/>
            <a:ext cx="3529584" cy="3931920"/>
          </a:xfrm>
          <a:prstGeom prst="roundRect">
            <a:avLst>
              <a:gd name="adj" fmla="val 3109"/>
            </a:avLst>
          </a:prstGeom>
          <a:solidFill>
            <a:schemeClr val="bg1"/>
          </a:solidFill>
          <a:ln w="12700">
            <a:solidFill>
              <a:srgbClr val="EEF2F7"/>
            </a:solidFill>
            <a:prstDash val="solid"/>
          </a:ln>
          <a:effectLst>
            <a:outerShdw sx="100000" sy="100000" kx="0" ky="0" algn="bl" rotWithShape="0" blurRad="127000" dist="38100" dir="5400000">
              <a:srgbClr val="0B1220">
                <a:alpha val="14000"/>
              </a:srgbClr>
            </a:outerShdw>
          </a:effectLst>
        </p:spPr>
      </p:sp>
      <p:sp>
        <p:nvSpPr>
          <p:cNvPr id="11" name="Text 8"/>
          <p:cNvSpPr txBox="1"/>
          <p:nvPr/>
        </p:nvSpPr>
        <p:spPr>
          <a:xfrm>
            <a:off x="4727448" y="2057400"/>
            <a:ext cx="1463040" cy="82296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02</a:t>
            </a:r>
            <a:endParaRPr lang="en-US" sz="4800" dirty="0"/>
          </a:p>
        </p:txBody>
      </p:sp>
      <p:sp>
        <p:nvSpPr>
          <p:cNvPr id="12" name="Decide circle"/>
          <p:cNvSpPr/>
          <p:nvPr/>
        </p:nvSpPr>
        <p:spPr>
          <a:xfrm>
            <a:off x="6922008" y="2103120"/>
            <a:ext cx="594360" cy="594360"/>
          </a:xfrm>
          <a:prstGeom prst="ellipse">
            <a:avLst/>
          </a:prstGeom>
          <a:solidFill>
            <a:srgbClr val="0E7490"/>
          </a:solidFill>
          <a:ln w="12700">
            <a:solidFill>
              <a:srgbClr val="0E7490"/>
            </a:solidFill>
            <a:prstDash val="solid"/>
          </a:ln>
        </p:spPr>
      </p:sp>
      <p:pic>
        <p:nvPicPr>
          <p:cNvPr id="13" name="Decide icon" descr="preencoded.png">    </p:cNvPr>
          <p:cNvPicPr>
            <a:picLocks noChangeAspect="1"/>
          </p:cNvPicPr>
          <p:nvPr/>
        </p:nvPicPr>
        <p:blipFill>
          <a:blip r:embed="rId2"/>
          <a:stretch>
            <a:fillRect/>
          </a:stretch>
        </p:blipFill>
        <p:spPr>
          <a:xfrm>
            <a:off x="7064654" y="2245766"/>
            <a:ext cx="309067" cy="309067"/>
          </a:xfrm>
          <a:prstGeom prst="rect">
            <a:avLst/>
          </a:prstGeom>
        </p:spPr>
      </p:pic>
      <p:sp>
        <p:nvSpPr>
          <p:cNvPr id="14" name="Text 10"/>
          <p:cNvSpPr txBox="1"/>
          <p:nvPr/>
        </p:nvSpPr>
        <p:spPr>
          <a:xfrm>
            <a:off x="4727448" y="3063240"/>
            <a:ext cx="2743200" cy="54864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Decide</a:t>
            </a:r>
            <a:endParaRPr lang="en-US" sz="2400" dirty="0"/>
          </a:p>
        </p:txBody>
      </p:sp>
      <p:sp>
        <p:nvSpPr>
          <p:cNvPr id="15" name="Text 11"/>
          <p:cNvSpPr txBox="1"/>
          <p:nvPr/>
        </p:nvSpPr>
        <p:spPr>
          <a:xfrm>
            <a:off x="4727448" y="3703320"/>
            <a:ext cx="2743200" cy="1645920"/>
          </a:xfrm>
          <a:prstGeom prst="rect">
            <a:avLst/>
          </a:prstGeom>
          <a:noFill/>
          <a:ln/>
        </p:spPr>
        <p:txBody>
          <a:bodyPr wrap="square" lIns="0" tIns="0" rIns="0" bIns="0" rtlCol="0" anchor="t"/>
          <a:lstStyle/>
          <a:p>
            <a:pPr indent="0" marL="0">
              <a:buNone/>
            </a:pPr>
            <a:r>
              <a:rPr lang="en-US" sz="1600" dirty="0">
                <a:solidFill>
                  <a:schemeClr val="tx2"/>
                </a:solidFill>
              </a:rPr>
              <a:t>Rules, an ML model and time-window counters assign a severity, then block, flag or rate-limit.</a:t>
            </a:r>
            <a:endParaRPr lang="en-US" sz="1600" dirty="0"/>
          </a:p>
        </p:txBody>
      </p:sp>
      <p:sp>
        <p:nvSpPr>
          <p:cNvPr id="16" name="Explain card"/>
          <p:cNvSpPr/>
          <p:nvPr/>
        </p:nvSpPr>
        <p:spPr>
          <a:xfrm>
            <a:off x="8083296" y="1691640"/>
            <a:ext cx="3529584" cy="3931920"/>
          </a:xfrm>
          <a:prstGeom prst="roundRect">
            <a:avLst>
              <a:gd name="adj" fmla="val 3109"/>
            </a:avLst>
          </a:prstGeom>
          <a:solidFill>
            <a:schemeClr val="bg1"/>
          </a:solidFill>
          <a:ln w="12700">
            <a:solidFill>
              <a:srgbClr val="EEF2F7"/>
            </a:solidFill>
            <a:prstDash val="solid"/>
          </a:ln>
          <a:effectLst>
            <a:outerShdw sx="100000" sy="100000" kx="0" ky="0" algn="bl" rotWithShape="0" blurRad="127000" dist="38100" dir="5400000">
              <a:srgbClr val="0B1220">
                <a:alpha val="14000"/>
              </a:srgbClr>
            </a:outerShdw>
          </a:effectLst>
        </p:spPr>
      </p:sp>
      <p:sp>
        <p:nvSpPr>
          <p:cNvPr id="17" name="Text 13"/>
          <p:cNvSpPr txBox="1"/>
          <p:nvPr/>
        </p:nvSpPr>
        <p:spPr>
          <a:xfrm>
            <a:off x="8494776" y="2057400"/>
            <a:ext cx="1463040" cy="82296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03</a:t>
            </a:r>
            <a:endParaRPr lang="en-US" sz="4800" dirty="0"/>
          </a:p>
        </p:txBody>
      </p:sp>
      <p:sp>
        <p:nvSpPr>
          <p:cNvPr id="18" name="Explain circle"/>
          <p:cNvSpPr/>
          <p:nvPr/>
        </p:nvSpPr>
        <p:spPr>
          <a:xfrm>
            <a:off x="10689336" y="2103120"/>
            <a:ext cx="594360" cy="594360"/>
          </a:xfrm>
          <a:prstGeom prst="ellipse">
            <a:avLst/>
          </a:prstGeom>
          <a:solidFill>
            <a:srgbClr val="0E7490"/>
          </a:solidFill>
          <a:ln w="12700">
            <a:solidFill>
              <a:srgbClr val="0E7490"/>
            </a:solidFill>
            <a:prstDash val="solid"/>
          </a:ln>
        </p:spPr>
      </p:sp>
      <p:pic>
        <p:nvPicPr>
          <p:cNvPr id="19" name="Explain icon" descr="preencoded.png">    </p:cNvPr>
          <p:cNvPicPr>
            <a:picLocks noChangeAspect="1"/>
          </p:cNvPicPr>
          <p:nvPr/>
        </p:nvPicPr>
        <p:blipFill>
          <a:blip r:embed="rId3"/>
          <a:stretch>
            <a:fillRect/>
          </a:stretch>
        </p:blipFill>
        <p:spPr>
          <a:xfrm>
            <a:off x="10831982" y="2245766"/>
            <a:ext cx="309067" cy="309067"/>
          </a:xfrm>
          <a:prstGeom prst="rect">
            <a:avLst/>
          </a:prstGeom>
        </p:spPr>
      </p:pic>
      <p:sp>
        <p:nvSpPr>
          <p:cNvPr id="20" name="Text 15"/>
          <p:cNvSpPr txBox="1"/>
          <p:nvPr/>
        </p:nvSpPr>
        <p:spPr>
          <a:xfrm>
            <a:off x="8494776" y="3063240"/>
            <a:ext cx="2743200" cy="54864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Explain</a:t>
            </a:r>
            <a:endParaRPr lang="en-US" sz="2400" dirty="0"/>
          </a:p>
        </p:txBody>
      </p:sp>
      <p:sp>
        <p:nvSpPr>
          <p:cNvPr id="21" name="Text 16"/>
          <p:cNvSpPr txBox="1"/>
          <p:nvPr/>
        </p:nvSpPr>
        <p:spPr>
          <a:xfrm>
            <a:off x="8494776" y="3703320"/>
            <a:ext cx="2743200" cy="1645920"/>
          </a:xfrm>
          <a:prstGeom prst="rect">
            <a:avLst/>
          </a:prstGeom>
          <a:noFill/>
          <a:ln/>
        </p:spPr>
        <p:txBody>
          <a:bodyPr wrap="square" lIns="0" tIns="0" rIns="0" bIns="0" rtlCol="0" anchor="t"/>
          <a:lstStyle/>
          <a:p>
            <a:pPr indent="0" marL="0">
              <a:buNone/>
            </a:pPr>
            <a:r>
              <a:rPr lang="en-US" sz="1600" dirty="0">
                <a:solidFill>
                  <a:schemeClr val="tx2"/>
                </a:solidFill>
              </a:rPr>
              <a:t>Each event is logged with its evidence and a plain-language reason, shown live on a dashboard.</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ARCHITECTURE</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One process, four parts</a:t>
            </a:r>
            <a:endParaRPr lang="en-US" sz="3200" dirty="0"/>
          </a:p>
        </p:txBody>
      </p:sp>
      <p:sp>
        <p:nvSpPr>
          <p:cNvPr id="4" name="Client box"/>
          <p:cNvSpPr/>
          <p:nvPr/>
        </p:nvSpPr>
        <p:spPr>
          <a:xfrm>
            <a:off x="548640" y="2011680"/>
            <a:ext cx="2103120" cy="1188720"/>
          </a:xfrm>
          <a:prstGeom prst="roundRect">
            <a:avLst>
              <a:gd name="adj" fmla="val 9231"/>
            </a:avLst>
          </a:prstGeom>
          <a:solidFill>
            <a:schemeClr val="bg2"/>
          </a:solidFill>
          <a:ln w="12700">
            <a:solidFill>
              <a:schemeClr val="bg2">
                <a:alpha val="0"/>
              </a:schemeClr>
            </a:solidFill>
            <a:prstDash val="solid"/>
          </a:ln>
        </p:spPr>
      </p:sp>
      <p:sp>
        <p:nvSpPr>
          <p:cNvPr id="5" name="Text 3"/>
          <p:cNvSpPr txBox="1"/>
          <p:nvPr/>
        </p:nvSpPr>
        <p:spPr>
          <a:xfrm>
            <a:off x="777240" y="2011680"/>
            <a:ext cx="1645920" cy="118872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Client</a:t>
            </a:r>
            <a:endParaRPr lang="en-US" sz="1800" dirty="0"/>
          </a:p>
          <a:p>
            <a:pPr indent="0" marL="0">
              <a:buNone/>
            </a:pPr>
            <a:r>
              <a:rPr lang="en-US" sz="1400" dirty="0">
                <a:solidFill>
                  <a:schemeClr val="tx1"/>
                </a:solidFill>
              </a:rPr>
              <a:t>Browser or simulate.py</a:t>
            </a:r>
            <a:endParaRPr lang="en-US" sz="1800" dirty="0"/>
          </a:p>
        </p:txBody>
      </p:sp>
      <p:sp>
        <p:nvSpPr>
          <p:cNvPr id="6" name="Sentinel middleware box"/>
          <p:cNvSpPr/>
          <p:nvPr/>
        </p:nvSpPr>
        <p:spPr>
          <a:xfrm>
            <a:off x="3108960" y="2011680"/>
            <a:ext cx="2514600" cy="1188720"/>
          </a:xfrm>
          <a:prstGeom prst="roundRect">
            <a:avLst>
              <a:gd name="adj" fmla="val 9231"/>
            </a:avLst>
          </a:prstGeom>
          <a:solidFill>
            <a:schemeClr val="accent1"/>
          </a:solidFill>
          <a:ln w="12700">
            <a:solidFill>
              <a:schemeClr val="accent1">
                <a:alpha val="0"/>
              </a:schemeClr>
            </a:solidFill>
            <a:prstDash val="solid"/>
          </a:ln>
          <a:effectLst>
            <a:outerShdw sx="100000" sy="100000" kx="0" ky="0" algn="bl" rotWithShape="0" blurRad="127000" dist="38100" dir="5400000">
              <a:srgbClr val="0B1220">
                <a:alpha val="14000"/>
              </a:srgbClr>
            </a:outerShdw>
          </a:effectLst>
        </p:spPr>
      </p:sp>
      <p:sp>
        <p:nvSpPr>
          <p:cNvPr id="7" name="Text 5"/>
          <p:cNvSpPr txBox="1"/>
          <p:nvPr/>
        </p:nvSpPr>
        <p:spPr>
          <a:xfrm>
            <a:off x="3337560" y="2011680"/>
            <a:ext cx="2057400" cy="118872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Sentinel middleware</a:t>
            </a:r>
            <a:endParaRPr lang="en-US" sz="1800" dirty="0"/>
          </a:p>
          <a:p>
            <a:pPr indent="0" marL="0">
              <a:buNone/>
            </a:pPr>
            <a:r>
              <a:rPr lang="en-US" sz="1400" dirty="0">
                <a:solidFill>
                  <a:schemeClr val="bg1"/>
                </a:solidFill>
              </a:rPr>
              <a:t>FastAPI, main.py</a:t>
            </a:r>
            <a:endParaRPr lang="en-US" sz="1800" dirty="0"/>
          </a:p>
        </p:txBody>
      </p:sp>
      <p:sp>
        <p:nvSpPr>
          <p:cNvPr id="8" name="Detection box"/>
          <p:cNvSpPr/>
          <p:nvPr/>
        </p:nvSpPr>
        <p:spPr>
          <a:xfrm>
            <a:off x="6080760" y="2011680"/>
            <a:ext cx="2514600" cy="1188720"/>
          </a:xfrm>
          <a:prstGeom prst="roundRect">
            <a:avLst>
              <a:gd name="adj" fmla="val 9231"/>
            </a:avLst>
          </a:prstGeom>
          <a:solidFill>
            <a:schemeClr val="bg2"/>
          </a:solidFill>
          <a:ln w="12700">
            <a:solidFill>
              <a:schemeClr val="bg2">
                <a:alpha val="0"/>
              </a:schemeClr>
            </a:solidFill>
            <a:prstDash val="solid"/>
          </a:ln>
        </p:spPr>
      </p:sp>
      <p:sp>
        <p:nvSpPr>
          <p:cNvPr id="9" name="Text 7"/>
          <p:cNvSpPr txBox="1"/>
          <p:nvPr/>
        </p:nvSpPr>
        <p:spPr>
          <a:xfrm>
            <a:off x="6309360" y="2011680"/>
            <a:ext cx="2057400" cy="118872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Detection</a:t>
            </a:r>
            <a:endParaRPr lang="en-US" sz="1800" dirty="0"/>
          </a:p>
          <a:p>
            <a:pPr indent="0" marL="0">
              <a:buNone/>
            </a:pPr>
            <a:r>
              <a:rPr lang="en-US" sz="1400" dirty="0">
                <a:solidFill>
                  <a:schemeClr val="tx1"/>
                </a:solidFill>
              </a:rPr>
              <a:t>Rules · ML model · sliding windows</a:t>
            </a:r>
            <a:endParaRPr lang="en-US" sz="1800" dirty="0"/>
          </a:p>
        </p:txBody>
      </p:sp>
      <p:sp>
        <p:nvSpPr>
          <p:cNvPr id="10" name="Event log box"/>
          <p:cNvSpPr/>
          <p:nvPr/>
        </p:nvSpPr>
        <p:spPr>
          <a:xfrm>
            <a:off x="9052560" y="2011680"/>
            <a:ext cx="2587752" cy="1188720"/>
          </a:xfrm>
          <a:prstGeom prst="roundRect">
            <a:avLst>
              <a:gd name="adj" fmla="val 9231"/>
            </a:avLst>
          </a:prstGeom>
          <a:solidFill>
            <a:schemeClr val="bg2"/>
          </a:solidFill>
          <a:ln w="12700">
            <a:solidFill>
              <a:schemeClr val="bg2">
                <a:alpha val="0"/>
              </a:schemeClr>
            </a:solidFill>
            <a:prstDash val="solid"/>
          </a:ln>
        </p:spPr>
      </p:sp>
      <p:sp>
        <p:nvSpPr>
          <p:cNvPr id="11" name="Text 9"/>
          <p:cNvSpPr txBox="1"/>
          <p:nvPr/>
        </p:nvSpPr>
        <p:spPr>
          <a:xfrm>
            <a:off x="9281160" y="2011680"/>
            <a:ext cx="2130552" cy="118872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Event log</a:t>
            </a:r>
            <a:endParaRPr lang="en-US" sz="1800" dirty="0"/>
          </a:p>
          <a:p>
            <a:pPr indent="0" marL="0">
              <a:buNone/>
            </a:pPr>
            <a:r>
              <a:rPr lang="en-US" sz="1400" dirty="0">
                <a:solidFill>
                  <a:schemeClr val="tx1"/>
                </a:solidFill>
              </a:rPr>
              <a:t>SQLite, parameterized queries</a:t>
            </a:r>
            <a:endParaRPr lang="en-US" sz="1800" dirty="0"/>
          </a:p>
        </p:txBody>
      </p:sp>
      <p:sp>
        <p:nvSpPr>
          <p:cNvPr id="12" name="Demo app box"/>
          <p:cNvSpPr/>
          <p:nvPr/>
        </p:nvSpPr>
        <p:spPr>
          <a:xfrm>
            <a:off x="3108960" y="4343400"/>
            <a:ext cx="2514600" cy="1188720"/>
          </a:xfrm>
          <a:prstGeom prst="roundRect">
            <a:avLst>
              <a:gd name="adj" fmla="val 9231"/>
            </a:avLst>
          </a:prstGeom>
          <a:solidFill>
            <a:schemeClr val="bg2"/>
          </a:solidFill>
          <a:ln w="12700">
            <a:solidFill>
              <a:schemeClr val="bg2">
                <a:alpha val="0"/>
              </a:schemeClr>
            </a:solidFill>
            <a:prstDash val="solid"/>
          </a:ln>
        </p:spPr>
      </p:sp>
      <p:sp>
        <p:nvSpPr>
          <p:cNvPr id="13" name="Text 11"/>
          <p:cNvSpPr txBox="1"/>
          <p:nvPr/>
        </p:nvSpPr>
        <p:spPr>
          <a:xfrm>
            <a:off x="3337560" y="4343400"/>
            <a:ext cx="2057400" cy="118872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Demo app</a:t>
            </a:r>
            <a:endParaRPr lang="en-US" sz="1800" dirty="0"/>
          </a:p>
          <a:p>
            <a:pPr indent="0" marL="0">
              <a:buNone/>
            </a:pPr>
            <a:r>
              <a:rPr lang="en-US" sz="1400" dirty="0">
                <a:solidFill>
                  <a:schemeClr val="tx1"/>
                </a:solidFill>
              </a:rPr>
              <a:t>/demo/search, /demo/login</a:t>
            </a:r>
            <a:endParaRPr lang="en-US" sz="1800" dirty="0"/>
          </a:p>
        </p:txBody>
      </p:sp>
      <p:sp>
        <p:nvSpPr>
          <p:cNvPr id="14" name="Dashboard box"/>
          <p:cNvSpPr/>
          <p:nvPr/>
        </p:nvSpPr>
        <p:spPr>
          <a:xfrm>
            <a:off x="6080760" y="4343400"/>
            <a:ext cx="2514600" cy="1188720"/>
          </a:xfrm>
          <a:prstGeom prst="roundRect">
            <a:avLst>
              <a:gd name="adj" fmla="val 9231"/>
            </a:avLst>
          </a:prstGeom>
          <a:solidFill>
            <a:schemeClr val="bg2"/>
          </a:solidFill>
          <a:ln w="12700">
            <a:solidFill>
              <a:schemeClr val="bg2">
                <a:alpha val="0"/>
              </a:schemeClr>
            </a:solidFill>
            <a:prstDash val="solid"/>
          </a:ln>
        </p:spPr>
      </p:sp>
      <p:sp>
        <p:nvSpPr>
          <p:cNvPr id="15" name="Text 13"/>
          <p:cNvSpPr txBox="1"/>
          <p:nvPr/>
        </p:nvSpPr>
        <p:spPr>
          <a:xfrm>
            <a:off x="6309360" y="4343400"/>
            <a:ext cx="2057400" cy="118872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Dashboard</a:t>
            </a:r>
            <a:endParaRPr lang="en-US" sz="1800" dirty="0"/>
          </a:p>
          <a:p>
            <a:pPr indent="0" marL="0">
              <a:buNone/>
            </a:pPr>
            <a:r>
              <a:rPr lang="en-US" sz="1400" dirty="0">
                <a:solidFill>
                  <a:schemeClr val="tx1"/>
                </a:solidFill>
              </a:rPr>
              <a:t>Overview, events, chatbot</a:t>
            </a:r>
            <a:endParaRPr lang="en-US" sz="1800" dirty="0"/>
          </a:p>
        </p:txBody>
      </p:sp>
      <p:sp>
        <p:nvSpPr>
          <p:cNvPr id="16" name="Dashboard API box"/>
          <p:cNvSpPr/>
          <p:nvPr/>
        </p:nvSpPr>
        <p:spPr>
          <a:xfrm>
            <a:off x="9052560" y="4343400"/>
            <a:ext cx="2587752" cy="1188720"/>
          </a:xfrm>
          <a:prstGeom prst="roundRect">
            <a:avLst>
              <a:gd name="adj" fmla="val 9231"/>
            </a:avLst>
          </a:prstGeom>
          <a:solidFill>
            <a:schemeClr val="bg2"/>
          </a:solidFill>
          <a:ln w="12700">
            <a:solidFill>
              <a:schemeClr val="bg2">
                <a:alpha val="0"/>
              </a:schemeClr>
            </a:solidFill>
            <a:prstDash val="solid"/>
          </a:ln>
        </p:spPr>
      </p:sp>
      <p:sp>
        <p:nvSpPr>
          <p:cNvPr id="17" name="Text 15"/>
          <p:cNvSpPr txBox="1"/>
          <p:nvPr/>
        </p:nvSpPr>
        <p:spPr>
          <a:xfrm>
            <a:off x="9281160" y="4343400"/>
            <a:ext cx="2130552" cy="118872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Dashboard API</a:t>
            </a:r>
            <a:endParaRPr lang="en-US" sz="1800" dirty="0"/>
          </a:p>
          <a:p>
            <a:pPr indent="0" marL="0">
              <a:buNone/>
            </a:pPr>
            <a:r>
              <a:rPr lang="en-US" sz="1400" dirty="0">
                <a:solidFill>
                  <a:schemeClr val="tx1"/>
                </a:solidFill>
              </a:rPr>
              <a:t>/api/events, /api/stats</a:t>
            </a:r>
            <a:endParaRPr lang="en-US" sz="1800" dirty="0"/>
          </a:p>
        </p:txBody>
      </p:sp>
      <p:sp>
        <p:nvSpPr>
          <p:cNvPr id="18" name="Client to middleware"/>
          <p:cNvSpPr/>
          <p:nvPr/>
        </p:nvSpPr>
        <p:spPr>
          <a:xfrm>
            <a:off x="2651760" y="2606040"/>
            <a:ext cx="457200" cy="0"/>
          </a:xfrm>
          <a:prstGeom prst="line">
            <a:avLst/>
          </a:prstGeom>
          <a:noFill/>
          <a:ln w="28575">
            <a:solidFill>
              <a:schemeClr val="accent1"/>
            </a:solidFill>
            <a:prstDash val="solid"/>
            <a:tailEnd type="triangle"/>
          </a:ln>
        </p:spPr>
      </p:sp>
      <p:sp>
        <p:nvSpPr>
          <p:cNvPr id="19" name="Middleware to detection"/>
          <p:cNvSpPr/>
          <p:nvPr/>
        </p:nvSpPr>
        <p:spPr>
          <a:xfrm>
            <a:off x="5623560" y="2606040"/>
            <a:ext cx="457200" cy="0"/>
          </a:xfrm>
          <a:prstGeom prst="line">
            <a:avLst/>
          </a:prstGeom>
          <a:noFill/>
          <a:ln w="28575">
            <a:solidFill>
              <a:schemeClr val="accent1"/>
            </a:solidFill>
            <a:prstDash val="solid"/>
            <a:tailEnd type="triangle"/>
          </a:ln>
        </p:spPr>
      </p:sp>
      <p:sp>
        <p:nvSpPr>
          <p:cNvPr id="20" name="Detection to log"/>
          <p:cNvSpPr/>
          <p:nvPr/>
        </p:nvSpPr>
        <p:spPr>
          <a:xfrm>
            <a:off x="8595360" y="2606040"/>
            <a:ext cx="457200" cy="0"/>
          </a:xfrm>
          <a:prstGeom prst="line">
            <a:avLst/>
          </a:prstGeom>
          <a:noFill/>
          <a:ln w="28575">
            <a:solidFill>
              <a:schemeClr val="accent1"/>
            </a:solidFill>
            <a:prstDash val="solid"/>
            <a:tailEnd type="triangle"/>
          </a:ln>
        </p:spPr>
      </p:sp>
      <p:sp>
        <p:nvSpPr>
          <p:cNvPr id="21" name="Middleware to demo app"/>
          <p:cNvSpPr/>
          <p:nvPr/>
        </p:nvSpPr>
        <p:spPr>
          <a:xfrm>
            <a:off x="4366260" y="3200400"/>
            <a:ext cx="0" cy="1143000"/>
          </a:xfrm>
          <a:prstGeom prst="line">
            <a:avLst/>
          </a:prstGeom>
          <a:noFill/>
          <a:ln w="28575">
            <a:solidFill>
              <a:schemeClr val="accent4"/>
            </a:solidFill>
            <a:prstDash val="solid"/>
            <a:tailEnd type="triangle"/>
          </a:ln>
        </p:spPr>
      </p:sp>
      <p:sp>
        <p:nvSpPr>
          <p:cNvPr id="22" name="Log to API"/>
          <p:cNvSpPr/>
          <p:nvPr/>
        </p:nvSpPr>
        <p:spPr>
          <a:xfrm>
            <a:off x="10346436" y="3200400"/>
            <a:ext cx="0" cy="1143000"/>
          </a:xfrm>
          <a:prstGeom prst="line">
            <a:avLst/>
          </a:prstGeom>
          <a:noFill/>
          <a:ln w="28575">
            <a:solidFill>
              <a:schemeClr val="accent1"/>
            </a:solidFill>
            <a:prstDash val="solid"/>
            <a:tailEnd type="triangle"/>
          </a:ln>
        </p:spPr>
      </p:sp>
      <p:sp>
        <p:nvSpPr>
          <p:cNvPr id="23" name="API to dashboard"/>
          <p:cNvSpPr/>
          <p:nvPr/>
        </p:nvSpPr>
        <p:spPr>
          <a:xfrm>
            <a:off x="8595360" y="4937760"/>
            <a:ext cx="457200" cy="0"/>
          </a:xfrm>
          <a:prstGeom prst="line">
            <a:avLst/>
          </a:prstGeom>
          <a:noFill/>
          <a:ln w="28575">
            <a:solidFill>
              <a:schemeClr val="accent1"/>
            </a:solidFill>
            <a:prstDash val="solid"/>
            <a:headEnd type="triangle"/>
          </a:ln>
        </p:spPr>
      </p:sp>
      <p:sp>
        <p:nvSpPr>
          <p:cNvPr id="24" name="Text 22"/>
          <p:cNvSpPr txBox="1"/>
          <p:nvPr/>
        </p:nvSpPr>
        <p:spPr>
          <a:xfrm>
            <a:off x="4526280" y="3566160"/>
            <a:ext cx="1280160" cy="320040"/>
          </a:xfrm>
          <a:prstGeom prst="rect">
            <a:avLst/>
          </a:prstGeom>
          <a:noFill/>
          <a:ln/>
        </p:spPr>
        <p:txBody>
          <a:bodyPr wrap="square" lIns="0" tIns="0" rIns="0" bIns="0" rtlCol="0" anchor="t"/>
          <a:lstStyle/>
          <a:p>
            <a:pPr indent="0" marL="0">
              <a:buNone/>
            </a:pPr>
            <a:r>
              <a:rPr lang="en-US" sz="1400" b="1" dirty="0">
                <a:solidFill>
                  <a:schemeClr val="accent4"/>
                </a:solidFill>
              </a:rPr>
              <a:t>if allowed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REQUEST PIPELINE</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Every request passes four checks, in order</a:t>
            </a:r>
            <a:endParaRPr lang="en-US" sz="3200" dirty="0"/>
          </a:p>
        </p:txBody>
      </p:sp>
      <p:sp>
        <p:nvSpPr>
          <p:cNvPr id="4" name="Already locked? card"/>
          <p:cNvSpPr/>
          <p:nvPr/>
        </p:nvSpPr>
        <p:spPr>
          <a:xfrm>
            <a:off x="548640" y="1783080"/>
            <a:ext cx="2468880" cy="3108960"/>
          </a:xfrm>
          <a:prstGeom prst="roundRect">
            <a:avLst>
              <a:gd name="adj" fmla="val 4444"/>
            </a:avLst>
          </a:prstGeom>
          <a:solidFill>
            <a:schemeClr val="bg2"/>
          </a:solidFill>
          <a:ln w="12700">
            <a:solidFill>
              <a:schemeClr val="bg2">
                <a:alpha val="0"/>
              </a:schemeClr>
            </a:solidFill>
            <a:prstDash val="solid"/>
          </a:ln>
        </p:spPr>
      </p:sp>
      <p:sp>
        <p:nvSpPr>
          <p:cNvPr id="5" name="Step 1"/>
          <p:cNvSpPr/>
          <p:nvPr/>
        </p:nvSpPr>
        <p:spPr>
          <a:xfrm>
            <a:off x="822960" y="2103120"/>
            <a:ext cx="548640" cy="548640"/>
          </a:xfrm>
          <a:prstGeom prst="ellipse">
            <a:avLst/>
          </a:prstGeom>
          <a:solidFill>
            <a:srgbClr val="0E7490"/>
          </a:solidFill>
          <a:ln w="12700">
            <a:solidFill>
              <a:srgbClr val="0E7490"/>
            </a:solidFill>
            <a:prstDash val="solid"/>
          </a:ln>
        </p:spPr>
      </p:sp>
      <p:sp>
        <p:nvSpPr>
          <p:cNvPr id="6" name="Text 4"/>
          <p:cNvSpPr txBox="1"/>
          <p:nvPr/>
        </p:nvSpPr>
        <p:spPr>
          <a:xfrm>
            <a:off x="822960" y="21031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822960" y="2834640"/>
            <a:ext cx="2011680" cy="6400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Already locked?</a:t>
            </a:r>
            <a:endParaRPr lang="en-US" sz="1800" dirty="0"/>
          </a:p>
        </p:txBody>
      </p:sp>
      <p:sp>
        <p:nvSpPr>
          <p:cNvPr id="8" name="Text 6"/>
          <p:cNvSpPr txBox="1"/>
          <p:nvPr/>
        </p:nvSpPr>
        <p:spPr>
          <a:xfrm>
            <a:off x="822960" y="3566160"/>
            <a:ext cx="2011680" cy="1188720"/>
          </a:xfrm>
          <a:prstGeom prst="rect">
            <a:avLst/>
          </a:prstGeom>
          <a:noFill/>
          <a:ln/>
        </p:spPr>
        <p:txBody>
          <a:bodyPr wrap="square" lIns="0" tIns="0" rIns="0" bIns="0" rtlCol="0" anchor="t"/>
          <a:lstStyle/>
          <a:p>
            <a:pPr indent="0" marL="0">
              <a:buNone/>
            </a:pPr>
            <a:r>
              <a:rPr lang="en-US" sz="1500" dirty="0">
                <a:solidFill>
                  <a:schemeClr val="tx2"/>
                </a:solidFill>
              </a:rPr>
              <a:t>A rate-limited IP or account gets HTTP 429 straight away.</a:t>
            </a:r>
            <a:endParaRPr lang="en-US" sz="1500" dirty="0"/>
          </a:p>
        </p:txBody>
      </p:sp>
      <p:sp>
        <p:nvSpPr>
          <p:cNvPr id="9" name="Next step 1"/>
          <p:cNvSpPr/>
          <p:nvPr/>
        </p:nvSpPr>
        <p:spPr>
          <a:xfrm>
            <a:off x="3063240" y="3337560"/>
            <a:ext cx="310896" cy="0"/>
          </a:xfrm>
          <a:prstGeom prst="line">
            <a:avLst/>
          </a:prstGeom>
          <a:noFill/>
          <a:ln w="25400">
            <a:solidFill>
              <a:schemeClr val="tx2"/>
            </a:solidFill>
            <a:prstDash val="solid"/>
            <a:tailEnd type="triangle"/>
          </a:ln>
        </p:spPr>
      </p:sp>
      <p:sp>
        <p:nvSpPr>
          <p:cNvPr id="10" name="Request rate card"/>
          <p:cNvSpPr/>
          <p:nvPr/>
        </p:nvSpPr>
        <p:spPr>
          <a:xfrm>
            <a:off x="3417113" y="1783080"/>
            <a:ext cx="2468880" cy="3108960"/>
          </a:xfrm>
          <a:prstGeom prst="roundRect">
            <a:avLst>
              <a:gd name="adj" fmla="val 4444"/>
            </a:avLst>
          </a:prstGeom>
          <a:solidFill>
            <a:schemeClr val="bg2"/>
          </a:solidFill>
          <a:ln w="12700">
            <a:solidFill>
              <a:schemeClr val="bg2">
                <a:alpha val="0"/>
              </a:schemeClr>
            </a:solidFill>
            <a:prstDash val="solid"/>
          </a:ln>
        </p:spPr>
      </p:sp>
      <p:sp>
        <p:nvSpPr>
          <p:cNvPr id="11" name="Step 2"/>
          <p:cNvSpPr/>
          <p:nvPr/>
        </p:nvSpPr>
        <p:spPr>
          <a:xfrm>
            <a:off x="3691433" y="2103120"/>
            <a:ext cx="548640" cy="548640"/>
          </a:xfrm>
          <a:prstGeom prst="ellipse">
            <a:avLst/>
          </a:prstGeom>
          <a:solidFill>
            <a:srgbClr val="0E7490"/>
          </a:solidFill>
          <a:ln w="12700">
            <a:solidFill>
              <a:srgbClr val="0E7490"/>
            </a:solidFill>
            <a:prstDash val="solid"/>
          </a:ln>
        </p:spPr>
      </p:sp>
      <p:sp>
        <p:nvSpPr>
          <p:cNvPr id="12" name="Text 10"/>
          <p:cNvSpPr txBox="1"/>
          <p:nvPr/>
        </p:nvSpPr>
        <p:spPr>
          <a:xfrm>
            <a:off x="3691433" y="21031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1"/>
          <p:cNvSpPr txBox="1"/>
          <p:nvPr/>
        </p:nvSpPr>
        <p:spPr>
          <a:xfrm>
            <a:off x="3691433" y="2834640"/>
            <a:ext cx="2011680" cy="6400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Request rate</a:t>
            </a:r>
            <a:endParaRPr lang="en-US" sz="1800" dirty="0"/>
          </a:p>
        </p:txBody>
      </p:sp>
      <p:sp>
        <p:nvSpPr>
          <p:cNvPr id="14" name="Text 12"/>
          <p:cNvSpPr txBox="1"/>
          <p:nvPr/>
        </p:nvSpPr>
        <p:spPr>
          <a:xfrm>
            <a:off x="3691433" y="3566160"/>
            <a:ext cx="2011680" cy="1188720"/>
          </a:xfrm>
          <a:prstGeom prst="rect">
            <a:avLst/>
          </a:prstGeom>
          <a:noFill/>
          <a:ln/>
        </p:spPr>
        <p:txBody>
          <a:bodyPr wrap="square" lIns="0" tIns="0" rIns="0" bIns="0" rtlCol="0" anchor="t"/>
          <a:lstStyle/>
          <a:p>
            <a:pPr indent="0" marL="0">
              <a:buNone/>
            </a:pPr>
            <a:r>
              <a:rPr lang="en-US" sz="1500" dirty="0">
                <a:solidFill>
                  <a:schemeClr val="tx2"/>
                </a:solidFill>
              </a:rPr>
              <a:t>More than 20 requests in 10 s from one IP locks it for 60 s.</a:t>
            </a:r>
            <a:endParaRPr lang="en-US" sz="1500" dirty="0"/>
          </a:p>
        </p:txBody>
      </p:sp>
      <p:sp>
        <p:nvSpPr>
          <p:cNvPr id="15" name="Next step 2"/>
          <p:cNvSpPr/>
          <p:nvPr/>
        </p:nvSpPr>
        <p:spPr>
          <a:xfrm>
            <a:off x="5931713" y="3337560"/>
            <a:ext cx="310896" cy="0"/>
          </a:xfrm>
          <a:prstGeom prst="line">
            <a:avLst/>
          </a:prstGeom>
          <a:noFill/>
          <a:ln w="25400">
            <a:solidFill>
              <a:schemeClr val="tx2"/>
            </a:solidFill>
            <a:prstDash val="solid"/>
            <a:tailEnd type="triangle"/>
          </a:ln>
        </p:spPr>
      </p:sp>
      <p:sp>
        <p:nvSpPr>
          <p:cNvPr id="16" name="Input scan card"/>
          <p:cNvSpPr/>
          <p:nvPr/>
        </p:nvSpPr>
        <p:spPr>
          <a:xfrm>
            <a:off x="6285586" y="1783080"/>
            <a:ext cx="2468880" cy="3108960"/>
          </a:xfrm>
          <a:prstGeom prst="roundRect">
            <a:avLst>
              <a:gd name="adj" fmla="val 4444"/>
            </a:avLst>
          </a:prstGeom>
          <a:solidFill>
            <a:schemeClr val="tx1"/>
          </a:solidFill>
          <a:ln w="12700">
            <a:solidFill>
              <a:schemeClr val="tx1">
                <a:alpha val="0"/>
              </a:schemeClr>
            </a:solidFill>
            <a:prstDash val="solid"/>
          </a:ln>
          <a:effectLst>
            <a:outerShdw sx="100000" sy="100000" kx="0" ky="0" algn="bl" rotWithShape="0" blurRad="127000" dist="38100" dir="5400000">
              <a:srgbClr val="0B1220">
                <a:alpha val="14000"/>
              </a:srgbClr>
            </a:outerShdw>
          </a:effectLst>
        </p:spPr>
      </p:sp>
      <p:sp>
        <p:nvSpPr>
          <p:cNvPr id="17" name="Step 3"/>
          <p:cNvSpPr/>
          <p:nvPr/>
        </p:nvSpPr>
        <p:spPr>
          <a:xfrm>
            <a:off x="6559906" y="2103120"/>
            <a:ext cx="548640" cy="548640"/>
          </a:xfrm>
          <a:prstGeom prst="ellipse">
            <a:avLst/>
          </a:prstGeom>
          <a:solidFill>
            <a:srgbClr val="3DE6FF"/>
          </a:solidFill>
          <a:ln w="12700">
            <a:solidFill>
              <a:srgbClr val="0E7490"/>
            </a:solidFill>
            <a:prstDash val="solid"/>
          </a:ln>
        </p:spPr>
      </p:sp>
      <p:sp>
        <p:nvSpPr>
          <p:cNvPr id="18" name="Text 16"/>
          <p:cNvSpPr txBox="1"/>
          <p:nvPr/>
        </p:nvSpPr>
        <p:spPr>
          <a:xfrm>
            <a:off x="6559906" y="21031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9" name="Text 17"/>
          <p:cNvSpPr txBox="1"/>
          <p:nvPr/>
        </p:nvSpPr>
        <p:spPr>
          <a:xfrm>
            <a:off x="6559906" y="2834640"/>
            <a:ext cx="2011680" cy="6400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Input scan</a:t>
            </a:r>
            <a:endParaRPr lang="en-US" sz="1800" dirty="0"/>
          </a:p>
        </p:txBody>
      </p:sp>
      <p:sp>
        <p:nvSpPr>
          <p:cNvPr id="20" name="Text 18"/>
          <p:cNvSpPr txBox="1"/>
          <p:nvPr/>
        </p:nvSpPr>
        <p:spPr>
          <a:xfrm>
            <a:off x="6559906" y="3566160"/>
            <a:ext cx="2011680" cy="1188720"/>
          </a:xfrm>
          <a:prstGeom prst="rect">
            <a:avLst/>
          </a:prstGeom>
          <a:noFill/>
          <a:ln/>
        </p:spPr>
        <p:txBody>
          <a:bodyPr wrap="square" lIns="0" tIns="0" rIns="0" bIns="0" rtlCol="0" anchor="t"/>
          <a:lstStyle/>
          <a:p>
            <a:pPr indent="0" marL="0">
              <a:buNone/>
            </a:pPr>
            <a:r>
              <a:rPr lang="en-US" sz="1500" dirty="0">
                <a:solidFill>
                  <a:schemeClr val="bg2"/>
                </a:solidFill>
              </a:rPr>
              <a:t>Query and JSON fields go through the rules and the ML model.</a:t>
            </a:r>
            <a:endParaRPr lang="en-US" sz="1500" dirty="0"/>
          </a:p>
        </p:txBody>
      </p:sp>
      <p:sp>
        <p:nvSpPr>
          <p:cNvPr id="21" name="Next step 3"/>
          <p:cNvSpPr/>
          <p:nvPr/>
        </p:nvSpPr>
        <p:spPr>
          <a:xfrm>
            <a:off x="8800186" y="3337560"/>
            <a:ext cx="310896" cy="0"/>
          </a:xfrm>
          <a:prstGeom prst="line">
            <a:avLst/>
          </a:prstGeom>
          <a:noFill/>
          <a:ln w="25400">
            <a:solidFill>
              <a:schemeClr val="tx2"/>
            </a:solidFill>
            <a:prstDash val="solid"/>
            <a:tailEnd type="triangle"/>
          </a:ln>
        </p:spPr>
      </p:sp>
      <p:sp>
        <p:nvSpPr>
          <p:cNvPr id="22" name="Login tracking card"/>
          <p:cNvSpPr/>
          <p:nvPr/>
        </p:nvSpPr>
        <p:spPr>
          <a:xfrm>
            <a:off x="9154058" y="1783080"/>
            <a:ext cx="2468880" cy="3108960"/>
          </a:xfrm>
          <a:prstGeom prst="roundRect">
            <a:avLst>
              <a:gd name="adj" fmla="val 4444"/>
            </a:avLst>
          </a:prstGeom>
          <a:solidFill>
            <a:schemeClr val="bg2"/>
          </a:solidFill>
          <a:ln w="12700">
            <a:solidFill>
              <a:schemeClr val="bg2">
                <a:alpha val="0"/>
              </a:schemeClr>
            </a:solidFill>
            <a:prstDash val="solid"/>
          </a:ln>
        </p:spPr>
      </p:sp>
      <p:sp>
        <p:nvSpPr>
          <p:cNvPr id="23" name="Step 4"/>
          <p:cNvSpPr/>
          <p:nvPr/>
        </p:nvSpPr>
        <p:spPr>
          <a:xfrm>
            <a:off x="9428378" y="2103120"/>
            <a:ext cx="548640" cy="548640"/>
          </a:xfrm>
          <a:prstGeom prst="ellipse">
            <a:avLst/>
          </a:prstGeom>
          <a:solidFill>
            <a:srgbClr val="0E7490"/>
          </a:solidFill>
          <a:ln w="12700">
            <a:solidFill>
              <a:srgbClr val="0E7490"/>
            </a:solidFill>
            <a:prstDash val="solid"/>
          </a:ln>
        </p:spPr>
      </p:sp>
      <p:sp>
        <p:nvSpPr>
          <p:cNvPr id="24" name="Text 22"/>
          <p:cNvSpPr txBox="1"/>
          <p:nvPr/>
        </p:nvSpPr>
        <p:spPr>
          <a:xfrm>
            <a:off x="9428378" y="21031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5" name="Text 23"/>
          <p:cNvSpPr txBox="1"/>
          <p:nvPr/>
        </p:nvSpPr>
        <p:spPr>
          <a:xfrm>
            <a:off x="9428378" y="2834640"/>
            <a:ext cx="2011680" cy="6400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Login tracking</a:t>
            </a:r>
            <a:endParaRPr lang="en-US" sz="1800" dirty="0"/>
          </a:p>
        </p:txBody>
      </p:sp>
      <p:sp>
        <p:nvSpPr>
          <p:cNvPr id="26" name="Text 24"/>
          <p:cNvSpPr txBox="1"/>
          <p:nvPr/>
        </p:nvSpPr>
        <p:spPr>
          <a:xfrm>
            <a:off x="9428378" y="3566160"/>
            <a:ext cx="2011680" cy="1188720"/>
          </a:xfrm>
          <a:prstGeom prst="rect">
            <a:avLst/>
          </a:prstGeom>
          <a:noFill/>
          <a:ln/>
        </p:spPr>
        <p:txBody>
          <a:bodyPr wrap="square" lIns="0" tIns="0" rIns="0" bIns="0" rtlCol="0" anchor="t"/>
          <a:lstStyle/>
          <a:p>
            <a:pPr indent="0" marL="0">
              <a:buNone/>
            </a:pPr>
            <a:r>
              <a:rPr lang="en-US" sz="1500" dirty="0">
                <a:solidFill>
                  <a:schemeClr val="tx2"/>
                </a:solidFill>
              </a:rPr>
              <a:t>5 failed logins in 60 s locks that account for 60 s.</a:t>
            </a:r>
            <a:endParaRPr lang="en-US" sz="1500" dirty="0"/>
          </a:p>
        </p:txBody>
      </p:sp>
      <p:sp>
        <p:nvSpPr>
          <p:cNvPr id="27" name="Text 25"/>
          <p:cNvSpPr txBox="1"/>
          <p:nvPr/>
        </p:nvSpPr>
        <p:spPr>
          <a:xfrm>
            <a:off x="548640" y="5349240"/>
            <a:ext cx="11064240" cy="457200"/>
          </a:xfrm>
          <a:prstGeom prst="rect">
            <a:avLst/>
          </a:prstGeom>
          <a:noFill/>
          <a:ln/>
        </p:spPr>
        <p:txBody>
          <a:bodyPr wrap="square" lIns="0" tIns="0" rIns="0" bIns="0" rtlCol="0" anchor="t"/>
          <a:lstStyle/>
          <a:p>
            <a:pPr indent="0" marL="0">
              <a:buNone/>
            </a:pPr>
            <a:r>
              <a:rPr lang="en-US" sz="1600" dirty="0">
                <a:solidFill>
                  <a:schemeClr val="tx2"/>
                </a:solidFill>
              </a:rPr>
              <a:t>Fields named password, token and session are never scanned or stored.</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DETECTION LAYERS</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Confidence decides the action</a:t>
            </a:r>
            <a:endParaRPr lang="en-US" sz="3200" dirty="0"/>
          </a:p>
        </p:txBody>
      </p:sp>
      <p:graphicFrame>
        <p:nvGraphicFramePr>
          <p:cNvPr id="7" name="Detection layer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383280"/>
                <a:gridCol w="1645920"/>
                <a:gridCol w="292608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Threat</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Detected by</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Severity</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0B1220"/>
                    </a:solidFill>
                  </a:tcPr>
                </a:tc>
              </a:tr>
              <a:tr h="502920">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SQL injection</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5 fixed rules</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b="1" dirty="0">
                          <a:solidFill>
                            <a:srgbClr val="B91C1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Blocked (demo)</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502920">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SQL injection, model only</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ML score ≥ 0.70</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b="1" dirty="0">
                          <a:solidFill>
                            <a:srgbClr val="B45309"/>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Flagged for review</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Cross-site scripting</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4 fixed rules</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b="1" dirty="0">
                          <a:solidFill>
                            <a:srgbClr val="B91C1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Blocked (demo)</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502920">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Repeated failed logins</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5 in 60 s, per account</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b="1" dirty="0">
                          <a:solidFill>
                            <a:srgbClr val="B45309"/>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Account rate-limited</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Request flood</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Over 20 in 10 s, per IP</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b="1" dirty="0">
                          <a:solidFill>
                            <a:srgbClr val="B45309"/>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IP rate-limited</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502920">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Single failed login</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Counter</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600" dirty="0">
                          <a:solidFill>
                            <a:srgbClr val="0B1220"/>
                          </a:solidFill>
                          <a:latin typeface="Calibri" pitchFamily="34" charset="0"/>
                          <a:ea typeface="Calibri" pitchFamily="34" charset="-122"/>
                          <a:cs typeface="Calibri" pitchFamily="34" charset="-120"/>
                        </a:rPr>
                        <a:t>Allowed, counted</a:t>
                      </a:r>
                      <a:endParaRPr lang="en-US" sz="1600" dirty="0">
                        <a:latin typeface="Calibri" charset="0"/>
                        <a:ea typeface="Calibri" charset="0"/>
                        <a:cs typeface="Calibri" charset="0"/>
                      </a:endParaRPr>
                    </a:p>
                  </a:txBody>
                  <a:tcPr marL="137160" marR="137160" marT="0" marB="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THE ML MODEL</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A small, fast text classifier for SQL injection</a:t>
            </a:r>
            <a:endParaRPr lang="en-US" sz="3200" dirty="0"/>
          </a:p>
        </p:txBody>
      </p:sp>
      <p:sp>
        <p:nvSpPr>
          <p:cNvPr id="4" name="Text 2"/>
          <p:cNvSpPr txBox="1"/>
          <p:nvPr/>
        </p:nvSpPr>
        <p:spPr>
          <a:xfrm>
            <a:off x="548640" y="1737360"/>
            <a:ext cx="5120640" cy="365760"/>
          </a:xfrm>
          <a:prstGeom prst="rect">
            <a:avLst/>
          </a:prstGeom>
          <a:noFill/>
          <a:ln/>
        </p:spPr>
        <p:txBody>
          <a:bodyPr wrap="square" lIns="0" tIns="0" rIns="0" bIns="0" rtlCol="0" anchor="t"/>
          <a:lstStyle/>
          <a:p>
            <a:pPr indent="0" marL="0">
              <a:buNone/>
            </a:pPr>
            <a:r>
              <a:rPr lang="en-US" sz="1600" dirty="0">
                <a:solidFill>
                  <a:schemeClr val="bg2"/>
                </a:solidFill>
              </a:rPr>
              <a:t>Data: SQLiV3.csv (Kaggle)</a:t>
            </a:r>
            <a:endParaRPr lang="en-US" sz="1600" dirty="0"/>
          </a:p>
        </p:txBody>
      </p:sp>
      <p:sp>
        <p:nvSpPr>
          <p:cNvPr id="5" name="Text 3"/>
          <p:cNvSpPr txBox="1"/>
          <p:nvPr/>
        </p:nvSpPr>
        <p:spPr>
          <a:xfrm>
            <a:off x="548640" y="2103120"/>
            <a:ext cx="5120640" cy="1097280"/>
          </a:xfrm>
          <a:prstGeom prst="rect">
            <a:avLst/>
          </a:prstGeom>
          <a:noFill/>
          <a:ln/>
        </p:spPr>
        <p:txBody>
          <a:bodyPr wrap="square" lIns="0" tIns="0" rIns="0" bIns="0" rtlCol="0" anchor="t"/>
          <a:lstStyle/>
          <a:p>
            <a:pPr indent="0" marL="0">
              <a:buNone/>
            </a:pPr>
            <a:r>
              <a:rPr lang="en-US" sz="6600" b="1" dirty="0">
                <a:solidFill>
                  <a:schemeClr val="accent5"/>
                </a:solidFill>
                <a:latin typeface="Arial" pitchFamily="34" charset="0"/>
                <a:ea typeface="Arial" pitchFamily="34" charset="-122"/>
                <a:cs typeface="Arial" pitchFamily="34" charset="-120"/>
              </a:rPr>
              <a:t>30,529</a:t>
            </a:r>
            <a:endParaRPr lang="en-US" sz="6600" dirty="0"/>
          </a:p>
        </p:txBody>
      </p:sp>
      <p:sp>
        <p:nvSpPr>
          <p:cNvPr id="6" name="Text 4"/>
          <p:cNvSpPr txBox="1"/>
          <p:nvPr/>
        </p:nvSpPr>
        <p:spPr>
          <a:xfrm>
            <a:off x="548640" y="3246120"/>
            <a:ext cx="4754880" cy="685800"/>
          </a:xfrm>
          <a:prstGeom prst="rect">
            <a:avLst/>
          </a:prstGeom>
          <a:noFill/>
          <a:ln/>
        </p:spPr>
        <p:txBody>
          <a:bodyPr wrap="square" lIns="0" tIns="0" rIns="0" bIns="0" rtlCol="0" anchor="t"/>
          <a:lstStyle/>
          <a:p>
            <a:pPr indent="0" marL="0">
              <a:buNone/>
            </a:pPr>
            <a:r>
              <a:rPr lang="en-US" sz="1600" dirty="0">
                <a:solidFill>
                  <a:schemeClr val="bg2"/>
                </a:solidFill>
              </a:rPr>
              <a:t>clean rows, from 30,919 after dropping shifted and contradictory rows</a:t>
            </a:r>
            <a:endParaRPr lang="en-US" sz="1600" dirty="0"/>
          </a:p>
        </p:txBody>
      </p:sp>
      <p:sp>
        <p:nvSpPr>
          <p:cNvPr id="7" name="train rows"/>
          <p:cNvSpPr/>
          <p:nvPr/>
        </p:nvSpPr>
        <p:spPr>
          <a:xfrm>
            <a:off x="548640" y="4114800"/>
            <a:ext cx="2286000" cy="1371600"/>
          </a:xfrm>
          <a:prstGeom prst="roundRect">
            <a:avLst>
              <a:gd name="adj" fmla="val 8000"/>
            </a:avLst>
          </a:prstGeom>
          <a:solidFill>
            <a:schemeClr val="tx2">
              <a:alpha val="55000"/>
            </a:schemeClr>
          </a:solidFill>
          <a:ln w="12700">
            <a:solidFill>
              <a:schemeClr val="tx2">
                <a:alpha val="0"/>
              </a:schemeClr>
            </a:solidFill>
            <a:prstDash val="solid"/>
          </a:ln>
        </p:spPr>
      </p:sp>
      <p:sp>
        <p:nvSpPr>
          <p:cNvPr id="8" name="Text 6"/>
          <p:cNvSpPr txBox="1"/>
          <p:nvPr/>
        </p:nvSpPr>
        <p:spPr>
          <a:xfrm>
            <a:off x="777240" y="4114800"/>
            <a:ext cx="1920240" cy="137160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24,423</a:t>
            </a:r>
            <a:endParaRPr lang="en-US" sz="3200" dirty="0"/>
          </a:p>
          <a:p>
            <a:pPr indent="0" marL="0">
              <a:buNone/>
            </a:pPr>
            <a:r>
              <a:rPr lang="en-US" sz="1500" dirty="0">
                <a:solidFill>
                  <a:schemeClr val="bg2"/>
                </a:solidFill>
              </a:rPr>
              <a:t>train rows</a:t>
            </a:r>
            <a:endParaRPr lang="en-US" sz="3200" dirty="0"/>
          </a:p>
        </p:txBody>
      </p:sp>
      <p:sp>
        <p:nvSpPr>
          <p:cNvPr id="9" name="held-out test rows"/>
          <p:cNvSpPr/>
          <p:nvPr/>
        </p:nvSpPr>
        <p:spPr>
          <a:xfrm>
            <a:off x="3063240" y="4114800"/>
            <a:ext cx="2286000" cy="1371600"/>
          </a:xfrm>
          <a:prstGeom prst="roundRect">
            <a:avLst>
              <a:gd name="adj" fmla="val 8000"/>
            </a:avLst>
          </a:prstGeom>
          <a:solidFill>
            <a:schemeClr val="tx2">
              <a:alpha val="55000"/>
            </a:schemeClr>
          </a:solidFill>
          <a:ln w="12700">
            <a:solidFill>
              <a:schemeClr val="tx2">
                <a:alpha val="0"/>
              </a:schemeClr>
            </a:solidFill>
            <a:prstDash val="solid"/>
          </a:ln>
        </p:spPr>
      </p:sp>
      <p:sp>
        <p:nvSpPr>
          <p:cNvPr id="10" name="Text 8"/>
          <p:cNvSpPr txBox="1"/>
          <p:nvPr/>
        </p:nvSpPr>
        <p:spPr>
          <a:xfrm>
            <a:off x="3291840" y="4114800"/>
            <a:ext cx="1920240" cy="137160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6,106</a:t>
            </a:r>
            <a:endParaRPr lang="en-US" sz="3200" dirty="0"/>
          </a:p>
          <a:p>
            <a:pPr indent="0" marL="0">
              <a:buNone/>
            </a:pPr>
            <a:r>
              <a:rPr lang="en-US" sz="1500" dirty="0">
                <a:solidFill>
                  <a:schemeClr val="bg2"/>
                </a:solidFill>
              </a:rPr>
              <a:t>held-out test rows</a:t>
            </a:r>
            <a:endParaRPr lang="en-US" sz="3200" dirty="0"/>
          </a:p>
        </p:txBody>
      </p:sp>
      <p:sp>
        <p:nvSpPr>
          <p:cNvPr id="11" name="Text 9"/>
          <p:cNvSpPr txBox="1"/>
          <p:nvPr/>
        </p:nvSpPr>
        <p:spPr>
          <a:xfrm>
            <a:off x="6583680" y="1737360"/>
            <a:ext cx="5029200" cy="365760"/>
          </a:xfrm>
          <a:prstGeom prst="rect">
            <a:avLst/>
          </a:prstGeom>
          <a:noFill/>
          <a:ln/>
        </p:spPr>
        <p:txBody>
          <a:bodyPr wrap="square" lIns="0" tIns="0" rIns="0" bIns="0" rtlCol="0" anchor="t"/>
          <a:lstStyle/>
          <a:p>
            <a:pPr indent="0" marL="0">
              <a:buNone/>
            </a:pPr>
            <a:r>
              <a:rPr lang="en-US" sz="1600" dirty="0">
                <a:solidFill>
                  <a:schemeClr val="bg2"/>
                </a:solidFill>
              </a:rPr>
              <a:t>Pipeline</a:t>
            </a:r>
            <a:endParaRPr lang="en-US" sz="1600" dirty="0"/>
          </a:p>
        </p:txBody>
      </p:sp>
      <p:sp>
        <p:nvSpPr>
          <p:cNvPr id="12" name="Character 2–5-grams"/>
          <p:cNvSpPr/>
          <p:nvPr/>
        </p:nvSpPr>
        <p:spPr>
          <a:xfrm>
            <a:off x="6583680" y="2194560"/>
            <a:ext cx="5029200" cy="640080"/>
          </a:xfrm>
          <a:prstGeom prst="roundRect">
            <a:avLst>
              <a:gd name="adj" fmla="val 17143"/>
            </a:avLst>
          </a:prstGeom>
          <a:solidFill>
            <a:schemeClr val="tx2">
              <a:alpha val="55000"/>
            </a:schemeClr>
          </a:solidFill>
          <a:ln w="12700">
            <a:solidFill>
              <a:schemeClr val="tx2">
                <a:alpha val="0"/>
              </a:schemeClr>
            </a:solidFill>
            <a:prstDash val="solid"/>
          </a:ln>
        </p:spPr>
      </p:sp>
      <p:sp>
        <p:nvSpPr>
          <p:cNvPr id="13" name="Text 11"/>
          <p:cNvSpPr txBox="1"/>
          <p:nvPr/>
        </p:nvSpPr>
        <p:spPr>
          <a:xfrm>
            <a:off x="6858000" y="2194560"/>
            <a:ext cx="4572000" cy="64008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Character 2–5-grams</a:t>
            </a:r>
            <a:endParaRPr lang="en-US" sz="1800" dirty="0"/>
          </a:p>
        </p:txBody>
      </p:sp>
      <p:sp>
        <p:nvSpPr>
          <p:cNvPr id="14" name="Pipeline arrow 1"/>
          <p:cNvSpPr/>
          <p:nvPr/>
        </p:nvSpPr>
        <p:spPr>
          <a:xfrm>
            <a:off x="9098280" y="2852928"/>
            <a:ext cx="0" cy="237744"/>
          </a:xfrm>
          <a:prstGeom prst="line">
            <a:avLst/>
          </a:prstGeom>
          <a:noFill/>
          <a:ln w="22225">
            <a:solidFill>
              <a:schemeClr val="accent5"/>
            </a:solidFill>
            <a:prstDash val="solid"/>
            <a:tailEnd type="triangle"/>
          </a:ln>
        </p:spPr>
      </p:sp>
      <p:sp>
        <p:nvSpPr>
          <p:cNvPr id="15" name="TF-IDF, up to 200k features"/>
          <p:cNvSpPr/>
          <p:nvPr/>
        </p:nvSpPr>
        <p:spPr>
          <a:xfrm>
            <a:off x="6583680" y="3108960"/>
            <a:ext cx="5029200" cy="640080"/>
          </a:xfrm>
          <a:prstGeom prst="roundRect">
            <a:avLst>
              <a:gd name="adj" fmla="val 17143"/>
            </a:avLst>
          </a:prstGeom>
          <a:solidFill>
            <a:schemeClr val="tx2">
              <a:alpha val="55000"/>
            </a:schemeClr>
          </a:solidFill>
          <a:ln w="12700">
            <a:solidFill>
              <a:schemeClr val="tx2">
                <a:alpha val="0"/>
              </a:schemeClr>
            </a:solidFill>
            <a:prstDash val="solid"/>
          </a:ln>
        </p:spPr>
      </p:sp>
      <p:sp>
        <p:nvSpPr>
          <p:cNvPr id="16" name="Text 14"/>
          <p:cNvSpPr txBox="1"/>
          <p:nvPr/>
        </p:nvSpPr>
        <p:spPr>
          <a:xfrm>
            <a:off x="6858000" y="3108960"/>
            <a:ext cx="4572000" cy="64008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TF-IDF, up to 200k features</a:t>
            </a:r>
            <a:endParaRPr lang="en-US" sz="1800" dirty="0"/>
          </a:p>
        </p:txBody>
      </p:sp>
      <p:sp>
        <p:nvSpPr>
          <p:cNvPr id="17" name="Pipeline arrow 2"/>
          <p:cNvSpPr/>
          <p:nvPr/>
        </p:nvSpPr>
        <p:spPr>
          <a:xfrm>
            <a:off x="9098280" y="3767328"/>
            <a:ext cx="0" cy="237744"/>
          </a:xfrm>
          <a:prstGeom prst="line">
            <a:avLst/>
          </a:prstGeom>
          <a:noFill/>
          <a:ln w="22225">
            <a:solidFill>
              <a:schemeClr val="accent5"/>
            </a:solidFill>
            <a:prstDash val="solid"/>
            <a:tailEnd type="triangle"/>
          </a:ln>
        </p:spPr>
      </p:sp>
      <p:sp>
        <p:nvSpPr>
          <p:cNvPr id="18" name="Logistic regression, balanced"/>
          <p:cNvSpPr/>
          <p:nvPr/>
        </p:nvSpPr>
        <p:spPr>
          <a:xfrm>
            <a:off x="6583680" y="4023360"/>
            <a:ext cx="5029200" cy="640080"/>
          </a:xfrm>
          <a:prstGeom prst="roundRect">
            <a:avLst>
              <a:gd name="adj" fmla="val 17143"/>
            </a:avLst>
          </a:prstGeom>
          <a:solidFill>
            <a:schemeClr val="tx2">
              <a:alpha val="55000"/>
            </a:schemeClr>
          </a:solidFill>
          <a:ln w="12700">
            <a:solidFill>
              <a:schemeClr val="tx2">
                <a:alpha val="0"/>
              </a:schemeClr>
            </a:solidFill>
            <a:prstDash val="solid"/>
          </a:ln>
        </p:spPr>
      </p:sp>
      <p:sp>
        <p:nvSpPr>
          <p:cNvPr id="19" name="Text 17"/>
          <p:cNvSpPr txBox="1"/>
          <p:nvPr/>
        </p:nvSpPr>
        <p:spPr>
          <a:xfrm>
            <a:off x="6858000" y="4023360"/>
            <a:ext cx="4572000" cy="64008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Logistic regression, balanced</a:t>
            </a:r>
            <a:endParaRPr lang="en-US" sz="1800" dirty="0"/>
          </a:p>
        </p:txBody>
      </p:sp>
      <p:sp>
        <p:nvSpPr>
          <p:cNvPr id="20" name="Pipeline arrow 3"/>
          <p:cNvSpPr/>
          <p:nvPr/>
        </p:nvSpPr>
        <p:spPr>
          <a:xfrm>
            <a:off x="9098280" y="4681728"/>
            <a:ext cx="0" cy="237744"/>
          </a:xfrm>
          <a:prstGeom prst="line">
            <a:avLst/>
          </a:prstGeom>
          <a:noFill/>
          <a:ln w="22225">
            <a:solidFill>
              <a:schemeClr val="accent5"/>
            </a:solidFill>
            <a:prstDash val="solid"/>
            <a:tailEnd type="triangle"/>
          </a:ln>
        </p:spPr>
      </p:sp>
      <p:sp>
        <p:nvSpPr>
          <p:cNvPr id="21" name="Score ≥ 0.70 → flag"/>
          <p:cNvSpPr/>
          <p:nvPr/>
        </p:nvSpPr>
        <p:spPr>
          <a:xfrm>
            <a:off x="6583680" y="4937760"/>
            <a:ext cx="5029200" cy="640080"/>
          </a:xfrm>
          <a:prstGeom prst="roundRect">
            <a:avLst>
              <a:gd name="adj" fmla="val 17143"/>
            </a:avLst>
          </a:prstGeom>
          <a:solidFill>
            <a:schemeClr val="accent5"/>
          </a:solidFill>
          <a:ln w="12700">
            <a:solidFill>
              <a:schemeClr val="accent5">
                <a:alpha val="0"/>
              </a:schemeClr>
            </a:solidFill>
            <a:prstDash val="solid"/>
          </a:ln>
        </p:spPr>
      </p:sp>
      <p:sp>
        <p:nvSpPr>
          <p:cNvPr id="22" name="Text 20"/>
          <p:cNvSpPr txBox="1"/>
          <p:nvPr/>
        </p:nvSpPr>
        <p:spPr>
          <a:xfrm>
            <a:off x="6858000" y="4937760"/>
            <a:ext cx="4572000" cy="640080"/>
          </a:xfrm>
          <a:prstGeom prst="rect">
            <a:avLst/>
          </a:prstGeom>
          <a:noFill/>
          <a:ln/>
        </p:spPr>
        <p:txBody>
          <a:bodyPr wrap="square" lIns="0" tIns="0" rIns="0" bIns="0" rtlCol="0" anchor="ctr"/>
          <a:lstStyle/>
          <a:p>
            <a:pPr indent="0" marL="0">
              <a:buNone/>
            </a:pPr>
            <a:r>
              <a:rPr lang="en-US" sz="1800" b="1" dirty="0">
                <a:solidFill>
                  <a:schemeClr val="tx1"/>
                </a:solidFill>
                <a:latin typeface="Courier New" pitchFamily="34" charset="0"/>
                <a:ea typeface="Courier New" pitchFamily="34" charset="-122"/>
                <a:cs typeface="Courier New" pitchFamily="34" charset="-120"/>
              </a:rPr>
              <a:t>Score ≥ 0.70 → flag</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10515600" cy="365760"/>
          </a:xfrm>
          <a:prstGeom prst="rect">
            <a:avLst/>
          </a:prstGeom>
          <a:noFill/>
          <a:ln/>
        </p:spPr>
        <p:txBody>
          <a:bodyPr wrap="square" lIns="0" tIns="0" rIns="0" bIns="0" rtlCol="0"/>
          <a:lstStyle/>
          <a:p>
            <a:pPr indent="0" marL="0">
              <a:buNone/>
            </a:pPr>
            <a:r>
              <a:rPr lang="en-US" sz="1400" b="1" spc="300" kern="0" dirty="0">
                <a:solidFill>
                  <a:schemeClr val="tx2"/>
                </a:solidFill>
              </a:rPr>
              <a:t>RECALL ON 2,256 HELD-OUT ATTACKS</a:t>
            </a:r>
            <a:endParaRPr lang="en-US" sz="1400" dirty="0"/>
          </a:p>
        </p:txBody>
      </p:sp>
      <p:sp>
        <p:nvSpPr>
          <p:cNvPr id="3" name="Text 1"/>
          <p:cNvSpPr txBox="1"/>
          <p:nvPr/>
        </p:nvSpPr>
        <p:spPr>
          <a:xfrm>
            <a:off x="822960" y="1828800"/>
            <a:ext cx="4206240" cy="1554480"/>
          </a:xfrm>
          <a:prstGeom prst="rect">
            <a:avLst/>
          </a:prstGeom>
          <a:noFill/>
          <a:ln/>
        </p:spPr>
        <p:txBody>
          <a:bodyPr wrap="square" lIns="0" tIns="0" rIns="0" bIns="0" rtlCol="0" anchor="ctr"/>
          <a:lstStyle/>
          <a:p>
            <a:pPr indent="0" marL="0">
              <a:buNone/>
            </a:pPr>
            <a:r>
              <a:rPr lang="en-US" sz="9600" b="1" dirty="0">
                <a:solidFill>
                  <a:schemeClr val="tx2"/>
                </a:solidFill>
                <a:latin typeface="Arial" pitchFamily="34" charset="0"/>
                <a:ea typeface="Arial" pitchFamily="34" charset="-122"/>
                <a:cs typeface="Arial" pitchFamily="34" charset="-120"/>
              </a:rPr>
              <a:t>31.1%</a:t>
            </a:r>
            <a:endParaRPr lang="en-US" sz="9600" dirty="0"/>
          </a:p>
        </p:txBody>
      </p:sp>
      <p:sp>
        <p:nvSpPr>
          <p:cNvPr id="4" name="Text 2"/>
          <p:cNvSpPr txBox="1"/>
          <p:nvPr/>
        </p:nvSpPr>
        <p:spPr>
          <a:xfrm>
            <a:off x="822960" y="3429000"/>
            <a:ext cx="4206240" cy="457200"/>
          </a:xfrm>
          <a:prstGeom prst="rect">
            <a:avLst/>
          </a:prstGeom>
          <a:noFill/>
          <a:ln/>
        </p:spPr>
        <p:txBody>
          <a:bodyPr wrap="square" lIns="0" tIns="0" rIns="0" bIns="0" rtlCol="0" anchor="t"/>
          <a:lstStyle/>
          <a:p>
            <a:pPr indent="0" marL="0">
              <a:buNone/>
            </a:pPr>
            <a:r>
              <a:rPr lang="en-US" sz="2200" dirty="0">
                <a:solidFill>
                  <a:schemeClr val="tx2"/>
                </a:solidFill>
              </a:rPr>
              <a:t>Rules only</a:t>
            </a:r>
            <a:endParaRPr lang="en-US" sz="2200" dirty="0"/>
          </a:p>
        </p:txBody>
      </p:sp>
      <p:sp>
        <p:nvSpPr>
          <p:cNvPr id="5" name="Improvement arrow"/>
          <p:cNvSpPr/>
          <p:nvPr/>
        </p:nvSpPr>
        <p:spPr>
          <a:xfrm>
            <a:off x="5074920" y="2240280"/>
            <a:ext cx="1280160" cy="731520"/>
          </a:xfrm>
          <a:prstGeom prst="rightArrow">
            <a:avLst/>
          </a:prstGeom>
          <a:solidFill>
            <a:srgbClr val="0B1220"/>
          </a:solidFill>
          <a:ln w="12700">
            <a:solidFill>
              <a:srgbClr val="0B1220"/>
            </a:solidFill>
            <a:prstDash val="solid"/>
          </a:ln>
        </p:spPr>
      </p:sp>
      <p:sp>
        <p:nvSpPr>
          <p:cNvPr id="6" name="Text 4"/>
          <p:cNvSpPr txBox="1"/>
          <p:nvPr/>
        </p:nvSpPr>
        <p:spPr>
          <a:xfrm>
            <a:off x="6583680" y="1828800"/>
            <a:ext cx="4754880" cy="1554480"/>
          </a:xfrm>
          <a:prstGeom prst="rect">
            <a:avLst/>
          </a:prstGeom>
          <a:noFill/>
          <a:ln/>
        </p:spPr>
        <p:txBody>
          <a:bodyPr wrap="square" lIns="0" tIns="0" rIns="0" bIns="0" rtlCol="0" anchor="ctr"/>
          <a:lstStyle/>
          <a:p>
            <a:pPr indent="0" marL="0">
              <a:buNone/>
            </a:pPr>
            <a:r>
              <a:rPr lang="en-US" sz="9600" b="1" dirty="0">
                <a:solidFill>
                  <a:schemeClr val="tx1"/>
                </a:solidFill>
                <a:latin typeface="Arial" pitchFamily="34" charset="0"/>
                <a:ea typeface="Arial" pitchFamily="34" charset="-122"/>
                <a:cs typeface="Arial" pitchFamily="34" charset="-120"/>
              </a:rPr>
              <a:t>98.3%</a:t>
            </a:r>
            <a:endParaRPr lang="en-US" sz="9600" dirty="0"/>
          </a:p>
        </p:txBody>
      </p:sp>
      <p:sp>
        <p:nvSpPr>
          <p:cNvPr id="7" name="Text 5"/>
          <p:cNvSpPr txBox="1"/>
          <p:nvPr/>
        </p:nvSpPr>
        <p:spPr>
          <a:xfrm>
            <a:off x="6583680" y="3429000"/>
            <a:ext cx="4754880" cy="457200"/>
          </a:xfrm>
          <a:prstGeom prst="rect">
            <a:avLst/>
          </a:prstGeom>
          <a:noFill/>
          <a:ln/>
        </p:spPr>
        <p:txBody>
          <a:bodyPr wrap="square" lIns="0" tIns="0" rIns="0" bIns="0" rtlCol="0" anchor="t"/>
          <a:lstStyle/>
          <a:p>
            <a:pPr indent="0" marL="0">
              <a:buNone/>
            </a:pPr>
            <a:r>
              <a:rPr lang="en-US" sz="2200" b="1" dirty="0">
                <a:solidFill>
                  <a:schemeClr val="tx1"/>
                </a:solidFill>
              </a:rPr>
              <a:t>Rules + ML model</a:t>
            </a:r>
            <a:endParaRPr lang="en-US" sz="2200" dirty="0"/>
          </a:p>
        </p:txBody>
      </p:sp>
      <p:sp>
        <p:nvSpPr>
          <p:cNvPr id="8" name="Text 6"/>
          <p:cNvSpPr txBox="1"/>
          <p:nvPr/>
        </p:nvSpPr>
        <p:spPr>
          <a:xfrm>
            <a:off x="822960" y="4572000"/>
            <a:ext cx="10515600" cy="1005840"/>
          </a:xfrm>
          <a:prstGeom prst="rect">
            <a:avLst/>
          </a:prstGeom>
          <a:noFill/>
          <a:ln/>
        </p:spPr>
        <p:txBody>
          <a:bodyPr wrap="square" lIns="0" tIns="0" rIns="0" bIns="0" rtlCol="0" anchor="t"/>
          <a:lstStyle/>
          <a:p>
            <a:pPr indent="0" marL="0">
              <a:buNone/>
            </a:pPr>
            <a:r>
              <a:rPr lang="en-US" sz="2800" dirty="0">
                <a:solidFill>
                  <a:schemeClr val="tx1"/>
                </a:solidFill>
              </a:rPr>
              <a:t>Adding the model cut missed attacks from 1,554 to 39.</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EVALUATION</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Rules vs model vs both</a:t>
            </a:r>
            <a:endParaRPr lang="en-US" sz="3200" dirty="0"/>
          </a:p>
        </p:txBody>
      </p:sp>
      <p:graphicFrame>
        <p:nvGraphicFramePr>
          <p:cNvPr id="4" name="Evaluation chart" descr=""/>
          <p:cNvGraphicFramePr/>
          <p:nvPr/>
        </p:nvGraphicFramePr>
        <p:xfrm>
          <a:off x="548640" y="160020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False alarms card"/>
          <p:cNvSpPr/>
          <p:nvPr/>
        </p:nvSpPr>
        <p:spPr>
          <a:xfrm>
            <a:off x="7726680" y="1600200"/>
            <a:ext cx="3886200" cy="1874520"/>
          </a:xfrm>
          <a:prstGeom prst="roundRect">
            <a:avLst>
              <a:gd name="adj" fmla="val 5854"/>
            </a:avLst>
          </a:prstGeom>
          <a:solidFill>
            <a:schemeClr val="bg2"/>
          </a:solidFill>
          <a:ln w="12700">
            <a:solidFill>
              <a:schemeClr val="bg2">
                <a:alpha val="0"/>
              </a:schemeClr>
            </a:solidFill>
            <a:prstDash val="solid"/>
          </a:ln>
        </p:spPr>
      </p:sp>
      <p:sp>
        <p:nvSpPr>
          <p:cNvPr id="6" name="Text 3"/>
          <p:cNvSpPr txBox="1"/>
          <p:nvPr/>
        </p:nvSpPr>
        <p:spPr>
          <a:xfrm>
            <a:off x="8001000" y="1783080"/>
            <a:ext cx="3383280" cy="365760"/>
          </a:xfrm>
          <a:prstGeom prst="rect">
            <a:avLst/>
          </a:prstGeom>
          <a:noFill/>
          <a:ln/>
        </p:spPr>
        <p:txBody>
          <a:bodyPr wrap="square" lIns="0" tIns="0" rIns="0" bIns="0" rtlCol="0" anchor="t"/>
          <a:lstStyle/>
          <a:p>
            <a:pPr indent="0" marL="0">
              <a:buNone/>
            </a:pPr>
            <a:r>
              <a:rPr lang="en-US" sz="1600" b="1" dirty="0">
                <a:solidFill>
                  <a:schemeClr val="tx1"/>
                </a:solidFill>
              </a:rPr>
              <a:t>False alarms</a:t>
            </a:r>
            <a:endParaRPr lang="en-US" sz="1600" dirty="0"/>
          </a:p>
        </p:txBody>
      </p:sp>
      <p:sp>
        <p:nvSpPr>
          <p:cNvPr id="7" name="Text 4"/>
          <p:cNvSpPr txBox="1"/>
          <p:nvPr/>
        </p:nvSpPr>
        <p:spPr>
          <a:xfrm>
            <a:off x="8001000" y="2240280"/>
            <a:ext cx="2194560" cy="365760"/>
          </a:xfrm>
          <a:prstGeom prst="rect">
            <a:avLst/>
          </a:prstGeom>
          <a:noFill/>
          <a:ln/>
        </p:spPr>
        <p:txBody>
          <a:bodyPr wrap="square" lIns="0" tIns="0" rIns="0" bIns="0" rtlCol="0" anchor="t"/>
          <a:lstStyle/>
          <a:p>
            <a:pPr indent="0" marL="0">
              <a:buNone/>
            </a:pPr>
            <a:r>
              <a:rPr lang="en-US" sz="1500" dirty="0">
                <a:solidFill>
                  <a:schemeClr val="tx2"/>
                </a:solidFill>
              </a:rPr>
              <a:t>Rules only</a:t>
            </a:r>
            <a:endParaRPr lang="en-US" sz="1500" dirty="0"/>
          </a:p>
        </p:txBody>
      </p:sp>
      <p:sp>
        <p:nvSpPr>
          <p:cNvPr id="8" name="Text 5"/>
          <p:cNvSpPr txBox="1"/>
          <p:nvPr/>
        </p:nvSpPr>
        <p:spPr>
          <a:xfrm>
            <a:off x="10241280" y="2240280"/>
            <a:ext cx="1143000" cy="365760"/>
          </a:xfrm>
          <a:prstGeom prst="rect">
            <a:avLst/>
          </a:prstGeom>
          <a:noFill/>
          <a:ln/>
        </p:spPr>
        <p:txBody>
          <a:bodyPr wrap="square" lIns="0" tIns="0" rIns="0" bIns="0" rtlCol="0" anchor="t"/>
          <a:lstStyle/>
          <a:p>
            <a:pPr algn="r" indent="0" marL="0">
              <a:buNone/>
            </a:pPr>
            <a:r>
              <a:rPr lang="en-US" sz="1500" b="1" dirty="0">
                <a:solidFill>
                  <a:schemeClr val="tx1"/>
                </a:solidFill>
              </a:rPr>
              <a:t>60</a:t>
            </a:r>
            <a:endParaRPr lang="en-US" sz="1500" dirty="0"/>
          </a:p>
        </p:txBody>
      </p:sp>
      <p:sp>
        <p:nvSpPr>
          <p:cNvPr id="9" name="Text 6"/>
          <p:cNvSpPr txBox="1"/>
          <p:nvPr/>
        </p:nvSpPr>
        <p:spPr>
          <a:xfrm>
            <a:off x="8001000" y="2624328"/>
            <a:ext cx="2194560" cy="365760"/>
          </a:xfrm>
          <a:prstGeom prst="rect">
            <a:avLst/>
          </a:prstGeom>
          <a:noFill/>
          <a:ln/>
        </p:spPr>
        <p:txBody>
          <a:bodyPr wrap="square" lIns="0" tIns="0" rIns="0" bIns="0" rtlCol="0" anchor="t"/>
          <a:lstStyle/>
          <a:p>
            <a:pPr indent="0" marL="0">
              <a:buNone/>
            </a:pPr>
            <a:r>
              <a:rPr lang="en-US" sz="1500" dirty="0">
                <a:solidFill>
                  <a:schemeClr val="tx2"/>
                </a:solidFill>
              </a:rPr>
              <a:t>ML only</a:t>
            </a:r>
            <a:endParaRPr lang="en-US" sz="1500" dirty="0"/>
          </a:p>
        </p:txBody>
      </p:sp>
      <p:sp>
        <p:nvSpPr>
          <p:cNvPr id="10" name="Text 7"/>
          <p:cNvSpPr txBox="1"/>
          <p:nvPr/>
        </p:nvSpPr>
        <p:spPr>
          <a:xfrm>
            <a:off x="10241280" y="2624328"/>
            <a:ext cx="1143000" cy="365760"/>
          </a:xfrm>
          <a:prstGeom prst="rect">
            <a:avLst/>
          </a:prstGeom>
          <a:noFill/>
          <a:ln/>
        </p:spPr>
        <p:txBody>
          <a:bodyPr wrap="square" lIns="0" tIns="0" rIns="0" bIns="0" rtlCol="0" anchor="t"/>
          <a:lstStyle/>
          <a:p>
            <a:pPr algn="r" indent="0" marL="0">
              <a:buNone/>
            </a:pPr>
            <a:r>
              <a:rPr lang="en-US" sz="1500" b="1" dirty="0">
                <a:solidFill>
                  <a:schemeClr val="tx1"/>
                </a:solidFill>
              </a:rPr>
              <a:t>1</a:t>
            </a:r>
            <a:endParaRPr lang="en-US" sz="1500" dirty="0"/>
          </a:p>
        </p:txBody>
      </p:sp>
      <p:sp>
        <p:nvSpPr>
          <p:cNvPr id="11" name="Text 8"/>
          <p:cNvSpPr txBox="1"/>
          <p:nvPr/>
        </p:nvSpPr>
        <p:spPr>
          <a:xfrm>
            <a:off x="8001000" y="3008376"/>
            <a:ext cx="2194560" cy="365760"/>
          </a:xfrm>
          <a:prstGeom prst="rect">
            <a:avLst/>
          </a:prstGeom>
          <a:noFill/>
          <a:ln/>
        </p:spPr>
        <p:txBody>
          <a:bodyPr wrap="square" lIns="0" tIns="0" rIns="0" bIns="0" rtlCol="0" anchor="t"/>
          <a:lstStyle/>
          <a:p>
            <a:pPr indent="0" marL="0">
              <a:buNone/>
            </a:pPr>
            <a:r>
              <a:rPr lang="en-US" sz="1500" b="1" dirty="0">
                <a:solidFill>
                  <a:schemeClr val="tx2"/>
                </a:solidFill>
              </a:rPr>
              <a:t>Rules + ML</a:t>
            </a:r>
            <a:endParaRPr lang="en-US" sz="1500" dirty="0"/>
          </a:p>
        </p:txBody>
      </p:sp>
      <p:sp>
        <p:nvSpPr>
          <p:cNvPr id="12" name="Text 9"/>
          <p:cNvSpPr txBox="1"/>
          <p:nvPr/>
        </p:nvSpPr>
        <p:spPr>
          <a:xfrm>
            <a:off x="10241280" y="3008376"/>
            <a:ext cx="1143000" cy="365760"/>
          </a:xfrm>
          <a:prstGeom prst="rect">
            <a:avLst/>
          </a:prstGeom>
          <a:noFill/>
          <a:ln/>
        </p:spPr>
        <p:txBody>
          <a:bodyPr wrap="square" lIns="0" tIns="0" rIns="0" bIns="0" rtlCol="0" anchor="t"/>
          <a:lstStyle/>
          <a:p>
            <a:pPr algn="r" indent="0" marL="0">
              <a:buNone/>
            </a:pPr>
            <a:r>
              <a:rPr lang="en-US" sz="1500" b="1" dirty="0">
                <a:solidFill>
                  <a:schemeClr val="accent1"/>
                </a:solidFill>
              </a:rPr>
              <a:t>61</a:t>
            </a:r>
            <a:endParaRPr lang="en-US" sz="1500" dirty="0"/>
          </a:p>
        </p:txBody>
      </p:sp>
      <p:sp>
        <p:nvSpPr>
          <p:cNvPr id="13" name="Missed attacks card"/>
          <p:cNvSpPr/>
          <p:nvPr/>
        </p:nvSpPr>
        <p:spPr>
          <a:xfrm>
            <a:off x="7726680" y="3657600"/>
            <a:ext cx="3886200" cy="1874520"/>
          </a:xfrm>
          <a:prstGeom prst="roundRect">
            <a:avLst>
              <a:gd name="adj" fmla="val 5854"/>
            </a:avLst>
          </a:prstGeom>
          <a:solidFill>
            <a:schemeClr val="bg2"/>
          </a:solidFill>
          <a:ln w="12700">
            <a:solidFill>
              <a:schemeClr val="bg2">
                <a:alpha val="0"/>
              </a:schemeClr>
            </a:solidFill>
            <a:prstDash val="solid"/>
          </a:ln>
        </p:spPr>
      </p:sp>
      <p:sp>
        <p:nvSpPr>
          <p:cNvPr id="14" name="Text 11"/>
          <p:cNvSpPr txBox="1"/>
          <p:nvPr/>
        </p:nvSpPr>
        <p:spPr>
          <a:xfrm>
            <a:off x="8001000" y="3840480"/>
            <a:ext cx="3383280" cy="365760"/>
          </a:xfrm>
          <a:prstGeom prst="rect">
            <a:avLst/>
          </a:prstGeom>
          <a:noFill/>
          <a:ln/>
        </p:spPr>
        <p:txBody>
          <a:bodyPr wrap="square" lIns="0" tIns="0" rIns="0" bIns="0" rtlCol="0" anchor="t"/>
          <a:lstStyle/>
          <a:p>
            <a:pPr indent="0" marL="0">
              <a:buNone/>
            </a:pPr>
            <a:r>
              <a:rPr lang="en-US" sz="1600" b="1" dirty="0">
                <a:solidFill>
                  <a:schemeClr val="tx1"/>
                </a:solidFill>
              </a:rPr>
              <a:t>Missed attacks</a:t>
            </a:r>
            <a:endParaRPr lang="en-US" sz="1600" dirty="0"/>
          </a:p>
        </p:txBody>
      </p:sp>
      <p:sp>
        <p:nvSpPr>
          <p:cNvPr id="15" name="Text 12"/>
          <p:cNvSpPr txBox="1"/>
          <p:nvPr/>
        </p:nvSpPr>
        <p:spPr>
          <a:xfrm>
            <a:off x="8001000" y="4297680"/>
            <a:ext cx="2194560" cy="365760"/>
          </a:xfrm>
          <a:prstGeom prst="rect">
            <a:avLst/>
          </a:prstGeom>
          <a:noFill/>
          <a:ln/>
        </p:spPr>
        <p:txBody>
          <a:bodyPr wrap="square" lIns="0" tIns="0" rIns="0" bIns="0" rtlCol="0" anchor="t"/>
          <a:lstStyle/>
          <a:p>
            <a:pPr indent="0" marL="0">
              <a:buNone/>
            </a:pPr>
            <a:r>
              <a:rPr lang="en-US" sz="1500" dirty="0">
                <a:solidFill>
                  <a:schemeClr val="tx2"/>
                </a:solidFill>
              </a:rPr>
              <a:t>Rules only</a:t>
            </a:r>
            <a:endParaRPr lang="en-US" sz="1500" dirty="0"/>
          </a:p>
        </p:txBody>
      </p:sp>
      <p:sp>
        <p:nvSpPr>
          <p:cNvPr id="16" name="Text 13"/>
          <p:cNvSpPr txBox="1"/>
          <p:nvPr/>
        </p:nvSpPr>
        <p:spPr>
          <a:xfrm>
            <a:off x="10241280" y="4297680"/>
            <a:ext cx="1143000" cy="365760"/>
          </a:xfrm>
          <a:prstGeom prst="rect">
            <a:avLst/>
          </a:prstGeom>
          <a:noFill/>
          <a:ln/>
        </p:spPr>
        <p:txBody>
          <a:bodyPr wrap="square" lIns="0" tIns="0" rIns="0" bIns="0" rtlCol="0" anchor="t"/>
          <a:lstStyle/>
          <a:p>
            <a:pPr algn="r" indent="0" marL="0">
              <a:buNone/>
            </a:pPr>
            <a:r>
              <a:rPr lang="en-US" sz="1500" b="1" dirty="0">
                <a:solidFill>
                  <a:schemeClr val="tx1"/>
                </a:solidFill>
              </a:rPr>
              <a:t>1,554</a:t>
            </a:r>
            <a:endParaRPr lang="en-US" sz="1500" dirty="0"/>
          </a:p>
        </p:txBody>
      </p:sp>
      <p:sp>
        <p:nvSpPr>
          <p:cNvPr id="17" name="Text 14"/>
          <p:cNvSpPr txBox="1"/>
          <p:nvPr/>
        </p:nvSpPr>
        <p:spPr>
          <a:xfrm>
            <a:off x="8001000" y="4681728"/>
            <a:ext cx="2194560" cy="365760"/>
          </a:xfrm>
          <a:prstGeom prst="rect">
            <a:avLst/>
          </a:prstGeom>
          <a:noFill/>
          <a:ln/>
        </p:spPr>
        <p:txBody>
          <a:bodyPr wrap="square" lIns="0" tIns="0" rIns="0" bIns="0" rtlCol="0" anchor="t"/>
          <a:lstStyle/>
          <a:p>
            <a:pPr indent="0" marL="0">
              <a:buNone/>
            </a:pPr>
            <a:r>
              <a:rPr lang="en-US" sz="1500" dirty="0">
                <a:solidFill>
                  <a:schemeClr val="tx2"/>
                </a:solidFill>
              </a:rPr>
              <a:t>ML only</a:t>
            </a:r>
            <a:endParaRPr lang="en-US" sz="1500" dirty="0"/>
          </a:p>
        </p:txBody>
      </p:sp>
      <p:sp>
        <p:nvSpPr>
          <p:cNvPr id="18" name="Text 15"/>
          <p:cNvSpPr txBox="1"/>
          <p:nvPr/>
        </p:nvSpPr>
        <p:spPr>
          <a:xfrm>
            <a:off x="10241280" y="4681728"/>
            <a:ext cx="1143000" cy="365760"/>
          </a:xfrm>
          <a:prstGeom prst="rect">
            <a:avLst/>
          </a:prstGeom>
          <a:noFill/>
          <a:ln/>
        </p:spPr>
        <p:txBody>
          <a:bodyPr wrap="square" lIns="0" tIns="0" rIns="0" bIns="0" rtlCol="0" anchor="t"/>
          <a:lstStyle/>
          <a:p>
            <a:pPr algn="r" indent="0" marL="0">
              <a:buNone/>
            </a:pPr>
            <a:r>
              <a:rPr lang="en-US" sz="1500" b="1" dirty="0">
                <a:solidFill>
                  <a:schemeClr val="tx1"/>
                </a:solidFill>
              </a:rPr>
              <a:t>39</a:t>
            </a:r>
            <a:endParaRPr lang="en-US" sz="1500" dirty="0"/>
          </a:p>
        </p:txBody>
      </p:sp>
      <p:sp>
        <p:nvSpPr>
          <p:cNvPr id="19" name="Text 16"/>
          <p:cNvSpPr txBox="1"/>
          <p:nvPr/>
        </p:nvSpPr>
        <p:spPr>
          <a:xfrm>
            <a:off x="8001000" y="5065776"/>
            <a:ext cx="2194560" cy="365760"/>
          </a:xfrm>
          <a:prstGeom prst="rect">
            <a:avLst/>
          </a:prstGeom>
          <a:noFill/>
          <a:ln/>
        </p:spPr>
        <p:txBody>
          <a:bodyPr wrap="square" lIns="0" tIns="0" rIns="0" bIns="0" rtlCol="0" anchor="t"/>
          <a:lstStyle/>
          <a:p>
            <a:pPr indent="0" marL="0">
              <a:buNone/>
            </a:pPr>
            <a:r>
              <a:rPr lang="en-US" sz="1500" b="1" dirty="0">
                <a:solidFill>
                  <a:schemeClr val="tx2"/>
                </a:solidFill>
              </a:rPr>
              <a:t>Rules + ML</a:t>
            </a:r>
            <a:endParaRPr lang="en-US" sz="1500" dirty="0"/>
          </a:p>
        </p:txBody>
      </p:sp>
      <p:sp>
        <p:nvSpPr>
          <p:cNvPr id="20" name="Text 17"/>
          <p:cNvSpPr txBox="1"/>
          <p:nvPr/>
        </p:nvSpPr>
        <p:spPr>
          <a:xfrm>
            <a:off x="10241280" y="5065776"/>
            <a:ext cx="1143000" cy="365760"/>
          </a:xfrm>
          <a:prstGeom prst="rect">
            <a:avLst/>
          </a:prstGeom>
          <a:noFill/>
          <a:ln/>
        </p:spPr>
        <p:txBody>
          <a:bodyPr wrap="square" lIns="0" tIns="0" rIns="0" bIns="0" rtlCol="0" anchor="t"/>
          <a:lstStyle/>
          <a:p>
            <a:pPr algn="r" indent="0" marL="0">
              <a:buNone/>
            </a:pPr>
            <a:r>
              <a:rPr lang="en-US" sz="1500" b="1" dirty="0">
                <a:solidFill>
                  <a:schemeClr val="accent1"/>
                </a:solidFill>
              </a:rPr>
              <a:t>39</a:t>
            </a:r>
            <a:endParaRPr lang="en-US" sz="1500" dirty="0"/>
          </a:p>
        </p:txBody>
      </p:sp>
      <p:sp>
        <p:nvSpPr>
          <p:cNvPr id="21" name="Text 18"/>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Caveat: the dataset repeats similar payloads, so these scores are optimistic. Real traffic will score lower.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THRESHOLD CHOICE</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0.70 keeps recall high with one false alarm</a:t>
            </a:r>
            <a:endParaRPr lang="en-US" sz="3200" dirty="0"/>
          </a:p>
        </p:txBody>
      </p:sp>
      <p:sp>
        <p:nvSpPr>
          <p:cNvPr id="4" name="Threshold 0.50"/>
          <p:cNvSpPr/>
          <p:nvPr/>
        </p:nvSpPr>
        <p:spPr>
          <a:xfrm>
            <a:off x="548640" y="1828800"/>
            <a:ext cx="3529584" cy="3200400"/>
          </a:xfrm>
          <a:prstGeom prst="roundRect">
            <a:avLst>
              <a:gd name="adj" fmla="val 3429"/>
            </a:avLst>
          </a:prstGeom>
          <a:solidFill>
            <a:schemeClr val="bg2"/>
          </a:solidFill>
          <a:ln w="12700">
            <a:solidFill>
              <a:schemeClr val="bg2">
                <a:alpha val="0"/>
              </a:schemeClr>
            </a:solidFill>
            <a:prstDash val="solid"/>
          </a:ln>
        </p:spPr>
      </p:sp>
      <p:sp>
        <p:nvSpPr>
          <p:cNvPr id="5" name="Text 3"/>
          <p:cNvSpPr txBox="1"/>
          <p:nvPr/>
        </p:nvSpPr>
        <p:spPr>
          <a:xfrm>
            <a:off x="914400" y="2148840"/>
            <a:ext cx="2103120" cy="41148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Threshold 0.50</a:t>
            </a:r>
            <a:endParaRPr lang="en-US" sz="1800" dirty="0"/>
          </a:p>
        </p:txBody>
      </p:sp>
      <p:sp>
        <p:nvSpPr>
          <p:cNvPr id="6" name="Text 4"/>
          <p:cNvSpPr txBox="1"/>
          <p:nvPr/>
        </p:nvSpPr>
        <p:spPr>
          <a:xfrm>
            <a:off x="914400" y="2743200"/>
            <a:ext cx="2834640" cy="109728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98.8%</a:t>
            </a:r>
            <a:endParaRPr lang="en-US" sz="6000" dirty="0"/>
          </a:p>
        </p:txBody>
      </p:sp>
      <p:sp>
        <p:nvSpPr>
          <p:cNvPr id="7" name="Text 5"/>
          <p:cNvSpPr txBox="1"/>
          <p:nvPr/>
        </p:nvSpPr>
        <p:spPr>
          <a:xfrm>
            <a:off x="914400" y="3977640"/>
            <a:ext cx="2834640" cy="457200"/>
          </a:xfrm>
          <a:prstGeom prst="rect">
            <a:avLst/>
          </a:prstGeom>
          <a:noFill/>
          <a:ln/>
        </p:spPr>
        <p:txBody>
          <a:bodyPr wrap="square" lIns="0" tIns="0" rIns="0" bIns="0" rtlCol="0" anchor="t"/>
          <a:lstStyle/>
          <a:p>
            <a:pPr indent="0" marL="0">
              <a:buNone/>
            </a:pPr>
            <a:r>
              <a:rPr lang="en-US" sz="1800" dirty="0">
                <a:solidFill>
                  <a:schemeClr val="tx2"/>
                </a:solidFill>
              </a:rPr>
              <a:t>recall · 1 false alarm</a:t>
            </a:r>
            <a:endParaRPr lang="en-US" sz="1800" dirty="0"/>
          </a:p>
        </p:txBody>
      </p:sp>
      <p:sp>
        <p:nvSpPr>
          <p:cNvPr id="8" name="Threshold 0.70"/>
          <p:cNvSpPr/>
          <p:nvPr/>
        </p:nvSpPr>
        <p:spPr>
          <a:xfrm>
            <a:off x="4315968" y="1828800"/>
            <a:ext cx="3529584" cy="3200400"/>
          </a:xfrm>
          <a:prstGeom prst="roundRect">
            <a:avLst>
              <a:gd name="adj" fmla="val 3429"/>
            </a:avLst>
          </a:prstGeom>
          <a:solidFill>
            <a:schemeClr val="tx1"/>
          </a:solidFill>
          <a:ln w="12700">
            <a:solidFill>
              <a:schemeClr val="tx1">
                <a:alpha val="0"/>
              </a:schemeClr>
            </a:solidFill>
            <a:prstDash val="solid"/>
          </a:ln>
          <a:effectLst>
            <a:outerShdw sx="100000" sy="100000" kx="0" ky="0" algn="bl" rotWithShape="0" blurRad="127000" dist="38100" dir="5400000">
              <a:srgbClr val="0B1220">
                <a:alpha val="14000"/>
              </a:srgbClr>
            </a:outerShdw>
          </a:effectLst>
        </p:spPr>
      </p:sp>
      <p:sp>
        <p:nvSpPr>
          <p:cNvPr id="9" name="Text 7"/>
          <p:cNvSpPr txBox="1"/>
          <p:nvPr/>
        </p:nvSpPr>
        <p:spPr>
          <a:xfrm>
            <a:off x="4681728" y="2148840"/>
            <a:ext cx="2103120" cy="411480"/>
          </a:xfrm>
          <a:prstGeom prst="rect">
            <a:avLst/>
          </a:prstGeom>
          <a:noFill/>
          <a:ln/>
        </p:spPr>
        <p:txBody>
          <a:bodyPr wrap="square" lIns="0" tIns="0" rIns="0" bIns="0" rtlCol="0" anchor="t"/>
          <a:lstStyle/>
          <a:p>
            <a:pPr indent="0" marL="0">
              <a:buNone/>
            </a:pPr>
            <a:r>
              <a:rPr lang="en-US" sz="1800" b="1" dirty="0">
                <a:solidFill>
                  <a:schemeClr val="accent5"/>
                </a:solidFill>
                <a:latin typeface="Courier New" pitchFamily="34" charset="0"/>
                <a:ea typeface="Courier New" pitchFamily="34" charset="-122"/>
                <a:cs typeface="Courier New" pitchFamily="34" charset="-120"/>
              </a:rPr>
              <a:t>Threshold 0.70</a:t>
            </a:r>
            <a:endParaRPr lang="en-US" sz="1800" dirty="0"/>
          </a:p>
        </p:txBody>
      </p:sp>
      <p:sp>
        <p:nvSpPr>
          <p:cNvPr id="10" name="Used pill"/>
          <p:cNvSpPr/>
          <p:nvPr/>
        </p:nvSpPr>
        <p:spPr>
          <a:xfrm>
            <a:off x="6739128" y="2167128"/>
            <a:ext cx="777240" cy="365760"/>
          </a:xfrm>
          <a:prstGeom prst="roundRect">
            <a:avLst>
              <a:gd name="adj" fmla="val 50000"/>
            </a:avLst>
          </a:prstGeom>
          <a:solidFill>
            <a:srgbClr val="3DE6FF"/>
          </a:solidFill>
          <a:ln w="12700">
            <a:solidFill>
              <a:srgbClr val="3DE6FF"/>
            </a:solidFill>
            <a:prstDash val="solid"/>
          </a:ln>
        </p:spPr>
      </p:sp>
      <p:sp>
        <p:nvSpPr>
          <p:cNvPr id="11" name="Text 9"/>
          <p:cNvSpPr txBox="1"/>
          <p:nvPr/>
        </p:nvSpPr>
        <p:spPr>
          <a:xfrm>
            <a:off x="6739128" y="2167128"/>
            <a:ext cx="777240" cy="365760"/>
          </a:xfrm>
          <a:prstGeom prst="rect">
            <a:avLst/>
          </a:prstGeom>
          <a:noFill/>
          <a:ln/>
        </p:spPr>
        <p:txBody>
          <a:bodyPr wrap="square" lIns="0" tIns="0" rIns="0" bIns="0" rtlCol="0" anchor="ctr"/>
          <a:lstStyle/>
          <a:p>
            <a:pPr algn="ctr" indent="0" marL="0">
              <a:buNone/>
            </a:pPr>
            <a:r>
              <a:rPr lang="en-US" sz="1400" b="1" dirty="0">
                <a:solidFill>
                  <a:schemeClr val="tx1"/>
                </a:solidFill>
              </a:rPr>
              <a:t>Used</a:t>
            </a:r>
            <a:endParaRPr lang="en-US" sz="1400" dirty="0"/>
          </a:p>
        </p:txBody>
      </p:sp>
      <p:sp>
        <p:nvSpPr>
          <p:cNvPr id="12" name="Text 10"/>
          <p:cNvSpPr txBox="1"/>
          <p:nvPr/>
        </p:nvSpPr>
        <p:spPr>
          <a:xfrm>
            <a:off x="4681728" y="2743200"/>
            <a:ext cx="2834640" cy="1097280"/>
          </a:xfrm>
          <a:prstGeom prst="rect">
            <a:avLst/>
          </a:prstGeom>
          <a:noFill/>
          <a:ln/>
        </p:spPr>
        <p:txBody>
          <a:bodyPr wrap="square" lIns="0" tIns="0" rIns="0" bIns="0" rtlCol="0" anchor="ctr"/>
          <a:lstStyle/>
          <a:p>
            <a:pPr indent="0" marL="0">
              <a:buNone/>
            </a:pPr>
            <a:r>
              <a:rPr lang="en-US" sz="6000" b="1" dirty="0">
                <a:solidFill>
                  <a:schemeClr val="bg1"/>
                </a:solidFill>
                <a:latin typeface="Arial" pitchFamily="34" charset="0"/>
                <a:ea typeface="Arial" pitchFamily="34" charset="-122"/>
                <a:cs typeface="Arial" pitchFamily="34" charset="-120"/>
              </a:rPr>
              <a:t>98.3%</a:t>
            </a:r>
            <a:endParaRPr lang="en-US" sz="6000" dirty="0"/>
          </a:p>
        </p:txBody>
      </p:sp>
      <p:sp>
        <p:nvSpPr>
          <p:cNvPr id="13" name="Text 11"/>
          <p:cNvSpPr txBox="1"/>
          <p:nvPr/>
        </p:nvSpPr>
        <p:spPr>
          <a:xfrm>
            <a:off x="4681728" y="3977640"/>
            <a:ext cx="2834640" cy="457200"/>
          </a:xfrm>
          <a:prstGeom prst="rect">
            <a:avLst/>
          </a:prstGeom>
          <a:noFill/>
          <a:ln/>
        </p:spPr>
        <p:txBody>
          <a:bodyPr wrap="square" lIns="0" tIns="0" rIns="0" bIns="0" rtlCol="0" anchor="t"/>
          <a:lstStyle/>
          <a:p>
            <a:pPr indent="0" marL="0">
              <a:buNone/>
            </a:pPr>
            <a:r>
              <a:rPr lang="en-US" sz="1800" dirty="0">
                <a:solidFill>
                  <a:schemeClr val="bg2"/>
                </a:solidFill>
              </a:rPr>
              <a:t>recall · 1 false alarm</a:t>
            </a:r>
            <a:endParaRPr lang="en-US" sz="1800" dirty="0"/>
          </a:p>
        </p:txBody>
      </p:sp>
      <p:sp>
        <p:nvSpPr>
          <p:cNvPr id="14" name="Threshold 0.90"/>
          <p:cNvSpPr/>
          <p:nvPr/>
        </p:nvSpPr>
        <p:spPr>
          <a:xfrm>
            <a:off x="8083296" y="1828800"/>
            <a:ext cx="3529584" cy="3200400"/>
          </a:xfrm>
          <a:prstGeom prst="roundRect">
            <a:avLst>
              <a:gd name="adj" fmla="val 3429"/>
            </a:avLst>
          </a:prstGeom>
          <a:solidFill>
            <a:schemeClr val="bg2"/>
          </a:solidFill>
          <a:ln w="12700">
            <a:solidFill>
              <a:schemeClr val="bg2">
                <a:alpha val="0"/>
              </a:schemeClr>
            </a:solidFill>
            <a:prstDash val="solid"/>
          </a:ln>
        </p:spPr>
      </p:sp>
      <p:sp>
        <p:nvSpPr>
          <p:cNvPr id="15" name="Text 13"/>
          <p:cNvSpPr txBox="1"/>
          <p:nvPr/>
        </p:nvSpPr>
        <p:spPr>
          <a:xfrm>
            <a:off x="8449056" y="2148840"/>
            <a:ext cx="2103120" cy="41148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Threshold 0.90</a:t>
            </a:r>
            <a:endParaRPr lang="en-US" sz="1800" dirty="0"/>
          </a:p>
        </p:txBody>
      </p:sp>
      <p:sp>
        <p:nvSpPr>
          <p:cNvPr id="16" name="Text 14"/>
          <p:cNvSpPr txBox="1"/>
          <p:nvPr/>
        </p:nvSpPr>
        <p:spPr>
          <a:xfrm>
            <a:off x="8449056" y="2743200"/>
            <a:ext cx="2834640" cy="109728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93.7%</a:t>
            </a:r>
            <a:endParaRPr lang="en-US" sz="6000" dirty="0"/>
          </a:p>
        </p:txBody>
      </p:sp>
      <p:sp>
        <p:nvSpPr>
          <p:cNvPr id="17" name="Text 15"/>
          <p:cNvSpPr txBox="1"/>
          <p:nvPr/>
        </p:nvSpPr>
        <p:spPr>
          <a:xfrm>
            <a:off x="8449056" y="3977640"/>
            <a:ext cx="2834640" cy="457200"/>
          </a:xfrm>
          <a:prstGeom prst="rect">
            <a:avLst/>
          </a:prstGeom>
          <a:noFill/>
          <a:ln/>
        </p:spPr>
        <p:txBody>
          <a:bodyPr wrap="square" lIns="0" tIns="0" rIns="0" bIns="0" rtlCol="0" anchor="t"/>
          <a:lstStyle/>
          <a:p>
            <a:pPr indent="0" marL="0">
              <a:buNone/>
            </a:pPr>
            <a:r>
              <a:rPr lang="en-US" sz="1800" dirty="0">
                <a:solidFill>
                  <a:schemeClr val="tx2"/>
                </a:solidFill>
              </a:rPr>
              <a:t>recall · 0 false alarms</a:t>
            </a:r>
            <a:endParaRPr lang="en-US" sz="1800" dirty="0"/>
          </a:p>
        </p:txBody>
      </p:sp>
      <p:sp>
        <p:nvSpPr>
          <p:cNvPr id="18" name="Text 16"/>
          <p:cNvSpPr txBox="1"/>
          <p:nvPr/>
        </p:nvSpPr>
        <p:spPr>
          <a:xfrm>
            <a:off x="548640" y="5440680"/>
            <a:ext cx="11064240" cy="457200"/>
          </a:xfrm>
          <a:prstGeom prst="rect">
            <a:avLst/>
          </a:prstGeom>
          <a:noFill/>
          <a:ln/>
        </p:spPr>
        <p:txBody>
          <a:bodyPr wrap="square" lIns="0" tIns="0" rIns="0" bIns="0" rtlCol="0" anchor="t"/>
          <a:lstStyle/>
          <a:p>
            <a:pPr indent="0" marL="0">
              <a:buNone/>
            </a:pPr>
            <a:r>
              <a:rPr lang="en-US" sz="1600" dirty="0">
                <a:solidFill>
                  <a:schemeClr val="tx2"/>
                </a:solidFill>
              </a:rPr>
              <a:t>The model score is a similarity score, not the probability that an attack is happening.</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THE DASHBOARD</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One calm screen for live traffic</a:t>
            </a:r>
            <a:endParaRPr lang="en-US" sz="3200" dirty="0"/>
          </a:p>
        </p:txBody>
      </p:sp>
      <p:sp>
        <p:nvSpPr>
          <p:cNvPr id="4" name="Overview screenshot frame"/>
          <p:cNvSpPr/>
          <p:nvPr/>
        </p:nvSpPr>
        <p:spPr>
          <a:xfrm>
            <a:off x="1798168" y="1554480"/>
            <a:ext cx="8595360" cy="4874895"/>
          </a:xfrm>
          <a:prstGeom prst="roundRect">
            <a:avLst>
              <a:gd name="adj" fmla="val 1501"/>
            </a:avLst>
          </a:prstGeom>
          <a:solidFill>
            <a:schemeClr val="tx2"/>
          </a:solidFill>
          <a:ln w="12700">
            <a:solidFill>
              <a:schemeClr val="tx2"/>
            </a:solidFill>
            <a:prstDash val="solid"/>
          </a:ln>
          <a:effectLst>
            <a:outerShdw sx="100000" sy="100000" kx="0" ky="0" algn="bl" rotWithShape="0" blurRad="127000" dist="38100" dir="5400000">
              <a:srgbClr val="0B1220">
                <a:alpha val="14000"/>
              </a:srgbClr>
            </a:outerShdw>
          </a:effectLst>
        </p:spPr>
      </p:sp>
      <p:pic>
        <p:nvPicPr>
          <p:cNvPr id="5" name="Overview screenshot" descr="Overview page: threat level banner, five counters, a stacked activity chart and the latest alerts list">    </p:cNvPr>
          <p:cNvPicPr>
            <a:picLocks noChangeAspect="1"/>
          </p:cNvPicPr>
          <p:nvPr/>
        </p:nvPicPr>
        <p:blipFill>
          <a:blip r:embed="rId1"/>
          <a:stretch>
            <a:fillRect/>
          </a:stretch>
        </p:blipFill>
        <p:spPr>
          <a:xfrm>
            <a:off x="1843888" y="1600200"/>
            <a:ext cx="8503920" cy="4783455"/>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INVESTIGATE</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Every alert explains itself</a:t>
            </a:r>
            <a:endParaRPr lang="en-US" sz="3200" dirty="0"/>
          </a:p>
        </p:txBody>
      </p:sp>
      <p:sp>
        <p:nvSpPr>
          <p:cNvPr id="4" name="Event drawer screenshot frame"/>
          <p:cNvSpPr/>
          <p:nvPr/>
        </p:nvSpPr>
        <p:spPr>
          <a:xfrm>
            <a:off x="502920" y="1645920"/>
            <a:ext cx="7406640" cy="4206240"/>
          </a:xfrm>
          <a:prstGeom prst="roundRect">
            <a:avLst>
              <a:gd name="adj" fmla="val 1739"/>
            </a:avLst>
          </a:prstGeom>
          <a:solidFill>
            <a:schemeClr val="tx2"/>
          </a:solidFill>
          <a:ln w="12700">
            <a:solidFill>
              <a:schemeClr val="tx2"/>
            </a:solidFill>
            <a:prstDash val="solid"/>
          </a:ln>
          <a:effectLst>
            <a:outerShdw sx="100000" sy="100000" kx="0" ky="0" algn="bl" rotWithShape="0" blurRad="127000" dist="38100" dir="5400000">
              <a:srgbClr val="0B1220">
                <a:alpha val="14000"/>
              </a:srgbClr>
            </a:outerShdw>
          </a:effectLst>
        </p:spPr>
      </p:sp>
      <p:pic>
        <p:nvPicPr>
          <p:cNvPr id="5" name="Event drawer screenshot" descr="Events page with the detail drawer open on an ML-flagged SQL injection, score 0.80 against the 0.70 threshold">    </p:cNvPr>
          <p:cNvPicPr>
            <a:picLocks noChangeAspect="1"/>
          </p:cNvPicPr>
          <p:nvPr/>
        </p:nvPicPr>
        <p:blipFill>
          <a:blip r:embed="rId1"/>
          <a:stretch>
            <a:fillRect/>
          </a:stretch>
        </p:blipFill>
        <p:spPr>
          <a:xfrm>
            <a:off x="548640" y="1691640"/>
            <a:ext cx="7315200" cy="4114800"/>
          </a:xfrm>
          <a:prstGeom prst="rect">
            <a:avLst/>
          </a:prstGeom>
        </p:spPr>
      </p:pic>
      <p:sp>
        <p:nvSpPr>
          <p:cNvPr id="6" name="Evidence circle"/>
          <p:cNvSpPr/>
          <p:nvPr/>
        </p:nvSpPr>
        <p:spPr>
          <a:xfrm>
            <a:off x="8275320" y="1783080"/>
            <a:ext cx="548640" cy="548640"/>
          </a:xfrm>
          <a:prstGeom prst="ellipse">
            <a:avLst/>
          </a:prstGeom>
          <a:solidFill>
            <a:srgbClr val="0E7490"/>
          </a:solidFill>
          <a:ln w="12700">
            <a:solidFill>
              <a:srgbClr val="0E7490"/>
            </a:solidFill>
            <a:prstDash val="solid"/>
          </a:ln>
        </p:spPr>
      </p:sp>
      <p:pic>
        <p:nvPicPr>
          <p:cNvPr id="7" name="Evidence icon" descr="preencoded.png">    </p:cNvPr>
          <p:cNvPicPr>
            <a:picLocks noChangeAspect="1"/>
          </p:cNvPicPr>
          <p:nvPr/>
        </p:nvPicPr>
        <p:blipFill>
          <a:blip r:embed="rId2"/>
          <a:stretch>
            <a:fillRect/>
          </a:stretch>
        </p:blipFill>
        <p:spPr>
          <a:xfrm>
            <a:off x="8406994" y="1914754"/>
            <a:ext cx="285293" cy="285293"/>
          </a:xfrm>
          <a:prstGeom prst="rect">
            <a:avLst/>
          </a:prstGeom>
        </p:spPr>
      </p:pic>
      <p:sp>
        <p:nvSpPr>
          <p:cNvPr id="8" name="Text 4"/>
          <p:cNvSpPr txBox="1"/>
          <p:nvPr/>
        </p:nvSpPr>
        <p:spPr>
          <a:xfrm>
            <a:off x="9006840" y="1783080"/>
            <a:ext cx="260604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Evidence</a:t>
            </a:r>
            <a:endParaRPr lang="en-US" sz="1800" dirty="0"/>
          </a:p>
        </p:txBody>
      </p:sp>
      <p:sp>
        <p:nvSpPr>
          <p:cNvPr id="9" name="Text 5"/>
          <p:cNvSpPr txBox="1"/>
          <p:nvPr/>
        </p:nvSpPr>
        <p:spPr>
          <a:xfrm>
            <a:off x="9006840" y="2221992"/>
            <a:ext cx="2606040" cy="822960"/>
          </a:xfrm>
          <a:prstGeom prst="rect">
            <a:avLst/>
          </a:prstGeom>
          <a:noFill/>
          <a:ln/>
        </p:spPr>
        <p:txBody>
          <a:bodyPr wrap="square" lIns="0" tIns="0" rIns="0" bIns="0" rtlCol="0" anchor="t"/>
          <a:lstStyle/>
          <a:p>
            <a:pPr indent="0" marL="0">
              <a:buNone/>
            </a:pPr>
            <a:r>
              <a:rPr lang="en-US" sz="1500" dirty="0">
                <a:solidFill>
                  <a:schemeClr val="bg2"/>
                </a:solidFill>
              </a:rPr>
              <a:t>The exact rule or score, the field and the input, with a copy button</a:t>
            </a:r>
            <a:endParaRPr lang="en-US" sz="1500" dirty="0"/>
          </a:p>
        </p:txBody>
      </p:sp>
      <p:sp>
        <p:nvSpPr>
          <p:cNvPr id="10" name="Why it matters circle"/>
          <p:cNvSpPr/>
          <p:nvPr/>
        </p:nvSpPr>
        <p:spPr>
          <a:xfrm>
            <a:off x="8275320" y="3154680"/>
            <a:ext cx="548640" cy="548640"/>
          </a:xfrm>
          <a:prstGeom prst="ellipse">
            <a:avLst/>
          </a:prstGeom>
          <a:solidFill>
            <a:srgbClr val="0E7490"/>
          </a:solidFill>
          <a:ln w="12700">
            <a:solidFill>
              <a:srgbClr val="0E7490"/>
            </a:solidFill>
            <a:prstDash val="solid"/>
          </a:ln>
        </p:spPr>
      </p:sp>
      <p:pic>
        <p:nvPicPr>
          <p:cNvPr id="11" name="Why it matters icon" descr="preencoded.png">    </p:cNvPr>
          <p:cNvPicPr>
            <a:picLocks noChangeAspect="1"/>
          </p:cNvPicPr>
          <p:nvPr/>
        </p:nvPicPr>
        <p:blipFill>
          <a:blip r:embed="rId3"/>
          <a:stretch>
            <a:fillRect/>
          </a:stretch>
        </p:blipFill>
        <p:spPr>
          <a:xfrm>
            <a:off x="8406994" y="3286354"/>
            <a:ext cx="285293" cy="285293"/>
          </a:xfrm>
          <a:prstGeom prst="rect">
            <a:avLst/>
          </a:prstGeom>
        </p:spPr>
      </p:pic>
      <p:sp>
        <p:nvSpPr>
          <p:cNvPr id="12" name="Text 7"/>
          <p:cNvSpPr txBox="1"/>
          <p:nvPr/>
        </p:nvSpPr>
        <p:spPr>
          <a:xfrm>
            <a:off x="9006840" y="3154680"/>
            <a:ext cx="260604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Why it matters</a:t>
            </a:r>
            <a:endParaRPr lang="en-US" sz="1800" dirty="0"/>
          </a:p>
        </p:txBody>
      </p:sp>
      <p:sp>
        <p:nvSpPr>
          <p:cNvPr id="13" name="Text 8"/>
          <p:cNvSpPr txBox="1"/>
          <p:nvPr/>
        </p:nvSpPr>
        <p:spPr>
          <a:xfrm>
            <a:off x="9006840" y="3593592"/>
            <a:ext cx="2606040" cy="822960"/>
          </a:xfrm>
          <a:prstGeom prst="rect">
            <a:avLst/>
          </a:prstGeom>
          <a:noFill/>
          <a:ln/>
        </p:spPr>
        <p:txBody>
          <a:bodyPr wrap="square" lIns="0" tIns="0" rIns="0" bIns="0" rtlCol="0" anchor="t"/>
          <a:lstStyle/>
          <a:p>
            <a:pPr indent="0" marL="0">
              <a:buNone/>
            </a:pPr>
            <a:r>
              <a:rPr lang="en-US" sz="1500" dirty="0">
                <a:solidFill>
                  <a:schemeClr val="bg2"/>
                </a:solidFill>
              </a:rPr>
              <a:t>A plain-language reason anyone on the team can read</a:t>
            </a:r>
            <a:endParaRPr lang="en-US" sz="1500" dirty="0"/>
          </a:p>
        </p:txBody>
      </p:sp>
      <p:sp>
        <p:nvSpPr>
          <p:cNvPr id="14" name="Model score circle"/>
          <p:cNvSpPr/>
          <p:nvPr/>
        </p:nvSpPr>
        <p:spPr>
          <a:xfrm>
            <a:off x="8275320" y="4526280"/>
            <a:ext cx="548640" cy="548640"/>
          </a:xfrm>
          <a:prstGeom prst="ellipse">
            <a:avLst/>
          </a:prstGeom>
          <a:solidFill>
            <a:srgbClr val="B45309"/>
          </a:solidFill>
          <a:ln w="12700">
            <a:solidFill>
              <a:srgbClr val="B45309"/>
            </a:solidFill>
            <a:prstDash val="solid"/>
          </a:ln>
        </p:spPr>
      </p:sp>
      <p:pic>
        <p:nvPicPr>
          <p:cNvPr id="15" name="Model score icon" descr="preencoded.png">    </p:cNvPr>
          <p:cNvPicPr>
            <a:picLocks noChangeAspect="1"/>
          </p:cNvPicPr>
          <p:nvPr/>
        </p:nvPicPr>
        <p:blipFill>
          <a:blip r:embed="rId4"/>
          <a:stretch>
            <a:fillRect/>
          </a:stretch>
        </p:blipFill>
        <p:spPr>
          <a:xfrm>
            <a:off x="8406994" y="4657954"/>
            <a:ext cx="285293" cy="285293"/>
          </a:xfrm>
          <a:prstGeom prst="rect">
            <a:avLst/>
          </a:prstGeom>
        </p:spPr>
      </p:pic>
      <p:sp>
        <p:nvSpPr>
          <p:cNvPr id="16" name="Text 10"/>
          <p:cNvSpPr txBox="1"/>
          <p:nvPr/>
        </p:nvSpPr>
        <p:spPr>
          <a:xfrm>
            <a:off x="9006840" y="4526280"/>
            <a:ext cx="260604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Model score</a:t>
            </a:r>
            <a:endParaRPr lang="en-US" sz="1800" dirty="0"/>
          </a:p>
        </p:txBody>
      </p:sp>
      <p:sp>
        <p:nvSpPr>
          <p:cNvPr id="17" name="Text 11"/>
          <p:cNvSpPr txBox="1"/>
          <p:nvPr/>
        </p:nvSpPr>
        <p:spPr>
          <a:xfrm>
            <a:off x="9006840" y="4965192"/>
            <a:ext cx="2606040" cy="822960"/>
          </a:xfrm>
          <a:prstGeom prst="rect">
            <a:avLst/>
          </a:prstGeom>
          <a:noFill/>
          <a:ln/>
        </p:spPr>
        <p:txBody>
          <a:bodyPr wrap="square" lIns="0" tIns="0" rIns="0" bIns="0" rtlCol="0" anchor="t"/>
          <a:lstStyle/>
          <a:p>
            <a:pPr indent="0" marL="0">
              <a:buNone/>
            </a:pPr>
            <a:r>
              <a:rPr lang="en-US" sz="1500" dirty="0">
                <a:solidFill>
                  <a:schemeClr val="bg2"/>
                </a:solidFill>
              </a:rPr>
              <a:t>0.80 against the 0.70 threshold: flagged for review, not blocked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TRANSPARENCY</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The rules and the model, inside the product</a:t>
            </a:r>
            <a:endParaRPr lang="en-US" sz="3200" dirty="0"/>
          </a:p>
        </p:txBody>
      </p:sp>
      <p:sp>
        <p:nvSpPr>
          <p:cNvPr id="4" name="Text 2"/>
          <p:cNvSpPr txBox="1"/>
          <p:nvPr/>
        </p:nvSpPr>
        <p:spPr>
          <a:xfrm>
            <a:off x="548640" y="1783080"/>
            <a:ext cx="3474720" cy="1463040"/>
          </a:xfrm>
          <a:prstGeom prst="rect">
            <a:avLst/>
          </a:prstGeom>
          <a:noFill/>
          <a:ln/>
        </p:spPr>
        <p:txBody>
          <a:bodyPr wrap="square" lIns="0" tIns="0" rIns="0" bIns="0" rtlCol="0" anchor="t"/>
          <a:lstStyle/>
          <a:p>
            <a:pPr indent="0" marL="0">
              <a:buNone/>
            </a:pPr>
            <a:r>
              <a:rPr lang="en-US" sz="1800" dirty="0">
                <a:solidFill>
                  <a:schemeClr val="bg1"/>
                </a:solidFill>
              </a:rPr>
              <a:t>The Detection page shows what the engine runs, how well it scored, and every rule behind an alert.</a:t>
            </a:r>
            <a:endParaRPr lang="en-US" sz="1800" dirty="0"/>
          </a:p>
        </p:txBody>
      </p:sp>
      <p:sp>
        <p:nvSpPr>
          <p:cNvPr id="5" name="Live model metrics circle"/>
          <p:cNvSpPr/>
          <p:nvPr/>
        </p:nvSpPr>
        <p:spPr>
          <a:xfrm>
            <a:off x="548640" y="3429000"/>
            <a:ext cx="457200" cy="457200"/>
          </a:xfrm>
          <a:prstGeom prst="ellipse">
            <a:avLst/>
          </a:prstGeom>
          <a:solidFill>
            <a:srgbClr val="0E7490"/>
          </a:solidFill>
          <a:ln w="12700">
            <a:solidFill>
              <a:srgbClr val="0E7490"/>
            </a:solidFill>
            <a:prstDash val="solid"/>
          </a:ln>
        </p:spPr>
      </p:sp>
      <p:pic>
        <p:nvPicPr>
          <p:cNvPr id="6" name="Live model metrics icon" descr="preencoded.png">    </p:cNvPr>
          <p:cNvPicPr>
            <a:picLocks noChangeAspect="1"/>
          </p:cNvPicPr>
          <p:nvPr/>
        </p:nvPicPr>
        <p:blipFill>
          <a:blip r:embed="rId1"/>
          <a:stretch>
            <a:fillRect/>
          </a:stretch>
        </p:blipFill>
        <p:spPr>
          <a:xfrm>
            <a:off x="658368" y="3538728"/>
            <a:ext cx="237744" cy="237744"/>
          </a:xfrm>
          <a:prstGeom prst="rect">
            <a:avLst/>
          </a:prstGeom>
        </p:spPr>
      </p:pic>
      <p:sp>
        <p:nvSpPr>
          <p:cNvPr id="7" name="Text 4"/>
          <p:cNvSpPr txBox="1"/>
          <p:nvPr/>
        </p:nvSpPr>
        <p:spPr>
          <a:xfrm>
            <a:off x="1188720" y="3429000"/>
            <a:ext cx="2834640" cy="457200"/>
          </a:xfrm>
          <a:prstGeom prst="rect">
            <a:avLst/>
          </a:prstGeom>
          <a:noFill/>
          <a:ln/>
        </p:spPr>
        <p:txBody>
          <a:bodyPr wrap="square" lIns="0" tIns="0" rIns="0" bIns="0" rtlCol="0" anchor="ctr"/>
          <a:lstStyle/>
          <a:p>
            <a:pPr indent="0" marL="0">
              <a:buNone/>
            </a:pPr>
            <a:r>
              <a:rPr lang="en-US" sz="1600" dirty="0">
                <a:solidFill>
                  <a:schemeClr val="bg2"/>
                </a:solidFill>
              </a:rPr>
              <a:t>Live model metrics</a:t>
            </a:r>
            <a:endParaRPr lang="en-US" sz="1600" dirty="0"/>
          </a:p>
        </p:txBody>
      </p:sp>
      <p:sp>
        <p:nvSpPr>
          <p:cNvPr id="8" name="Rules vs model vs combined circle"/>
          <p:cNvSpPr/>
          <p:nvPr/>
        </p:nvSpPr>
        <p:spPr>
          <a:xfrm>
            <a:off x="548640" y="4160520"/>
            <a:ext cx="457200" cy="457200"/>
          </a:xfrm>
          <a:prstGeom prst="ellipse">
            <a:avLst/>
          </a:prstGeom>
          <a:solidFill>
            <a:srgbClr val="0E7490"/>
          </a:solidFill>
          <a:ln w="12700">
            <a:solidFill>
              <a:srgbClr val="0E7490"/>
            </a:solidFill>
            <a:prstDash val="solid"/>
          </a:ln>
        </p:spPr>
      </p:sp>
      <p:pic>
        <p:nvPicPr>
          <p:cNvPr id="9" name="Rules vs model vs combined icon" descr="preencoded.png">    </p:cNvPr>
          <p:cNvPicPr>
            <a:picLocks noChangeAspect="1"/>
          </p:cNvPicPr>
          <p:nvPr/>
        </p:nvPicPr>
        <p:blipFill>
          <a:blip r:embed="rId2"/>
          <a:stretch>
            <a:fillRect/>
          </a:stretch>
        </p:blipFill>
        <p:spPr>
          <a:xfrm>
            <a:off x="658368" y="4270248"/>
            <a:ext cx="237744" cy="237744"/>
          </a:xfrm>
          <a:prstGeom prst="rect">
            <a:avLst/>
          </a:prstGeom>
        </p:spPr>
      </p:pic>
      <p:sp>
        <p:nvSpPr>
          <p:cNvPr id="10" name="Text 6"/>
          <p:cNvSpPr txBox="1"/>
          <p:nvPr/>
        </p:nvSpPr>
        <p:spPr>
          <a:xfrm>
            <a:off x="1188720" y="4160520"/>
            <a:ext cx="2834640" cy="457200"/>
          </a:xfrm>
          <a:prstGeom prst="rect">
            <a:avLst/>
          </a:prstGeom>
          <a:noFill/>
          <a:ln/>
        </p:spPr>
        <p:txBody>
          <a:bodyPr wrap="square" lIns="0" tIns="0" rIns="0" bIns="0" rtlCol="0" anchor="ctr"/>
          <a:lstStyle/>
          <a:p>
            <a:pPr indent="0" marL="0">
              <a:buNone/>
            </a:pPr>
            <a:r>
              <a:rPr lang="en-US" sz="1600" dirty="0">
                <a:solidFill>
                  <a:schemeClr val="bg2"/>
                </a:solidFill>
              </a:rPr>
              <a:t>Rules vs model vs combined</a:t>
            </a:r>
            <a:endParaRPr lang="en-US" sz="1600" dirty="0"/>
          </a:p>
        </p:txBody>
      </p:sp>
      <p:sp>
        <p:nvSpPr>
          <p:cNvPr id="11" name="Every rule, severity and action circle"/>
          <p:cNvSpPr/>
          <p:nvPr/>
        </p:nvSpPr>
        <p:spPr>
          <a:xfrm>
            <a:off x="548640" y="4892040"/>
            <a:ext cx="457200" cy="457200"/>
          </a:xfrm>
          <a:prstGeom prst="ellipse">
            <a:avLst/>
          </a:prstGeom>
          <a:solidFill>
            <a:srgbClr val="0E7490"/>
          </a:solidFill>
          <a:ln w="12700">
            <a:solidFill>
              <a:srgbClr val="0E7490"/>
            </a:solidFill>
            <a:prstDash val="solid"/>
          </a:ln>
        </p:spPr>
      </p:sp>
      <p:pic>
        <p:nvPicPr>
          <p:cNvPr id="12" name="Every rule, severity and action icon" descr="preencoded.png">    </p:cNvPr>
          <p:cNvPicPr>
            <a:picLocks noChangeAspect="1"/>
          </p:cNvPicPr>
          <p:nvPr/>
        </p:nvPicPr>
        <p:blipFill>
          <a:blip r:embed="rId3"/>
          <a:stretch>
            <a:fillRect/>
          </a:stretch>
        </p:blipFill>
        <p:spPr>
          <a:xfrm>
            <a:off x="658368" y="5001768"/>
            <a:ext cx="237744" cy="237744"/>
          </a:xfrm>
          <a:prstGeom prst="rect">
            <a:avLst/>
          </a:prstGeom>
        </p:spPr>
      </p:pic>
      <p:sp>
        <p:nvSpPr>
          <p:cNvPr id="13" name="Text 8"/>
          <p:cNvSpPr txBox="1"/>
          <p:nvPr/>
        </p:nvSpPr>
        <p:spPr>
          <a:xfrm>
            <a:off x="1188720" y="4892040"/>
            <a:ext cx="2834640" cy="457200"/>
          </a:xfrm>
          <a:prstGeom prst="rect">
            <a:avLst/>
          </a:prstGeom>
          <a:noFill/>
          <a:ln/>
        </p:spPr>
        <p:txBody>
          <a:bodyPr wrap="square" lIns="0" tIns="0" rIns="0" bIns="0" rtlCol="0" anchor="ctr"/>
          <a:lstStyle/>
          <a:p>
            <a:pPr indent="0" marL="0">
              <a:buNone/>
            </a:pPr>
            <a:r>
              <a:rPr lang="en-US" sz="1600" dirty="0">
                <a:solidFill>
                  <a:schemeClr val="bg2"/>
                </a:solidFill>
              </a:rPr>
              <a:t>Every rule, severity and action</a:t>
            </a:r>
            <a:endParaRPr lang="en-US" sz="1600" dirty="0"/>
          </a:p>
        </p:txBody>
      </p:sp>
      <p:sp>
        <p:nvSpPr>
          <p:cNvPr id="14" name="Detection page screenshot frame"/>
          <p:cNvSpPr/>
          <p:nvPr/>
        </p:nvSpPr>
        <p:spPr>
          <a:xfrm>
            <a:off x="4343400" y="1645920"/>
            <a:ext cx="7315200" cy="4154805"/>
          </a:xfrm>
          <a:prstGeom prst="roundRect">
            <a:avLst>
              <a:gd name="adj" fmla="val 1761"/>
            </a:avLst>
          </a:prstGeom>
          <a:solidFill>
            <a:schemeClr val="tx2"/>
          </a:solidFill>
          <a:ln w="12700">
            <a:solidFill>
              <a:schemeClr val="tx2"/>
            </a:solidFill>
            <a:prstDash val="solid"/>
          </a:ln>
          <a:effectLst>
            <a:outerShdw sx="100000" sy="100000" kx="0" ky="0" algn="bl" rotWithShape="0" blurRad="127000" dist="38100" dir="5400000">
              <a:srgbClr val="0B1220">
                <a:alpha val="14000"/>
              </a:srgbClr>
            </a:outerShdw>
          </a:effectLst>
        </p:spPr>
      </p:sp>
      <p:pic>
        <p:nvPicPr>
          <p:cNvPr id="15" name="Detection page screenshot" descr="Detection page with model metrics, the evaluation table and the rules reference">    </p:cNvPr>
          <p:cNvPicPr>
            <a:picLocks noChangeAspect="1"/>
          </p:cNvPicPr>
          <p:nvPr/>
        </p:nvPicPr>
        <p:blipFill>
          <a:blip r:embed="rId4"/>
          <a:stretch>
            <a:fillRect/>
          </a:stretch>
        </p:blipFill>
        <p:spPr>
          <a:xfrm>
            <a:off x="4389120" y="1691640"/>
            <a:ext cx="7223760" cy="4063365"/>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ASK SENTINEL</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Answers in plain language</a:t>
            </a:r>
            <a:endParaRPr lang="en-US" sz="3200" dirty="0"/>
          </a:p>
        </p:txBody>
      </p:sp>
      <p:sp>
        <p:nvSpPr>
          <p:cNvPr id="4" name="Assistant screenshot frame"/>
          <p:cNvSpPr/>
          <p:nvPr/>
        </p:nvSpPr>
        <p:spPr>
          <a:xfrm>
            <a:off x="502920" y="1645920"/>
            <a:ext cx="7315200" cy="4154805"/>
          </a:xfrm>
          <a:prstGeom prst="roundRect">
            <a:avLst>
              <a:gd name="adj" fmla="val 1761"/>
            </a:avLst>
          </a:prstGeom>
          <a:solidFill>
            <a:schemeClr val="tx2"/>
          </a:solidFill>
          <a:ln w="12700">
            <a:solidFill>
              <a:schemeClr val="tx2"/>
            </a:solidFill>
            <a:prstDash val="solid"/>
          </a:ln>
          <a:effectLst>
            <a:outerShdw sx="100000" sy="100000" kx="0" ky="0" algn="bl" rotWithShape="0" blurRad="127000" dist="38100" dir="5400000">
              <a:srgbClr val="0B1220">
                <a:alpha val="14000"/>
              </a:srgbClr>
            </a:outerShdw>
          </a:effectLst>
        </p:spPr>
      </p:sp>
      <p:pic>
        <p:nvPicPr>
          <p:cNvPr id="5" name="Assistant screenshot" descr="Assistant page answering Summary, Latest alert and What is SQL injection">    </p:cNvPr>
          <p:cNvPicPr>
            <a:picLocks noChangeAspect="1"/>
          </p:cNvPicPr>
          <p:nvPr/>
        </p:nvPicPr>
        <p:blipFill>
          <a:blip r:embed="rId1"/>
          <a:stretch>
            <a:fillRect/>
          </a:stretch>
        </p:blipFill>
        <p:spPr>
          <a:xfrm>
            <a:off x="548640" y="1691640"/>
            <a:ext cx="7223760" cy="4063365"/>
          </a:xfrm>
          <a:prstGeom prst="rect">
            <a:avLst/>
          </a:prstGeom>
        </p:spPr>
      </p:pic>
      <p:sp>
        <p:nvSpPr>
          <p:cNvPr id="6" name="Rules first"/>
          <p:cNvSpPr/>
          <p:nvPr/>
        </p:nvSpPr>
        <p:spPr>
          <a:xfrm>
            <a:off x="8183880" y="1691640"/>
            <a:ext cx="3429000" cy="1874520"/>
          </a:xfrm>
          <a:prstGeom prst="roundRect">
            <a:avLst>
              <a:gd name="adj" fmla="val 5854"/>
            </a:avLst>
          </a:prstGeom>
          <a:solidFill>
            <a:schemeClr val="tx2">
              <a:alpha val="55000"/>
            </a:schemeClr>
          </a:solidFill>
          <a:ln w="12700">
            <a:solidFill>
              <a:schemeClr val="tx2">
                <a:alpha val="0"/>
              </a:schemeClr>
            </a:solidFill>
            <a:prstDash val="solid"/>
          </a:ln>
        </p:spPr>
      </p:sp>
      <p:sp>
        <p:nvSpPr>
          <p:cNvPr id="7" name="Text 4"/>
          <p:cNvSpPr txBox="1"/>
          <p:nvPr/>
        </p:nvSpPr>
        <p:spPr>
          <a:xfrm>
            <a:off x="8458200" y="1874520"/>
            <a:ext cx="2926080" cy="457200"/>
          </a:xfrm>
          <a:prstGeom prst="rect">
            <a:avLst/>
          </a:prstGeom>
          <a:noFill/>
          <a:ln/>
        </p:spPr>
        <p:txBody>
          <a:bodyPr wrap="square" lIns="0" tIns="0" rIns="0" bIns="0" rtlCol="0" anchor="t"/>
          <a:lstStyle/>
          <a:p>
            <a:pPr indent="0" marL="0">
              <a:buNone/>
            </a:pPr>
            <a:r>
              <a:rPr lang="en-US" sz="2200" b="1" dirty="0">
                <a:solidFill>
                  <a:schemeClr val="accent5"/>
                </a:solidFill>
                <a:latin typeface="Arial" pitchFamily="34" charset="0"/>
                <a:ea typeface="Arial" pitchFamily="34" charset="-122"/>
                <a:cs typeface="Arial" pitchFamily="34" charset="-120"/>
              </a:rPr>
              <a:t>Rules first</a:t>
            </a:r>
            <a:endParaRPr lang="en-US" sz="2200" dirty="0"/>
          </a:p>
        </p:txBody>
      </p:sp>
      <p:sp>
        <p:nvSpPr>
          <p:cNvPr id="8" name="Text 5"/>
          <p:cNvSpPr txBox="1"/>
          <p:nvPr/>
        </p:nvSpPr>
        <p:spPr>
          <a:xfrm>
            <a:off x="8458200" y="2377440"/>
            <a:ext cx="2926080" cy="1097280"/>
          </a:xfrm>
          <a:prstGeom prst="rect">
            <a:avLst/>
          </a:prstGeom>
          <a:noFill/>
          <a:ln/>
        </p:spPr>
        <p:txBody>
          <a:bodyPr wrap="square" lIns="0" tIns="0" rIns="0" bIns="0" rtlCol="0" anchor="t"/>
          <a:lstStyle/>
          <a:p>
            <a:pPr indent="0" marL="0">
              <a:buNone/>
            </a:pPr>
            <a:r>
              <a:rPr lang="en-US" sz="1500" dirty="0">
                <a:solidFill>
                  <a:schemeClr val="bg2"/>
                </a:solidFill>
              </a:rPr>
              <a:t>Summaries, the latest alert, event lookups and security FAQs come straight from the event log.</a:t>
            </a:r>
            <a:endParaRPr lang="en-US" sz="1500" dirty="0"/>
          </a:p>
        </p:txBody>
      </p:sp>
      <p:sp>
        <p:nvSpPr>
          <p:cNvPr id="9" name="AI optional"/>
          <p:cNvSpPr/>
          <p:nvPr/>
        </p:nvSpPr>
        <p:spPr>
          <a:xfrm>
            <a:off x="8183880" y="3794760"/>
            <a:ext cx="3429000" cy="1874520"/>
          </a:xfrm>
          <a:prstGeom prst="roundRect">
            <a:avLst>
              <a:gd name="adj" fmla="val 5854"/>
            </a:avLst>
          </a:prstGeom>
          <a:solidFill>
            <a:schemeClr val="tx2">
              <a:alpha val="55000"/>
            </a:schemeClr>
          </a:solidFill>
          <a:ln w="12700">
            <a:solidFill>
              <a:schemeClr val="tx2">
                <a:alpha val="0"/>
              </a:schemeClr>
            </a:solidFill>
            <a:prstDash val="solid"/>
          </a:ln>
        </p:spPr>
      </p:sp>
      <p:sp>
        <p:nvSpPr>
          <p:cNvPr id="10" name="Text 7"/>
          <p:cNvSpPr txBox="1"/>
          <p:nvPr/>
        </p:nvSpPr>
        <p:spPr>
          <a:xfrm>
            <a:off x="8458200" y="3977640"/>
            <a:ext cx="2926080" cy="457200"/>
          </a:xfrm>
          <a:prstGeom prst="rect">
            <a:avLst/>
          </a:prstGeom>
          <a:noFill/>
          <a:ln/>
        </p:spPr>
        <p:txBody>
          <a:bodyPr wrap="square" lIns="0" tIns="0" rIns="0" bIns="0" rtlCol="0" anchor="t"/>
          <a:lstStyle/>
          <a:p>
            <a:pPr indent="0" marL="0">
              <a:buNone/>
            </a:pPr>
            <a:r>
              <a:rPr lang="en-US" sz="2200" b="1" dirty="0">
                <a:solidFill>
                  <a:schemeClr val="accent5"/>
                </a:solidFill>
                <a:latin typeface="Arial" pitchFamily="34" charset="0"/>
                <a:ea typeface="Arial" pitchFamily="34" charset="-122"/>
                <a:cs typeface="Arial" pitchFamily="34" charset="-120"/>
              </a:rPr>
              <a:t>AI optional</a:t>
            </a:r>
            <a:endParaRPr lang="en-US" sz="2200" dirty="0"/>
          </a:p>
        </p:txBody>
      </p:sp>
      <p:sp>
        <p:nvSpPr>
          <p:cNvPr id="11" name="Text 8"/>
          <p:cNvSpPr txBox="1"/>
          <p:nvPr/>
        </p:nvSpPr>
        <p:spPr>
          <a:xfrm>
            <a:off x="8458200" y="4480560"/>
            <a:ext cx="2926080" cy="1097280"/>
          </a:xfrm>
          <a:prstGeom prst="rect">
            <a:avLst/>
          </a:prstGeom>
          <a:noFill/>
          <a:ln/>
        </p:spPr>
        <p:txBody>
          <a:bodyPr wrap="square" lIns="0" tIns="0" rIns="0" bIns="0" rtlCol="0" anchor="t"/>
          <a:lstStyle/>
          <a:p>
            <a:pPr indent="0" marL="0">
              <a:buNone/>
            </a:pPr>
            <a:r>
              <a:rPr lang="en-US" sz="1500" dirty="0">
                <a:solidFill>
                  <a:schemeClr val="bg2"/>
                </a:solidFill>
              </a:rPr>
              <a:t>A free AI model answers only when no rule matches, and it sees summary numbers only.</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DESIGN</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Built for the night shift and the day shift</a:t>
            </a:r>
            <a:endParaRPr lang="en-US" sz="3200" dirty="0"/>
          </a:p>
        </p:txBody>
      </p:sp>
      <p:sp>
        <p:nvSpPr>
          <p:cNvPr id="4" name="Dark theme screenshot frame"/>
          <p:cNvSpPr/>
          <p:nvPr/>
        </p:nvSpPr>
        <p:spPr>
          <a:xfrm>
            <a:off x="502920" y="1737360"/>
            <a:ext cx="5486400" cy="3126105"/>
          </a:xfrm>
          <a:prstGeom prst="roundRect">
            <a:avLst>
              <a:gd name="adj" fmla="val 2340"/>
            </a:avLst>
          </a:prstGeom>
          <a:solidFill>
            <a:schemeClr val="bg2"/>
          </a:solidFill>
          <a:ln w="12700">
            <a:solidFill>
              <a:schemeClr val="bg2"/>
            </a:solidFill>
            <a:prstDash val="solid"/>
          </a:ln>
          <a:effectLst>
            <a:outerShdw sx="100000" sy="100000" kx="0" ky="0" algn="bl" rotWithShape="0" blurRad="127000" dist="38100" dir="5400000">
              <a:srgbClr val="0B1220">
                <a:alpha val="14000"/>
              </a:srgbClr>
            </a:outerShdw>
          </a:effectLst>
        </p:spPr>
      </p:sp>
      <p:pic>
        <p:nvPicPr>
          <p:cNvPr id="5" name="Dark theme screenshot" descr="Overview page in the dark theme">    </p:cNvPr>
          <p:cNvPicPr>
            <a:picLocks noChangeAspect="1"/>
          </p:cNvPicPr>
          <p:nvPr/>
        </p:nvPicPr>
        <p:blipFill>
          <a:blip r:embed="rId1"/>
          <a:stretch>
            <a:fillRect/>
          </a:stretch>
        </p:blipFill>
        <p:spPr>
          <a:xfrm>
            <a:off x="548640" y="1783080"/>
            <a:ext cx="5394960" cy="3034665"/>
          </a:xfrm>
          <a:prstGeom prst="rect">
            <a:avLst/>
          </a:prstGeom>
        </p:spPr>
      </p:pic>
      <p:sp>
        <p:nvSpPr>
          <p:cNvPr id="6" name="Light theme screenshot frame"/>
          <p:cNvSpPr/>
          <p:nvPr/>
        </p:nvSpPr>
        <p:spPr>
          <a:xfrm>
            <a:off x="6199632" y="1737360"/>
            <a:ext cx="5486400" cy="3126105"/>
          </a:xfrm>
          <a:prstGeom prst="roundRect">
            <a:avLst>
              <a:gd name="adj" fmla="val 2340"/>
            </a:avLst>
          </a:prstGeom>
          <a:solidFill>
            <a:schemeClr val="bg2"/>
          </a:solidFill>
          <a:ln w="12700">
            <a:solidFill>
              <a:schemeClr val="bg2"/>
            </a:solidFill>
            <a:prstDash val="solid"/>
          </a:ln>
          <a:effectLst>
            <a:outerShdw sx="100000" sy="100000" kx="0" ky="0" algn="bl" rotWithShape="0" blurRad="127000" dist="38100" dir="5400000">
              <a:srgbClr val="0B1220">
                <a:alpha val="14000"/>
              </a:srgbClr>
            </a:outerShdw>
          </a:effectLst>
        </p:spPr>
      </p:sp>
      <p:pic>
        <p:nvPicPr>
          <p:cNvPr id="7" name="Light theme screenshot" descr="Overview page in the light theme">    </p:cNvPr>
          <p:cNvPicPr>
            <a:picLocks noChangeAspect="1"/>
          </p:cNvPicPr>
          <p:nvPr/>
        </p:nvPicPr>
        <p:blipFill>
          <a:blip r:embed="rId2"/>
          <a:stretch>
            <a:fillRect/>
          </a:stretch>
        </p:blipFill>
        <p:spPr>
          <a:xfrm>
            <a:off x="6245352" y="1783080"/>
            <a:ext cx="5394960" cy="3034665"/>
          </a:xfrm>
          <a:prstGeom prst="rect">
            <a:avLst/>
          </a:prstGeom>
        </p:spPr>
      </p:pic>
      <p:sp>
        <p:nvSpPr>
          <p:cNvPr id="8" name="Text 4"/>
          <p:cNvSpPr txBox="1"/>
          <p:nvPr/>
        </p:nvSpPr>
        <p:spPr>
          <a:xfrm>
            <a:off x="548640" y="5000625"/>
            <a:ext cx="5394960" cy="411480"/>
          </a:xfrm>
          <a:prstGeom prst="rect">
            <a:avLst/>
          </a:prstGeom>
          <a:noFill/>
          <a:ln/>
        </p:spPr>
        <p:txBody>
          <a:bodyPr wrap="square" lIns="0" tIns="0" rIns="0" bIns="0" rtlCol="0" anchor="t"/>
          <a:lstStyle/>
          <a:p>
            <a:pPr indent="0" marL="0">
              <a:buNone/>
            </a:pPr>
            <a:r>
              <a:rPr lang="en-US" sz="1800" b="1" dirty="0">
                <a:solidFill>
                  <a:schemeClr val="tx1"/>
                </a:solidFill>
              </a:rPr>
              <a:t>Dark theme</a:t>
            </a:r>
            <a:pPr indent="0" marL="0">
              <a:buNone/>
            </a:pPr>
            <a:r>
              <a:rPr lang="en-US" sz="1800" dirty="0">
                <a:solidFill>
                  <a:schemeClr val="tx2"/>
                </a:solidFill>
              </a:rPr>
              <a:t>  ·  default</a:t>
            </a:r>
            <a:endParaRPr lang="en-US" sz="1800" dirty="0"/>
          </a:p>
        </p:txBody>
      </p:sp>
      <p:sp>
        <p:nvSpPr>
          <p:cNvPr id="9" name="Text 5"/>
          <p:cNvSpPr txBox="1"/>
          <p:nvPr/>
        </p:nvSpPr>
        <p:spPr>
          <a:xfrm>
            <a:off x="6245352" y="5000625"/>
            <a:ext cx="5394960" cy="411480"/>
          </a:xfrm>
          <a:prstGeom prst="rect">
            <a:avLst/>
          </a:prstGeom>
          <a:noFill/>
          <a:ln/>
        </p:spPr>
        <p:txBody>
          <a:bodyPr wrap="square" lIns="0" tIns="0" rIns="0" bIns="0" rtlCol="0" anchor="t"/>
          <a:lstStyle/>
          <a:p>
            <a:pPr indent="0" marL="0">
              <a:buNone/>
            </a:pPr>
            <a:r>
              <a:rPr lang="en-US" sz="1800" b="1" dirty="0">
                <a:solidFill>
                  <a:schemeClr val="tx1"/>
                </a:solidFill>
              </a:rPr>
              <a:t>Light theme</a:t>
            </a:r>
            <a:pPr indent="0" marL="0">
              <a:buNone/>
            </a:pPr>
            <a:r>
              <a:rPr lang="en-US" sz="1800" dirty="0">
                <a:solidFill>
                  <a:schemeClr val="tx2"/>
                </a:solidFill>
              </a:rPr>
              <a:t>  ·  remembered per browser</a:t>
            </a:r>
            <a:endParaRPr lang="en-US" sz="1800" dirty="0"/>
          </a:p>
        </p:txBody>
      </p:sp>
      <p:sp>
        <p:nvSpPr>
          <p:cNvPr id="10" name="Text 6"/>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500" dirty="0">
                <a:solidFill>
                  <a:schemeClr val="tx2"/>
                </a:solidFill>
              </a:rPr>
              <a:t>Frosted-glass panels, one accent colour, severity colours always paired with a text label. Keyboard accessible and responsive down to phone width.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SAFE BY DESIGN</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The monitor must not become the weak spot</a:t>
            </a:r>
            <a:endParaRPr lang="en-US" sz="3200" dirty="0"/>
          </a:p>
        </p:txBody>
      </p:sp>
      <p:sp>
        <p:nvSpPr>
          <p:cNvPr id="4" name="Safety 1"/>
          <p:cNvSpPr/>
          <p:nvPr/>
        </p:nvSpPr>
        <p:spPr>
          <a:xfrm>
            <a:off x="548640" y="1737360"/>
            <a:ext cx="3529584" cy="1783080"/>
          </a:xfrm>
          <a:prstGeom prst="roundRect">
            <a:avLst>
              <a:gd name="adj" fmla="val 6154"/>
            </a:avLst>
          </a:prstGeom>
          <a:solidFill>
            <a:schemeClr val="bg2"/>
          </a:solidFill>
          <a:ln w="12700">
            <a:solidFill>
              <a:schemeClr val="bg2">
                <a:alpha val="0"/>
              </a:schemeClr>
            </a:solidFill>
            <a:prstDash val="solid"/>
          </a:ln>
        </p:spPr>
      </p:sp>
      <p:sp>
        <p:nvSpPr>
          <p:cNvPr id="5" name="Safety 1 circle"/>
          <p:cNvSpPr/>
          <p:nvPr/>
        </p:nvSpPr>
        <p:spPr>
          <a:xfrm>
            <a:off x="822960" y="2057400"/>
            <a:ext cx="548640" cy="548640"/>
          </a:xfrm>
          <a:prstGeom prst="ellipse">
            <a:avLst/>
          </a:prstGeom>
          <a:solidFill>
            <a:srgbClr val="0E7490"/>
          </a:solidFill>
          <a:ln w="12700">
            <a:solidFill>
              <a:srgbClr val="0E7490"/>
            </a:solidFill>
            <a:prstDash val="solid"/>
          </a:ln>
        </p:spPr>
      </p:sp>
      <p:pic>
        <p:nvPicPr>
          <p:cNvPr id="6" name="Safety 1 icon" descr="preencoded.png">    </p:cNvPr>
          <p:cNvPicPr>
            <a:picLocks noChangeAspect="1"/>
          </p:cNvPicPr>
          <p:nvPr/>
        </p:nvPicPr>
        <p:blipFill>
          <a:blip r:embed="rId1"/>
          <a:stretch>
            <a:fillRect/>
          </a:stretch>
        </p:blipFill>
        <p:spPr>
          <a:xfrm>
            <a:off x="954634" y="2189074"/>
            <a:ext cx="285293" cy="285293"/>
          </a:xfrm>
          <a:prstGeom prst="rect">
            <a:avLst/>
          </a:prstGeom>
        </p:spPr>
      </p:pic>
      <p:sp>
        <p:nvSpPr>
          <p:cNvPr id="7" name="Text 4"/>
          <p:cNvSpPr txBox="1"/>
          <p:nvPr/>
        </p:nvSpPr>
        <p:spPr>
          <a:xfrm>
            <a:off x="1554480" y="2011680"/>
            <a:ext cx="2286000" cy="1280160"/>
          </a:xfrm>
          <a:prstGeom prst="rect">
            <a:avLst/>
          </a:prstGeom>
          <a:noFill/>
          <a:ln/>
        </p:spPr>
        <p:txBody>
          <a:bodyPr wrap="square" lIns="0" tIns="0" rIns="0" bIns="0" rtlCol="0" anchor="ctr"/>
          <a:lstStyle/>
          <a:p>
            <a:pPr indent="0" marL="0">
              <a:buNone/>
            </a:pPr>
            <a:r>
              <a:rPr lang="en-US" sz="1500" dirty="0">
                <a:solidFill>
                  <a:schemeClr val="tx1"/>
                </a:solidFill>
              </a:rPr>
              <a:t>Logged text is shown with textContent, so attack strings never run</a:t>
            </a:r>
            <a:endParaRPr lang="en-US" sz="1500" dirty="0"/>
          </a:p>
        </p:txBody>
      </p:sp>
      <p:sp>
        <p:nvSpPr>
          <p:cNvPr id="8" name="Safety 2"/>
          <p:cNvSpPr/>
          <p:nvPr/>
        </p:nvSpPr>
        <p:spPr>
          <a:xfrm>
            <a:off x="4315968" y="1737360"/>
            <a:ext cx="3529584" cy="1783080"/>
          </a:xfrm>
          <a:prstGeom prst="roundRect">
            <a:avLst>
              <a:gd name="adj" fmla="val 6154"/>
            </a:avLst>
          </a:prstGeom>
          <a:solidFill>
            <a:schemeClr val="bg2"/>
          </a:solidFill>
          <a:ln w="12700">
            <a:solidFill>
              <a:schemeClr val="bg2">
                <a:alpha val="0"/>
              </a:schemeClr>
            </a:solidFill>
            <a:prstDash val="solid"/>
          </a:ln>
        </p:spPr>
      </p:sp>
      <p:sp>
        <p:nvSpPr>
          <p:cNvPr id="9" name="Safety 2 circle"/>
          <p:cNvSpPr/>
          <p:nvPr/>
        </p:nvSpPr>
        <p:spPr>
          <a:xfrm>
            <a:off x="4590288" y="2057400"/>
            <a:ext cx="548640" cy="548640"/>
          </a:xfrm>
          <a:prstGeom prst="ellipse">
            <a:avLst/>
          </a:prstGeom>
          <a:solidFill>
            <a:srgbClr val="0E7490"/>
          </a:solidFill>
          <a:ln w="12700">
            <a:solidFill>
              <a:srgbClr val="0E7490"/>
            </a:solidFill>
            <a:prstDash val="solid"/>
          </a:ln>
        </p:spPr>
      </p:sp>
      <p:pic>
        <p:nvPicPr>
          <p:cNvPr id="10" name="Safety 2 icon" descr="preencoded.png">    </p:cNvPr>
          <p:cNvPicPr>
            <a:picLocks noChangeAspect="1"/>
          </p:cNvPicPr>
          <p:nvPr/>
        </p:nvPicPr>
        <p:blipFill>
          <a:blip r:embed="rId2"/>
          <a:stretch>
            <a:fillRect/>
          </a:stretch>
        </p:blipFill>
        <p:spPr>
          <a:xfrm>
            <a:off x="4721962" y="2189074"/>
            <a:ext cx="285293" cy="285293"/>
          </a:xfrm>
          <a:prstGeom prst="rect">
            <a:avLst/>
          </a:prstGeom>
        </p:spPr>
      </p:pic>
      <p:sp>
        <p:nvSpPr>
          <p:cNvPr id="11" name="Text 7"/>
          <p:cNvSpPr txBox="1"/>
          <p:nvPr/>
        </p:nvSpPr>
        <p:spPr>
          <a:xfrm>
            <a:off x="5321808" y="2011680"/>
            <a:ext cx="2286000" cy="1280160"/>
          </a:xfrm>
          <a:prstGeom prst="rect">
            <a:avLst/>
          </a:prstGeom>
          <a:noFill/>
          <a:ln/>
        </p:spPr>
        <p:txBody>
          <a:bodyPr wrap="square" lIns="0" tIns="0" rIns="0" bIns="0" rtlCol="0" anchor="ctr"/>
          <a:lstStyle/>
          <a:p>
            <a:pPr indent="0" marL="0">
              <a:buNone/>
            </a:pPr>
            <a:r>
              <a:rPr lang="en-US" sz="1500" dirty="0">
                <a:solidFill>
                  <a:schemeClr val="tx1"/>
                </a:solidFill>
              </a:rPr>
              <a:t>Every SQL query uses ? placeholders</a:t>
            </a:r>
            <a:endParaRPr lang="en-US" sz="1500" dirty="0"/>
          </a:p>
        </p:txBody>
      </p:sp>
      <p:sp>
        <p:nvSpPr>
          <p:cNvPr id="12" name="Safety 3"/>
          <p:cNvSpPr/>
          <p:nvPr/>
        </p:nvSpPr>
        <p:spPr>
          <a:xfrm>
            <a:off x="8083296" y="1737360"/>
            <a:ext cx="3529584" cy="1783080"/>
          </a:xfrm>
          <a:prstGeom prst="roundRect">
            <a:avLst>
              <a:gd name="adj" fmla="val 6154"/>
            </a:avLst>
          </a:prstGeom>
          <a:solidFill>
            <a:schemeClr val="bg2"/>
          </a:solidFill>
          <a:ln w="12700">
            <a:solidFill>
              <a:schemeClr val="bg2">
                <a:alpha val="0"/>
              </a:schemeClr>
            </a:solidFill>
            <a:prstDash val="solid"/>
          </a:ln>
        </p:spPr>
      </p:sp>
      <p:sp>
        <p:nvSpPr>
          <p:cNvPr id="13" name="Safety 3 circle"/>
          <p:cNvSpPr/>
          <p:nvPr/>
        </p:nvSpPr>
        <p:spPr>
          <a:xfrm>
            <a:off x="8357616" y="2057400"/>
            <a:ext cx="548640" cy="548640"/>
          </a:xfrm>
          <a:prstGeom prst="ellipse">
            <a:avLst/>
          </a:prstGeom>
          <a:solidFill>
            <a:srgbClr val="0E7490"/>
          </a:solidFill>
          <a:ln w="12700">
            <a:solidFill>
              <a:srgbClr val="0E7490"/>
            </a:solidFill>
            <a:prstDash val="solid"/>
          </a:ln>
        </p:spPr>
      </p:sp>
      <p:pic>
        <p:nvPicPr>
          <p:cNvPr id="14" name="Safety 3 icon" descr="preencoded.png">    </p:cNvPr>
          <p:cNvPicPr>
            <a:picLocks noChangeAspect="1"/>
          </p:cNvPicPr>
          <p:nvPr/>
        </p:nvPicPr>
        <p:blipFill>
          <a:blip r:embed="rId3"/>
          <a:stretch>
            <a:fillRect/>
          </a:stretch>
        </p:blipFill>
        <p:spPr>
          <a:xfrm>
            <a:off x="8489290" y="2189074"/>
            <a:ext cx="285293" cy="285293"/>
          </a:xfrm>
          <a:prstGeom prst="rect">
            <a:avLst/>
          </a:prstGeom>
        </p:spPr>
      </p:pic>
      <p:sp>
        <p:nvSpPr>
          <p:cNvPr id="15" name="Text 10"/>
          <p:cNvSpPr txBox="1"/>
          <p:nvPr/>
        </p:nvSpPr>
        <p:spPr>
          <a:xfrm>
            <a:off x="9089136" y="2011680"/>
            <a:ext cx="2286000" cy="1280160"/>
          </a:xfrm>
          <a:prstGeom prst="rect">
            <a:avLst/>
          </a:prstGeom>
          <a:noFill/>
          <a:ln/>
        </p:spPr>
        <p:txBody>
          <a:bodyPr wrap="square" lIns="0" tIns="0" rIns="0" bIns="0" rtlCol="0" anchor="ctr"/>
          <a:lstStyle/>
          <a:p>
            <a:pPr indent="0" marL="0">
              <a:buNone/>
            </a:pPr>
            <a:r>
              <a:rPr lang="en-US" sz="1500" dirty="0">
                <a:solidFill>
                  <a:schemeClr val="tx1"/>
                </a:solidFill>
              </a:rPr>
              <a:t>Passwords, tokens and sessions are never scanned or stored</a:t>
            </a:r>
            <a:endParaRPr lang="en-US" sz="1500" dirty="0"/>
          </a:p>
        </p:txBody>
      </p:sp>
      <p:sp>
        <p:nvSpPr>
          <p:cNvPr id="16" name="Safety 4"/>
          <p:cNvSpPr/>
          <p:nvPr/>
        </p:nvSpPr>
        <p:spPr>
          <a:xfrm>
            <a:off x="548640" y="3749040"/>
            <a:ext cx="3529584" cy="1783080"/>
          </a:xfrm>
          <a:prstGeom prst="roundRect">
            <a:avLst>
              <a:gd name="adj" fmla="val 6154"/>
            </a:avLst>
          </a:prstGeom>
          <a:solidFill>
            <a:schemeClr val="bg2"/>
          </a:solidFill>
          <a:ln w="12700">
            <a:solidFill>
              <a:schemeClr val="bg2">
                <a:alpha val="0"/>
              </a:schemeClr>
            </a:solidFill>
            <a:prstDash val="solid"/>
          </a:ln>
        </p:spPr>
      </p:sp>
      <p:sp>
        <p:nvSpPr>
          <p:cNvPr id="17" name="Safety 4 circle"/>
          <p:cNvSpPr/>
          <p:nvPr/>
        </p:nvSpPr>
        <p:spPr>
          <a:xfrm>
            <a:off x="822960" y="4069080"/>
            <a:ext cx="548640" cy="548640"/>
          </a:xfrm>
          <a:prstGeom prst="ellipse">
            <a:avLst/>
          </a:prstGeom>
          <a:solidFill>
            <a:srgbClr val="B45309"/>
          </a:solidFill>
          <a:ln w="12700">
            <a:solidFill>
              <a:srgbClr val="B45309"/>
            </a:solidFill>
            <a:prstDash val="solid"/>
          </a:ln>
        </p:spPr>
      </p:sp>
      <p:pic>
        <p:nvPicPr>
          <p:cNvPr id="18" name="Safety 4 icon" descr="preencoded.png">    </p:cNvPr>
          <p:cNvPicPr>
            <a:picLocks noChangeAspect="1"/>
          </p:cNvPicPr>
          <p:nvPr/>
        </p:nvPicPr>
        <p:blipFill>
          <a:blip r:embed="rId4"/>
          <a:stretch>
            <a:fillRect/>
          </a:stretch>
        </p:blipFill>
        <p:spPr>
          <a:xfrm>
            <a:off x="954634" y="4200754"/>
            <a:ext cx="285293" cy="285293"/>
          </a:xfrm>
          <a:prstGeom prst="rect">
            <a:avLst/>
          </a:prstGeom>
        </p:spPr>
      </p:pic>
      <p:sp>
        <p:nvSpPr>
          <p:cNvPr id="19" name="Text 13"/>
          <p:cNvSpPr txBox="1"/>
          <p:nvPr/>
        </p:nvSpPr>
        <p:spPr>
          <a:xfrm>
            <a:off x="1554480" y="4023360"/>
            <a:ext cx="2286000" cy="1280160"/>
          </a:xfrm>
          <a:prstGeom prst="rect">
            <a:avLst/>
          </a:prstGeom>
          <a:noFill/>
          <a:ln/>
        </p:spPr>
        <p:txBody>
          <a:bodyPr wrap="square" lIns="0" tIns="0" rIns="0" bIns="0" rtlCol="0" anchor="ctr"/>
          <a:lstStyle/>
          <a:p>
            <a:pPr indent="0" marL="0">
              <a:buNone/>
            </a:pPr>
            <a:r>
              <a:rPr lang="en-US" sz="1500" dirty="0">
                <a:solidFill>
                  <a:schemeClr val="tx1"/>
                </a:solidFill>
              </a:rPr>
              <a:t>Model-only hits are flagged for a human, never auto-blocked</a:t>
            </a:r>
            <a:endParaRPr lang="en-US" sz="1500" dirty="0"/>
          </a:p>
        </p:txBody>
      </p:sp>
      <p:sp>
        <p:nvSpPr>
          <p:cNvPr id="20" name="Safety 5"/>
          <p:cNvSpPr/>
          <p:nvPr/>
        </p:nvSpPr>
        <p:spPr>
          <a:xfrm>
            <a:off x="4315968" y="3749040"/>
            <a:ext cx="3529584" cy="1783080"/>
          </a:xfrm>
          <a:prstGeom prst="roundRect">
            <a:avLst>
              <a:gd name="adj" fmla="val 6154"/>
            </a:avLst>
          </a:prstGeom>
          <a:solidFill>
            <a:schemeClr val="bg2"/>
          </a:solidFill>
          <a:ln w="12700">
            <a:solidFill>
              <a:schemeClr val="bg2">
                <a:alpha val="0"/>
              </a:schemeClr>
            </a:solidFill>
            <a:prstDash val="solid"/>
          </a:ln>
        </p:spPr>
      </p:sp>
      <p:sp>
        <p:nvSpPr>
          <p:cNvPr id="21" name="Safety 5 circle"/>
          <p:cNvSpPr/>
          <p:nvPr/>
        </p:nvSpPr>
        <p:spPr>
          <a:xfrm>
            <a:off x="4590288" y="4069080"/>
            <a:ext cx="548640" cy="548640"/>
          </a:xfrm>
          <a:prstGeom prst="ellipse">
            <a:avLst/>
          </a:prstGeom>
          <a:solidFill>
            <a:srgbClr val="0E7490"/>
          </a:solidFill>
          <a:ln w="12700">
            <a:solidFill>
              <a:srgbClr val="0E7490"/>
            </a:solidFill>
            <a:prstDash val="solid"/>
          </a:ln>
        </p:spPr>
      </p:sp>
      <p:pic>
        <p:nvPicPr>
          <p:cNvPr id="22" name="Safety 5 icon" descr="preencoded.png">    </p:cNvPr>
          <p:cNvPicPr>
            <a:picLocks noChangeAspect="1"/>
          </p:cNvPicPr>
          <p:nvPr/>
        </p:nvPicPr>
        <p:blipFill>
          <a:blip r:embed="rId5"/>
          <a:stretch>
            <a:fillRect/>
          </a:stretch>
        </p:blipFill>
        <p:spPr>
          <a:xfrm>
            <a:off x="4721962" y="4200754"/>
            <a:ext cx="285293" cy="285293"/>
          </a:xfrm>
          <a:prstGeom prst="rect">
            <a:avLst/>
          </a:prstGeom>
        </p:spPr>
      </p:pic>
      <p:sp>
        <p:nvSpPr>
          <p:cNvPr id="23" name="Text 16"/>
          <p:cNvSpPr txBox="1"/>
          <p:nvPr/>
        </p:nvSpPr>
        <p:spPr>
          <a:xfrm>
            <a:off x="5321808" y="4023360"/>
            <a:ext cx="2286000" cy="1280160"/>
          </a:xfrm>
          <a:prstGeom prst="rect">
            <a:avLst/>
          </a:prstGeom>
          <a:noFill/>
          <a:ln/>
        </p:spPr>
        <p:txBody>
          <a:bodyPr wrap="square" lIns="0" tIns="0" rIns="0" bIns="0" rtlCol="0" anchor="ctr"/>
          <a:lstStyle/>
          <a:p>
            <a:pPr indent="0" marL="0">
              <a:buNone/>
            </a:pPr>
            <a:r>
              <a:rPr lang="en-US" sz="1500" dirty="0">
                <a:solidFill>
                  <a:schemeClr val="tx1"/>
                </a:solidFill>
              </a:rPr>
              <a:t>The AI fallback sees summary numbers only, never IPs or logs</a:t>
            </a:r>
            <a:endParaRPr lang="en-US" sz="1500" dirty="0"/>
          </a:p>
        </p:txBody>
      </p:sp>
      <p:sp>
        <p:nvSpPr>
          <p:cNvPr id="24" name="Safety 6"/>
          <p:cNvSpPr/>
          <p:nvPr/>
        </p:nvSpPr>
        <p:spPr>
          <a:xfrm>
            <a:off x="8083296" y="3749040"/>
            <a:ext cx="3529584" cy="1783080"/>
          </a:xfrm>
          <a:prstGeom prst="roundRect">
            <a:avLst>
              <a:gd name="adj" fmla="val 6154"/>
            </a:avLst>
          </a:prstGeom>
          <a:solidFill>
            <a:schemeClr val="bg2"/>
          </a:solidFill>
          <a:ln w="12700">
            <a:solidFill>
              <a:schemeClr val="bg2">
                <a:alpha val="0"/>
              </a:schemeClr>
            </a:solidFill>
            <a:prstDash val="solid"/>
          </a:ln>
        </p:spPr>
      </p:sp>
      <p:sp>
        <p:nvSpPr>
          <p:cNvPr id="25" name="Safety 6 circle"/>
          <p:cNvSpPr/>
          <p:nvPr/>
        </p:nvSpPr>
        <p:spPr>
          <a:xfrm>
            <a:off x="8357616" y="4069080"/>
            <a:ext cx="548640" cy="548640"/>
          </a:xfrm>
          <a:prstGeom prst="ellipse">
            <a:avLst/>
          </a:prstGeom>
          <a:solidFill>
            <a:srgbClr val="0E7490"/>
          </a:solidFill>
          <a:ln w="12700">
            <a:solidFill>
              <a:srgbClr val="0E7490"/>
            </a:solidFill>
            <a:prstDash val="solid"/>
          </a:ln>
        </p:spPr>
      </p:sp>
      <p:pic>
        <p:nvPicPr>
          <p:cNvPr id="26" name="Safety 6 icon" descr="preencoded.png">    </p:cNvPr>
          <p:cNvPicPr>
            <a:picLocks noChangeAspect="1"/>
          </p:cNvPicPr>
          <p:nvPr/>
        </p:nvPicPr>
        <p:blipFill>
          <a:blip r:embed="rId6"/>
          <a:stretch>
            <a:fillRect/>
          </a:stretch>
        </p:blipFill>
        <p:spPr>
          <a:xfrm>
            <a:off x="8489290" y="4200754"/>
            <a:ext cx="285293" cy="285293"/>
          </a:xfrm>
          <a:prstGeom prst="rect">
            <a:avLst/>
          </a:prstGeom>
        </p:spPr>
      </p:pic>
      <p:sp>
        <p:nvSpPr>
          <p:cNvPr id="27" name="Text 19"/>
          <p:cNvSpPr txBox="1"/>
          <p:nvPr/>
        </p:nvSpPr>
        <p:spPr>
          <a:xfrm>
            <a:off x="9089136" y="4023360"/>
            <a:ext cx="2286000" cy="1280160"/>
          </a:xfrm>
          <a:prstGeom prst="rect">
            <a:avLst/>
          </a:prstGeom>
          <a:noFill/>
          <a:ln/>
        </p:spPr>
        <p:txBody>
          <a:bodyPr wrap="square" lIns="0" tIns="0" rIns="0" bIns="0" rtlCol="0" anchor="ctr"/>
          <a:lstStyle/>
          <a:p>
            <a:pPr indent="0" marL="0">
              <a:buNone/>
            </a:pPr>
            <a:r>
              <a:rPr lang="en-US" sz="1500" dirty="0">
                <a:solidFill>
                  <a:schemeClr val="tx1"/>
                </a:solidFill>
              </a:rPr>
              <a:t>CSV export neutralises formula-like cells from attack strings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1"/>
                </a:solidFill>
              </a:rPr>
              <a:t>LIMITS AND NEXT STEPS</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tx1"/>
                </a:solidFill>
              </a:rPr>
              <a:t>What it still misses, and what comes next</a:t>
            </a:r>
            <a:endParaRPr lang="en-US" sz="3200" dirty="0"/>
          </a:p>
        </p:txBody>
      </p:sp>
      <p:sp>
        <p:nvSpPr>
          <p:cNvPr id="4" name="Text 2"/>
          <p:cNvSpPr txBox="1"/>
          <p:nvPr/>
        </p:nvSpPr>
        <p:spPr>
          <a:xfrm>
            <a:off x="548640" y="1737360"/>
            <a:ext cx="5120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Still missed in testing</a:t>
            </a:r>
            <a:endParaRPr lang="en-US" sz="2000" dirty="0"/>
          </a:p>
        </p:txBody>
      </p:sp>
      <p:sp>
        <p:nvSpPr>
          <p:cNvPr id="5" name="Missed 1"/>
          <p:cNvSpPr/>
          <p:nvPr/>
        </p:nvSpPr>
        <p:spPr>
          <a:xfrm>
            <a:off x="548640" y="2331720"/>
            <a:ext cx="5120640" cy="685800"/>
          </a:xfrm>
          <a:prstGeom prst="roundRect">
            <a:avLst>
              <a:gd name="adj" fmla="val 16000"/>
            </a:avLst>
          </a:prstGeom>
          <a:solidFill>
            <a:schemeClr val="tx1"/>
          </a:solidFill>
          <a:ln w="12700">
            <a:solidFill>
              <a:schemeClr val="tx1">
                <a:alpha val="0"/>
              </a:schemeClr>
            </a:solidFill>
            <a:prstDash val="solid"/>
          </a:ln>
        </p:spPr>
      </p:sp>
      <p:sp>
        <p:nvSpPr>
          <p:cNvPr id="6" name="Text 4"/>
          <p:cNvSpPr txBox="1"/>
          <p:nvPr/>
        </p:nvSpPr>
        <p:spPr>
          <a:xfrm>
            <a:off x="822960" y="2331720"/>
            <a:ext cx="4663440" cy="68580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begin dbms_lock.sleep ( 5 )</a:t>
            </a:r>
            <a:endParaRPr lang="en-US" sz="1800" dirty="0"/>
          </a:p>
        </p:txBody>
      </p:sp>
      <p:sp>
        <p:nvSpPr>
          <p:cNvPr id="7" name="Missed 2"/>
          <p:cNvSpPr/>
          <p:nvPr/>
        </p:nvSpPr>
        <p:spPr>
          <a:xfrm>
            <a:off x="548640" y="3200400"/>
            <a:ext cx="5120640" cy="685800"/>
          </a:xfrm>
          <a:prstGeom prst="roundRect">
            <a:avLst>
              <a:gd name="adj" fmla="val 16000"/>
            </a:avLst>
          </a:prstGeom>
          <a:solidFill>
            <a:schemeClr val="tx1"/>
          </a:solidFill>
          <a:ln w="12700">
            <a:solidFill>
              <a:schemeClr val="tx1">
                <a:alpha val="0"/>
              </a:schemeClr>
            </a:solidFill>
            <a:prstDash val="solid"/>
          </a:ln>
        </p:spPr>
      </p:sp>
      <p:sp>
        <p:nvSpPr>
          <p:cNvPr id="8" name="Text 6"/>
          <p:cNvSpPr txBox="1"/>
          <p:nvPr/>
        </p:nvSpPr>
        <p:spPr>
          <a:xfrm>
            <a:off x="822960" y="3200400"/>
            <a:ext cx="4663440" cy="68580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hi or a = a</a:t>
            </a:r>
            <a:endParaRPr lang="en-US" sz="1800" dirty="0"/>
          </a:p>
        </p:txBody>
      </p:sp>
      <p:sp>
        <p:nvSpPr>
          <p:cNvPr id="9" name="Missed 3"/>
          <p:cNvSpPr/>
          <p:nvPr/>
        </p:nvSpPr>
        <p:spPr>
          <a:xfrm>
            <a:off x="548640" y="4069080"/>
            <a:ext cx="5120640" cy="685800"/>
          </a:xfrm>
          <a:prstGeom prst="roundRect">
            <a:avLst>
              <a:gd name="adj" fmla="val 16000"/>
            </a:avLst>
          </a:prstGeom>
          <a:solidFill>
            <a:schemeClr val="tx1"/>
          </a:solidFill>
          <a:ln w="12700">
            <a:solidFill>
              <a:schemeClr val="tx1">
                <a:alpha val="0"/>
              </a:schemeClr>
            </a:solidFill>
            <a:prstDash val="solid"/>
          </a:ln>
        </p:spPr>
      </p:sp>
      <p:sp>
        <p:nvSpPr>
          <p:cNvPr id="10" name="Text 8"/>
          <p:cNvSpPr txBox="1"/>
          <p:nvPr/>
        </p:nvSpPr>
        <p:spPr>
          <a:xfrm>
            <a:off x="822960" y="4069080"/>
            <a:ext cx="4663440" cy="68580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PRINT @@variable</a:t>
            </a:r>
            <a:endParaRPr lang="en-US" sz="1800" dirty="0"/>
          </a:p>
        </p:txBody>
      </p:sp>
      <p:sp>
        <p:nvSpPr>
          <p:cNvPr id="11" name="Text 9"/>
          <p:cNvSpPr txBox="1"/>
          <p:nvPr/>
        </p:nvSpPr>
        <p:spPr>
          <a:xfrm>
            <a:off x="548640" y="5029200"/>
            <a:ext cx="5120640" cy="457200"/>
          </a:xfrm>
          <a:prstGeom prst="rect">
            <a:avLst/>
          </a:prstGeom>
          <a:noFill/>
          <a:ln/>
        </p:spPr>
        <p:txBody>
          <a:bodyPr wrap="square" lIns="0" tIns="0" rIns="0" bIns="0" rtlCol="0" anchor="t"/>
          <a:lstStyle/>
          <a:p>
            <a:pPr indent="0" marL="0">
              <a:buNone/>
            </a:pPr>
            <a:r>
              <a:rPr lang="en-US" sz="1500" dirty="0">
                <a:solidFill>
                  <a:schemeClr val="tx2"/>
                </a:solidFill>
              </a:rPr>
              <a:t>Short or unusual payloads with little SQL syntax to learn from.</a:t>
            </a:r>
            <a:endParaRPr lang="en-US" sz="1500" dirty="0"/>
          </a:p>
        </p:txBody>
      </p:sp>
      <p:sp>
        <p:nvSpPr>
          <p:cNvPr id="12" name="Text 10"/>
          <p:cNvSpPr txBox="1"/>
          <p:nvPr/>
        </p:nvSpPr>
        <p:spPr>
          <a:xfrm>
            <a:off x="6400800" y="173736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Next steps</a:t>
            </a:r>
            <a:endParaRPr lang="en-US" sz="2000" dirty="0"/>
          </a:p>
        </p:txBody>
      </p:sp>
      <p:sp>
        <p:nvSpPr>
          <p:cNvPr id="13" name="Next 1 circle"/>
          <p:cNvSpPr/>
          <p:nvPr/>
        </p:nvSpPr>
        <p:spPr>
          <a:xfrm>
            <a:off x="6400800" y="2331720"/>
            <a:ext cx="502920" cy="502920"/>
          </a:xfrm>
          <a:prstGeom prst="ellipse">
            <a:avLst/>
          </a:prstGeom>
          <a:solidFill>
            <a:srgbClr val="0E7490"/>
          </a:solidFill>
          <a:ln w="12700">
            <a:solidFill>
              <a:srgbClr val="0E7490"/>
            </a:solidFill>
            <a:prstDash val="solid"/>
          </a:ln>
        </p:spPr>
      </p:sp>
      <p:pic>
        <p:nvPicPr>
          <p:cNvPr id="14" name="Next 1 icon" descr="preencoded.png">    </p:cNvPr>
          <p:cNvPicPr>
            <a:picLocks noChangeAspect="1"/>
          </p:cNvPicPr>
          <p:nvPr/>
        </p:nvPicPr>
        <p:blipFill>
          <a:blip r:embed="rId1"/>
          <a:stretch>
            <a:fillRect/>
          </a:stretch>
        </p:blipFill>
        <p:spPr>
          <a:xfrm>
            <a:off x="6521501" y="2452421"/>
            <a:ext cx="261518" cy="261518"/>
          </a:xfrm>
          <a:prstGeom prst="rect">
            <a:avLst/>
          </a:prstGeom>
        </p:spPr>
      </p:pic>
      <p:sp>
        <p:nvSpPr>
          <p:cNvPr id="15" name="Text 12"/>
          <p:cNvSpPr txBox="1"/>
          <p:nvPr/>
        </p:nvSpPr>
        <p:spPr>
          <a:xfrm>
            <a:off x="7086600" y="2331720"/>
            <a:ext cx="4526280" cy="502920"/>
          </a:xfrm>
          <a:prstGeom prst="rect">
            <a:avLst/>
          </a:prstGeom>
          <a:noFill/>
          <a:ln/>
        </p:spPr>
        <p:txBody>
          <a:bodyPr wrap="square" lIns="0" tIns="0" rIns="0" bIns="0" rtlCol="0" anchor="ctr"/>
          <a:lstStyle/>
          <a:p>
            <a:pPr indent="0" marL="0">
              <a:buNone/>
            </a:pPr>
            <a:r>
              <a:rPr lang="en-US" sz="1700" dirty="0">
                <a:solidFill>
                  <a:schemeClr val="tx1"/>
                </a:solidFill>
              </a:rPr>
              <a:t>Train an XSS model; XSS is rules-only today</a:t>
            </a:r>
            <a:endParaRPr lang="en-US" sz="1700" dirty="0"/>
          </a:p>
        </p:txBody>
      </p:sp>
      <p:sp>
        <p:nvSpPr>
          <p:cNvPr id="16" name="Next 2 circle"/>
          <p:cNvSpPr/>
          <p:nvPr/>
        </p:nvSpPr>
        <p:spPr>
          <a:xfrm>
            <a:off x="6400800" y="3108960"/>
            <a:ext cx="502920" cy="502920"/>
          </a:xfrm>
          <a:prstGeom prst="ellipse">
            <a:avLst/>
          </a:prstGeom>
          <a:solidFill>
            <a:srgbClr val="0E7490"/>
          </a:solidFill>
          <a:ln w="12700">
            <a:solidFill>
              <a:srgbClr val="0E7490"/>
            </a:solidFill>
            <a:prstDash val="solid"/>
          </a:ln>
        </p:spPr>
      </p:sp>
      <p:pic>
        <p:nvPicPr>
          <p:cNvPr id="17" name="Next 2 icon" descr="preencoded.png">    </p:cNvPr>
          <p:cNvPicPr>
            <a:picLocks noChangeAspect="1"/>
          </p:cNvPicPr>
          <p:nvPr/>
        </p:nvPicPr>
        <p:blipFill>
          <a:blip r:embed="rId2"/>
          <a:stretch>
            <a:fillRect/>
          </a:stretch>
        </p:blipFill>
        <p:spPr>
          <a:xfrm>
            <a:off x="6521501" y="3229661"/>
            <a:ext cx="261518" cy="261518"/>
          </a:xfrm>
          <a:prstGeom prst="rect">
            <a:avLst/>
          </a:prstGeom>
        </p:spPr>
      </p:pic>
      <p:sp>
        <p:nvSpPr>
          <p:cNvPr id="18" name="Text 14"/>
          <p:cNvSpPr txBox="1"/>
          <p:nvPr/>
        </p:nvSpPr>
        <p:spPr>
          <a:xfrm>
            <a:off x="7086600" y="3108960"/>
            <a:ext cx="4526280" cy="502920"/>
          </a:xfrm>
          <a:prstGeom prst="rect">
            <a:avLst/>
          </a:prstGeom>
          <a:noFill/>
          <a:ln/>
        </p:spPr>
        <p:txBody>
          <a:bodyPr wrap="square" lIns="0" tIns="0" rIns="0" bIns="0" rtlCol="0" anchor="ctr"/>
          <a:lstStyle/>
          <a:p>
            <a:pPr indent="0" marL="0">
              <a:buNone/>
            </a:pPr>
            <a:r>
              <a:rPr lang="en-US" sz="1700" dirty="0">
                <a:solidFill>
                  <a:schemeClr val="tx1"/>
                </a:solidFill>
              </a:rPr>
              <a:t>Tune rules that flag benign SQL-like text</a:t>
            </a:r>
            <a:endParaRPr lang="en-US" sz="1700" dirty="0"/>
          </a:p>
        </p:txBody>
      </p:sp>
      <p:sp>
        <p:nvSpPr>
          <p:cNvPr id="19" name="Next 3 circle"/>
          <p:cNvSpPr/>
          <p:nvPr/>
        </p:nvSpPr>
        <p:spPr>
          <a:xfrm>
            <a:off x="6400800" y="3886200"/>
            <a:ext cx="502920" cy="502920"/>
          </a:xfrm>
          <a:prstGeom prst="ellipse">
            <a:avLst/>
          </a:prstGeom>
          <a:solidFill>
            <a:srgbClr val="0E7490"/>
          </a:solidFill>
          <a:ln w="12700">
            <a:solidFill>
              <a:srgbClr val="0E7490"/>
            </a:solidFill>
            <a:prstDash val="solid"/>
          </a:ln>
        </p:spPr>
      </p:sp>
      <p:pic>
        <p:nvPicPr>
          <p:cNvPr id="20" name="Next 3 icon" descr="preencoded.png">    </p:cNvPr>
          <p:cNvPicPr>
            <a:picLocks noChangeAspect="1"/>
          </p:cNvPicPr>
          <p:nvPr/>
        </p:nvPicPr>
        <p:blipFill>
          <a:blip r:embed="rId3"/>
          <a:stretch>
            <a:fillRect/>
          </a:stretch>
        </p:blipFill>
        <p:spPr>
          <a:xfrm>
            <a:off x="6521501" y="4006901"/>
            <a:ext cx="261518" cy="261518"/>
          </a:xfrm>
          <a:prstGeom prst="rect">
            <a:avLst/>
          </a:prstGeom>
        </p:spPr>
      </p:pic>
      <p:sp>
        <p:nvSpPr>
          <p:cNvPr id="21" name="Text 16"/>
          <p:cNvSpPr txBox="1"/>
          <p:nvPr/>
        </p:nvSpPr>
        <p:spPr>
          <a:xfrm>
            <a:off x="7086600" y="3886200"/>
            <a:ext cx="4526280" cy="502920"/>
          </a:xfrm>
          <a:prstGeom prst="rect">
            <a:avLst/>
          </a:prstGeom>
          <a:noFill/>
          <a:ln/>
        </p:spPr>
        <p:txBody>
          <a:bodyPr wrap="square" lIns="0" tIns="0" rIns="0" bIns="0" rtlCol="0" anchor="ctr"/>
          <a:lstStyle/>
          <a:p>
            <a:pPr indent="0" marL="0">
              <a:buNone/>
            </a:pPr>
            <a:r>
              <a:rPr lang="en-US" sz="1700" dirty="0">
                <a:solidFill>
                  <a:schemeClr val="tx1"/>
                </a:solidFill>
              </a:rPr>
              <a:t>Keep rate-limit counters across restarts</a:t>
            </a:r>
            <a:endParaRPr lang="en-US" sz="1700" dirty="0"/>
          </a:p>
        </p:txBody>
      </p:sp>
      <p:sp>
        <p:nvSpPr>
          <p:cNvPr id="22" name="Next 4 circle"/>
          <p:cNvSpPr/>
          <p:nvPr/>
        </p:nvSpPr>
        <p:spPr>
          <a:xfrm>
            <a:off x="6400800" y="4663440"/>
            <a:ext cx="502920" cy="502920"/>
          </a:xfrm>
          <a:prstGeom prst="ellipse">
            <a:avLst/>
          </a:prstGeom>
          <a:solidFill>
            <a:srgbClr val="0E7490"/>
          </a:solidFill>
          <a:ln w="12700">
            <a:solidFill>
              <a:srgbClr val="0E7490"/>
            </a:solidFill>
            <a:prstDash val="solid"/>
          </a:ln>
        </p:spPr>
      </p:sp>
      <p:pic>
        <p:nvPicPr>
          <p:cNvPr id="23" name="Next 4 icon" descr="preencoded.png">    </p:cNvPr>
          <p:cNvPicPr>
            <a:picLocks noChangeAspect="1"/>
          </p:cNvPicPr>
          <p:nvPr/>
        </p:nvPicPr>
        <p:blipFill>
          <a:blip r:embed="rId4"/>
          <a:stretch>
            <a:fillRect/>
          </a:stretch>
        </p:blipFill>
        <p:spPr>
          <a:xfrm>
            <a:off x="6521501" y="4784141"/>
            <a:ext cx="261518" cy="261518"/>
          </a:xfrm>
          <a:prstGeom prst="rect">
            <a:avLst/>
          </a:prstGeom>
        </p:spPr>
      </p:pic>
      <p:sp>
        <p:nvSpPr>
          <p:cNvPr id="24" name="Text 18"/>
          <p:cNvSpPr txBox="1"/>
          <p:nvPr/>
        </p:nvSpPr>
        <p:spPr>
          <a:xfrm>
            <a:off x="7086600" y="4663440"/>
            <a:ext cx="4526280" cy="502920"/>
          </a:xfrm>
          <a:prstGeom prst="rect">
            <a:avLst/>
          </a:prstGeom>
          <a:noFill/>
          <a:ln/>
        </p:spPr>
        <p:txBody>
          <a:bodyPr wrap="square" lIns="0" tIns="0" rIns="0" bIns="0" rtlCol="0" anchor="ctr"/>
          <a:lstStyle/>
          <a:p>
            <a:pPr indent="0" marL="0">
              <a:buNone/>
            </a:pPr>
            <a:r>
              <a:rPr lang="en-US" sz="1700" dirty="0">
                <a:solidFill>
                  <a:schemeClr val="tx1"/>
                </a:solidFill>
              </a:rPr>
              <a:t>Test on real, non-repeating traffic</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300" b="1" spc="300" kern="0" dirty="0">
                <a:solidFill>
                  <a:schemeClr val="accent5"/>
                </a:solidFill>
              </a:rPr>
              <a:t>TRY IT</a:t>
            </a:r>
            <a:endParaRPr lang="en-US" sz="1300" dirty="0"/>
          </a:p>
        </p:txBody>
      </p:sp>
      <p:sp>
        <p:nvSpPr>
          <p:cNvPr id="3" name="Text 1"/>
          <p:cNvSpPr/>
          <p:nvPr>
            <p:ph idx="102" type="title" hasCustomPrompt="1"/>
          </p:nvPr>
        </p:nvSpPr>
        <p:spPr>
          <a:xfrm>
            <a:off x="548640" y="685800"/>
            <a:ext cx="11064240" cy="685800"/>
          </a:xfrm>
          <a:prstGeom prst="rect">
            <a:avLst/>
          </a:prstGeom>
          <a:noFill/>
          <a:ln/>
        </p:spPr>
        <p:txBody>
          <a:bodyPr wrap="square" lIns="0" tIns="0" rIns="0" bIns="0" rtlCol="0" anchor="ctr"/>
          <a:lstStyle/>
          <a:p>
            <a:pPr indent="0" marL="0">
              <a:buNone/>
            </a:pPr>
            <a:r>
              <a:rPr lang="en-US" sz="3200" b="1" dirty="0">
                <a:solidFill>
                  <a:schemeClr val="bg1"/>
                </a:solidFill>
              </a:rPr>
              <a:t>Run the demo locally</a:t>
            </a:r>
            <a:endParaRPr lang="en-US" sz="3200" dirty="0"/>
          </a:p>
        </p:txBody>
      </p:sp>
      <p:sp>
        <p:nvSpPr>
          <p:cNvPr id="4" name="Command block"/>
          <p:cNvSpPr/>
          <p:nvPr/>
        </p:nvSpPr>
        <p:spPr>
          <a:xfrm>
            <a:off x="548640" y="1783080"/>
            <a:ext cx="6949440" cy="3108960"/>
          </a:xfrm>
          <a:prstGeom prst="roundRect">
            <a:avLst>
              <a:gd name="adj" fmla="val 3529"/>
            </a:avLst>
          </a:prstGeom>
          <a:solidFill>
            <a:schemeClr val="tx2">
              <a:alpha val="55000"/>
            </a:schemeClr>
          </a:solidFill>
          <a:ln w="12700">
            <a:solidFill>
              <a:schemeClr val="tx2">
                <a:alpha val="0"/>
              </a:schemeClr>
            </a:solidFill>
            <a:prstDash val="solid"/>
          </a:ln>
        </p:spPr>
      </p:sp>
      <p:sp>
        <p:nvSpPr>
          <p:cNvPr id="5" name="Text 3"/>
          <p:cNvSpPr txBox="1"/>
          <p:nvPr/>
        </p:nvSpPr>
        <p:spPr>
          <a:xfrm>
            <a:off x="868680" y="2057400"/>
            <a:ext cx="6400800" cy="2560320"/>
          </a:xfrm>
          <a:prstGeom prst="rect">
            <a:avLst/>
          </a:prstGeom>
          <a:noFill/>
          <a:ln/>
        </p:spPr>
        <p:txBody>
          <a:bodyPr wrap="square" lIns="0" tIns="0" rIns="0" bIns="0" rtlCol="0" anchor="ctr"/>
          <a:lstStyle/>
          <a:p>
            <a:pPr indent="0" marL="0">
              <a:spcAft>
                <a:spcPts val="1400"/>
              </a:spcAft>
              <a:buNone/>
            </a:pPr>
            <a:r>
              <a:rPr lang="en-US" sz="1600" dirty="0">
                <a:solidFill>
                  <a:schemeClr val="bg1"/>
                </a:solidFill>
                <a:latin typeface="Courier New" pitchFamily="34" charset="0"/>
                <a:ea typeface="Courier New" pitchFamily="34" charset="-122"/>
                <a:cs typeface="Courier New" pitchFamily="34" charset="-120"/>
              </a:rPr>
              <a:t>$ pip install -r requirements.txt</a:t>
            </a:r>
            <a:endParaRPr lang="en-US" sz="1600" dirty="0"/>
          </a:p>
          <a:p>
            <a:pPr indent="0" marL="0">
              <a:spcAft>
                <a:spcPts val="1400"/>
              </a:spcAft>
              <a:buNone/>
            </a:pPr>
            <a:r>
              <a:rPr lang="en-US" sz="1600" dirty="0">
                <a:solidFill>
                  <a:schemeClr val="bg1"/>
                </a:solidFill>
                <a:latin typeface="Courier New" pitchFamily="34" charset="0"/>
                <a:ea typeface="Courier New" pitchFamily="34" charset="-122"/>
                <a:cs typeface="Courier New" pitchFamily="34" charset="-120"/>
              </a:rPr>
              <a:t>$ python3 train_model.py</a:t>
            </a:r>
            <a:endParaRPr lang="en-US" sz="1600" dirty="0"/>
          </a:p>
          <a:p>
            <a:pPr indent="0" marL="0">
              <a:spcAft>
                <a:spcPts val="1400"/>
              </a:spcAft>
              <a:buNone/>
            </a:pPr>
            <a:r>
              <a:rPr lang="en-US" sz="1600" dirty="0">
                <a:solidFill>
                  <a:schemeClr val="bg1"/>
                </a:solidFill>
                <a:latin typeface="Courier New" pitchFamily="34" charset="0"/>
                <a:ea typeface="Courier New" pitchFamily="34" charset="-122"/>
                <a:cs typeface="Courier New" pitchFamily="34" charset="-120"/>
              </a:rPr>
              <a:t>$ uvicorn main:app --host 0.0.0.0 --port 8000</a:t>
            </a:r>
            <a:endParaRPr lang="en-US" sz="1600" dirty="0"/>
          </a:p>
          <a:p>
            <a:pPr indent="0" marL="0">
              <a:spcAft>
                <a:spcPts val="1400"/>
              </a:spcAft>
              <a:buNone/>
            </a:pPr>
            <a:r>
              <a:rPr lang="en-US" sz="1600" dirty="0">
                <a:solidFill>
                  <a:schemeClr val="accent5"/>
                </a:solidFill>
                <a:latin typeface="Courier New" pitchFamily="34" charset="0"/>
                <a:ea typeface="Courier New" pitchFamily="34" charset="-122"/>
                <a:cs typeface="Courier New" pitchFamily="34" charset="-120"/>
              </a:rPr>
              <a:t>$ python3 simulate.py</a:t>
            </a:r>
            <a:endParaRPr lang="en-US" sz="1600" dirty="0"/>
          </a:p>
        </p:txBody>
      </p:sp>
      <p:sp>
        <p:nvSpPr>
          <p:cNvPr id="6" name="Text 4"/>
          <p:cNvSpPr txBox="1"/>
          <p:nvPr/>
        </p:nvSpPr>
        <p:spPr>
          <a:xfrm>
            <a:off x="7863840" y="2103120"/>
            <a:ext cx="3749040" cy="1828800"/>
          </a:xfrm>
          <a:prstGeom prst="rect">
            <a:avLst/>
          </a:prstGeom>
          <a:noFill/>
          <a:ln/>
        </p:spPr>
        <p:txBody>
          <a:bodyPr wrap="square" lIns="0" tIns="0" rIns="0" bIns="0" rtlCol="0" anchor="t"/>
          <a:lstStyle/>
          <a:p>
            <a:pPr indent="0" marL="0">
              <a:buNone/>
            </a:pPr>
            <a:r>
              <a:rPr lang="en-US" sz="2000" dirty="0">
                <a:solidFill>
                  <a:schemeClr val="bg1"/>
                </a:solidFill>
              </a:rPr>
              <a:t>Open the server's address on port 8000 and watch the alerts arrive. Use it only on your own demo app.</a:t>
            </a:r>
            <a:endParaRPr lang="en-US" sz="2000" dirty="0"/>
          </a:p>
        </p:txBody>
      </p:sp>
      <p:sp>
        <p:nvSpPr>
          <p:cNvPr id="7" name="Text 5"/>
          <p:cNvSpPr txBox="1"/>
          <p:nvPr/>
        </p:nvSpPr>
        <p:spPr>
          <a:xfrm>
            <a:off x="7863840" y="4069080"/>
            <a:ext cx="3749040" cy="731520"/>
          </a:xfrm>
          <a:prstGeom prst="rect">
            <a:avLst/>
          </a:prstGeom>
          <a:noFill/>
          <a:ln/>
        </p:spPr>
        <p:txBody>
          <a:bodyPr wrap="square" lIns="0" tIns="0" rIns="0" bIns="0" rtlCol="0" anchor="t"/>
          <a:lstStyle/>
          <a:p>
            <a:pPr indent="0" marL="0">
              <a:buNone/>
            </a:pPr>
            <a:r>
              <a:rPr lang="en-US" sz="3600" b="1" dirty="0">
                <a:solidFill>
                  <a:schemeClr val="accent5"/>
                </a:solidFill>
                <a:latin typeface="Arial" pitchFamily="34" charset="0"/>
                <a:ea typeface="Arial" pitchFamily="34" charset="-122"/>
                <a:cs typeface="Arial" pitchFamily="34" charset="-120"/>
              </a:rPr>
              <a:t>Questions?</a:t>
            </a:r>
            <a:endParaRPr lang="en-US" sz="3600" dirty="0"/>
          </a:p>
        </p:txBody>
      </p:sp>
      <p:sp>
        <p:nvSpPr>
          <p:cNvPr id="8" name="Text 6"/>
          <p:cNvSpPr txBox="1"/>
          <p:nvPr/>
        </p:nvSpPr>
        <p:spPr>
          <a:xfrm>
            <a:off x="548640" y="5532120"/>
            <a:ext cx="11064240" cy="365760"/>
          </a:xfrm>
          <a:prstGeom prst="rect">
            <a:avLst/>
          </a:prstGeom>
          <a:noFill/>
          <a:ln/>
        </p:spPr>
        <p:txBody>
          <a:bodyPr wrap="square" lIns="0" tIns="0" rIns="0" bIns="0" rtlCol="0" anchor="t"/>
          <a:lstStyle/>
          <a:p>
            <a:pPr indent="0" marL="0">
              <a:buNone/>
            </a:pPr>
            <a:r>
              <a:rPr lang="en-US" sz="1400" dirty="0">
                <a:solidFill>
                  <a:schemeClr val="bg2"/>
                </a:solidFill>
              </a:rPr>
              <a:t>Dataset: SQLiV3.csv, Kaggle · [dataset author] · [license]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entinelWeb">
  <a:themeElements>
    <a:clrScheme name="SentinelWeb">
      <a:dk1>
        <a:srgbClr val="0B1220"/>
      </a:dk1>
      <a:lt1>
        <a:srgbClr val="FFFFFF"/>
      </a:lt1>
      <a:dk2>
        <a:srgbClr val="334155"/>
      </a:dk2>
      <a:lt2>
        <a:srgbClr val="EEF2F7"/>
      </a:lt2>
      <a:accent1>
        <a:srgbClr val="0E7490"/>
      </a:accent1>
      <a:accent2>
        <a:srgbClr val="B45309"/>
      </a:accent2>
      <a:accent3>
        <a:srgbClr val="B91C1C"/>
      </a:accent3>
      <a:accent4>
        <a:srgbClr val="047857"/>
      </a:accent4>
      <a:accent5>
        <a:srgbClr val="3DE6FF"/>
      </a:accent5>
      <a:accent6>
        <a:srgbClr val="FBBF24"/>
      </a:accent6>
      <a:hlink>
        <a:srgbClr val="0E7490"/>
      </a:hlink>
      <a:folHlink>
        <a:srgbClr val="334155"/>
      </a:folHlink>
    </a:clrScheme>
    <a:fontScheme name="SentinelWe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SentinelWeb</dc:title>
  <dc:subject>PptxGenJS Presentation</dc:subject>
  <dc:creator>[Presenter name]</dc:creator>
  <cp:lastModifiedBy>[Presenter name]</cp:lastModifiedBy>
  <cp:revision>1</cp:revision>
  <dcterms:created xsi:type="dcterms:W3CDTF">2026-10-03T18:00:17Z</dcterms:created>
  <dcterms:modified xsi:type="dcterms:W3CDTF">2026-10-03T18:00:17Z</dcterms:modified>
</cp:coreProperties>
</file>