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fe82037-b4c0-4121-9f92-26ef0ca0214c}">
          <p14:sldIdLst>
            <p14:sldId id="256"/>
          </p14:sldIdLst>
        </p14:section>
        <p14:section name="Problem and solution" id="{2095be96-4eb4-dedc-14f3-7aaf05956a85}">
          <p14:sldIdLst>
            <p14:sldId id="257"/>
            <p14:sldId id="258"/>
          </p14:sldIdLst>
        </p14:section>
        <p14:section name="Detection" id="{22f99cec-db27-64e0-e749-8404036a08b8}">
          <p14:sldIdLst>
            <p14:sldId id="259"/>
          </p14:sldIdLst>
        </p14:section>
        <p14:section name="Products" id="{f4715c8e-7002-b59d-a24f-47ead710172d}">
          <p14:sldIdLst>
            <p14:sldId id="260"/>
            <p14:sldId id="261"/>
            <p14:sldId id="262"/>
          </p14:sldIdLst>
        </p14:section>
        <p14:section name="Wrap-up" id="{edb7da2e-6a3f-58a2-faeb-30fdb1736c2e}">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to 0:20. SentinelWeb is an educational prototype with two products. SentinelWeb itself sits in front of a demo web app, catches attacks and explains every alert on a live dashboard. SentinelWeb Lab is a separate app that sends safe test traffic, so anyone can see the detection working. In the next four minutes: the problem, how it works, how well it detects, and a look at both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to 0:45. These are the four threats we watch for. Red ones are input attacks, which are blocked; amber ones are behaviour-based, which are rate-limited. The real problem is not detection alone: small teams need alerts they can trust and understand, and a way to test them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to 1:20. Left to right: the Lab sends test traffic to the demo app. Every request hits SentinelWeb's middleware first, which runs four checks in order: is the client already locked, is it sending too fast, does any input look like an attack, and is someone guessing passwords. It logs an event, and the dashboard reads the same log. Inputs can be query strings, nested JSON, form or text bodies, even the URL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to 1:55. Hand-written rules are precise but narrow: alone they caught under a third of the test attacks. Adding a small text classifier lifted recall to 98.3 percent and cut missed attacks from 1,554 to 39. The design rule: only rule matches are blocked; when only the model fires, the request is flagged for a human, because a statistical guess can be wrong. Honest caveat: the dataset repeats payloads, so real traffic will score 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 to 2:30. The dashboard updates every three seconds. One threat level at the top, counters with what changed in the last five minutes, and the latest alerts. Click any event and the drawer shows the exact evidence, a plain-language reason, and for model detections the score against the threshold. The Events page filters, sorts and exports to CSV, and the Detection page shows the live model metrics and every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to 2:55. The assistant answers from built-in rules first, so it works offline. If you add a free Gemini or Groq key, either on this Settings page or in the .env file, it falls back to AI for other questions. A key saved here wins over .env, it is never shown again, and only summary counts are ever sent to the AI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 to 3:30. SentinelWeb Lab replaces a terminal script with a page anyone can follow. Each card sends one scenario and the result shows the HTTP response and exactly how SentinelWeb classified it, with a check mark when it matches the expectation. New scenario opens an editor: any demo path, method, query, JSON, form or text body, and a repeat count. Scenarios are plain JSON, so teams can share them as files. For safety, the Lab can only reach the demo app of the server it was started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 to 4:00. A security tool that stores attack strings is itself a target, so everything is shown as plain text, all SQL is parameterized, secrets are never stored or shown, and a statistical guess never blocks anyone. With Docker, two commands from the project folder run both products. Next steps: an XSS model, tuning noisy rules, and testing on real traffic.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chemeClr val="tx2"/>
                </a:solidFill>
              </a:rPr>
              <a:t>SentinelWeb</a:t>
            </a:r>
            <a:endParaRPr lang="en-US" sz="1000" dirty="0"/>
          </a:p>
        </p:txBody>
      </p:sp>
      <p:sp>
        <p:nvSpPr>
          <p:cNvPr id="3" name="Text 1"/>
          <p:cNvSpPr/>
          <p:nvPr>
            <p:ph idx="101" type="body" hasCustomPrompt="1"/>
          </p:nvPr>
        </p:nvSpPr>
        <p:spPr>
          <a:xfrm>
            <a:off x="548640" y="365760"/>
            <a:ext cx="11064240" cy="320040"/>
          </a:xfrm>
          <a:prstGeom prst="rect">
            <a:avLst/>
          </a:prstGeom>
          <a:noFill/>
          <a:ln/>
        </p:spPr>
        <p:txBody>
          <a:bodyPr wrap="square" rtlCol="0"/>
          <a:lstStyle>
            <a:lvl1pPr indent="0" marL="0">
              <a:buNone/>
              <a:defRPr lang="en-US" sz="1300" b="1" spc="300" kern="0" dirty="0">
                <a:solidFill>
                  <a:schemeClr val="accent1"/>
                </a:solidFill>
              </a:defRPr>
            </a:lvl1pPr>
          </a:lstStyle>
          <a:p>
            <a:pPr indent="0" marL="0">
              <a:buNone/>
            </a:pPr>
            <a:endParaRPr lang="en-US" sz="1300" dirty="0"/>
          </a:p>
        </p:txBody>
      </p:sp>
      <p:sp>
        <p:nvSpPr>
          <p:cNvPr id="4" name="Text 1"/>
          <p:cNvSpPr/>
          <p:nvPr>
            <p:ph idx="102" type="title" hasCustomPrompt="1"/>
          </p:nvPr>
        </p:nvSpPr>
        <p:spPr>
          <a:xfrm>
            <a:off x="548640" y="685800"/>
            <a:ext cx="11064240" cy="68580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Dark">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chemeClr val="bg2"/>
                </a:solidFill>
              </a:rPr>
              <a:t>SentinelWeb</a:t>
            </a:r>
            <a:endParaRPr lang="en-US" sz="1000" dirty="0"/>
          </a:p>
        </p:txBody>
      </p:sp>
      <p:sp>
        <p:nvSpPr>
          <p:cNvPr id="3" name="Text 1"/>
          <p:cNvSpPr/>
          <p:nvPr>
            <p:ph idx="101" type="body" hasCustomPrompt="1"/>
          </p:nvPr>
        </p:nvSpPr>
        <p:spPr>
          <a:xfrm>
            <a:off x="548640" y="365760"/>
            <a:ext cx="11064240" cy="320040"/>
          </a:xfrm>
          <a:prstGeom prst="rect">
            <a:avLst/>
          </a:prstGeom>
          <a:noFill/>
          <a:ln/>
        </p:spPr>
        <p:txBody>
          <a:bodyPr wrap="square" rtlCol="0"/>
          <a:lstStyle>
            <a:lvl1pPr indent="0" marL="0">
              <a:buNone/>
              <a:defRPr lang="en-US" sz="1300" b="1" spc="300" kern="0" dirty="0">
                <a:solidFill>
                  <a:schemeClr val="accent5"/>
                </a:solidFill>
              </a:defRPr>
            </a:lvl1pPr>
          </a:lstStyle>
          <a:p>
            <a:pPr indent="0" marL="0">
              <a:buNone/>
            </a:pPr>
            <a:endParaRPr lang="en-US" sz="1300" dirty="0"/>
          </a:p>
        </p:txBody>
      </p:sp>
      <p:sp>
        <p:nvSpPr>
          <p:cNvPr id="4" name="Text 1"/>
          <p:cNvSpPr/>
          <p:nvPr>
            <p:ph idx="102" type="title" hasCustomPrompt="1"/>
          </p:nvPr>
        </p:nvSpPr>
        <p:spPr>
          <a:xfrm>
            <a:off x="548640" y="685800"/>
            <a:ext cx="11064240" cy="68580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240280"/>
            <a:ext cx="5394960" cy="1005840"/>
          </a:xfrm>
          <a:prstGeom prst="rect">
            <a:avLst/>
          </a:prstGeom>
          <a:noFill/>
          <a:ln/>
        </p:spPr>
        <p:txBody>
          <a:bodyPr wrap="square" rtlCol="0"/>
          <a:lstStyle>
            <a:lvl1pPr indent="0" marL="0">
              <a:buNone/>
              <a:defRPr lang="en-US" sz="5400" b="1" dirty="0">
                <a:solidFill>
                  <a:schemeClr val="bg1"/>
                </a:solidFill>
              </a:defRPr>
            </a:lvl1pPr>
          </a:lstStyle>
          <a:p>
            <a:pPr indent="0" marL="0">
              <a:buNone/>
            </a:pPr>
            <a:endParaRPr lang="en-US" sz="5400" dirty="0"/>
          </a:p>
        </p:txBody>
      </p:sp>
      <p:sp>
        <p:nvSpPr>
          <p:cNvPr id="3" name="Text 0"/>
          <p:cNvSpPr/>
          <p:nvPr>
            <p:ph idx="101" type="body" hasCustomPrompt="1"/>
          </p:nvPr>
        </p:nvSpPr>
        <p:spPr>
          <a:xfrm>
            <a:off x="640080" y="3337560"/>
            <a:ext cx="5212080" cy="14630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SentinelWeb logo">    </p:cNvPr>
          <p:cNvPicPr>
            <a:picLocks noChangeAspect="1"/>
          </p:cNvPicPr>
          <p:nvPr/>
        </p:nvPicPr>
        <p:blipFill>
          <a:blip r:embed="rId1"/>
          <a:stretch>
            <a:fillRect/>
          </a:stretch>
        </p:blipFill>
        <p:spPr>
          <a:xfrm>
            <a:off x="640080" y="1143000"/>
            <a:ext cx="868680" cy="868680"/>
          </a:xfrm>
          <a:prstGeom prst="rect">
            <a:avLst/>
          </a:prstGeom>
        </p:spPr>
      </p:pic>
      <p:pic>
        <p:nvPicPr>
          <p:cNvPr id="3" name="Lab logo" descr="SentinelWeb Lab logo">    </p:cNvPr>
          <p:cNvPicPr>
            <a:picLocks noChangeAspect="1"/>
          </p:cNvPicPr>
          <p:nvPr/>
        </p:nvPicPr>
        <p:blipFill>
          <a:blip r:embed="rId2"/>
          <a:stretch>
            <a:fillRect/>
          </a:stretch>
        </p:blipFill>
        <p:spPr>
          <a:xfrm>
            <a:off x="1645920" y="1143000"/>
            <a:ext cx="868680" cy="868680"/>
          </a:xfrm>
          <a:prstGeom prst="rect">
            <a:avLst/>
          </a:prstGeom>
        </p:spPr>
      </p:pic>
      <p:sp>
        <p:nvSpPr>
          <p:cNvPr id="4" name="Text 0"/>
          <p:cNvSpPr/>
          <p:nvPr>
            <p:ph idx="100" type="title" hasCustomPrompt="1"/>
          </p:nvPr>
        </p:nvSpPr>
        <p:spPr>
          <a:xfrm>
            <a:off x="640080" y="2240280"/>
            <a:ext cx="5394960" cy="1005840"/>
          </a:xfrm>
          <a:prstGeom prst="rect">
            <a:avLst/>
          </a:prstGeom>
          <a:noFill/>
          <a:ln/>
        </p:spPr>
        <p:txBody>
          <a:bodyPr wrap="square" lIns="0" tIns="0" rIns="0" bIns="0" rtlCol="0" anchor="ctr"/>
          <a:lstStyle/>
          <a:p>
            <a:pPr indent="0" marL="0">
              <a:buNone/>
            </a:pPr>
            <a:r>
              <a:rPr lang="en-US" sz="5400" b="1" dirty="0">
                <a:solidFill>
                  <a:schemeClr val="bg1"/>
                </a:solidFill>
              </a:rPr>
              <a:t>SentinelWeb</a:t>
            </a:r>
            <a:endParaRPr lang="en-US" sz="5400" dirty="0"/>
          </a:p>
        </p:txBody>
      </p:sp>
      <p:sp>
        <p:nvSpPr>
          <p:cNvPr id="5" name="Text 0"/>
          <p:cNvSpPr/>
          <p:nvPr>
            <p:ph idx="101" type="body" hasCustomPrompt="1"/>
          </p:nvPr>
        </p:nvSpPr>
        <p:spPr>
          <a:xfrm>
            <a:off x="640080" y="3337560"/>
            <a:ext cx="5212080" cy="1463040"/>
          </a:xfrm>
          <a:prstGeom prst="rect">
            <a:avLst/>
          </a:prstGeom>
          <a:noFill/>
          <a:ln/>
        </p:spPr>
        <p:txBody>
          <a:bodyPr wrap="square" lIns="0" tIns="0" rIns="0" bIns="0" rtlCol="0" anchor="t"/>
          <a:lstStyle/>
          <a:p>
            <a:pPr indent="0" marL="0">
              <a:buNone/>
            </a:pPr>
            <a:r>
              <a:rPr lang="en-US" sz="2000" dirty="0">
                <a:solidFill>
                  <a:schemeClr val="bg2"/>
                </a:solidFill>
              </a:rPr>
              <a:t>Real-time web attack monitoring with rules and machine learning, explained in plain language.</a:t>
            </a:r>
            <a:endParaRPr lang="en-US" sz="2000" dirty="0"/>
          </a:p>
        </p:txBody>
      </p:sp>
      <p:sp>
        <p:nvSpPr>
          <p:cNvPr id="6" name="Text 2"/>
          <p:cNvSpPr txBox="1"/>
          <p:nvPr/>
        </p:nvSpPr>
        <p:spPr>
          <a:xfrm>
            <a:off x="640080" y="4617720"/>
            <a:ext cx="5394960" cy="822960"/>
          </a:xfrm>
          <a:prstGeom prst="rect">
            <a:avLst/>
          </a:prstGeom>
          <a:noFill/>
          <a:ln/>
        </p:spPr>
        <p:txBody>
          <a:bodyPr wrap="square" lIns="0" tIns="0" rIns="0" bIns="0" rtlCol="0" anchor="t"/>
          <a:lstStyle/>
          <a:p>
            <a:pPr indent="0" marL="0">
              <a:spcAft>
                <a:spcPts val="600"/>
              </a:spcAft>
              <a:buNone/>
            </a:pPr>
            <a:r>
              <a:rPr lang="en-US" sz="1800" b="1" dirty="0">
                <a:solidFill>
                  <a:schemeClr val="bg1"/>
                </a:solidFill>
              </a:rPr>
              <a:t>SentinelWeb</a:t>
            </a:r>
            <a:pPr indent="0" marL="0">
              <a:spcAft>
                <a:spcPts val="600"/>
              </a:spcAft>
              <a:buNone/>
            </a:pPr>
            <a:r>
              <a:rPr lang="en-US" sz="1800" dirty="0">
                <a:solidFill>
                  <a:schemeClr val="bg2"/>
                </a:solidFill>
              </a:rPr>
              <a:t>  protects and explains</a:t>
            </a:r>
            <a:endParaRPr lang="en-US" sz="1800" dirty="0"/>
          </a:p>
          <a:p>
            <a:pPr indent="0" marL="0">
              <a:spcAft>
                <a:spcPts val="600"/>
              </a:spcAft>
              <a:buNone/>
            </a:pPr>
            <a:r>
              <a:rPr lang="en-US" sz="1800" b="1" dirty="0">
                <a:solidFill>
                  <a:schemeClr val="accent5"/>
                </a:solidFill>
              </a:rPr>
              <a:t>SentinelWeb Lab</a:t>
            </a:r>
            <a:pPr indent="0" marL="0">
              <a:spcAft>
                <a:spcPts val="600"/>
              </a:spcAft>
              <a:buNone/>
            </a:pPr>
            <a:r>
              <a:rPr lang="en-US" sz="1800" dirty="0">
                <a:solidFill>
                  <a:schemeClr val="bg2"/>
                </a:solidFill>
              </a:rPr>
              <a:t>  sends safe test traffic</a:t>
            </a:r>
            <a:endParaRPr lang="en-US" sz="1800" dirty="0"/>
          </a:p>
        </p:txBody>
      </p:sp>
      <p:sp>
        <p:nvSpPr>
          <p:cNvPr id="7" name="Hero screenshot frame"/>
          <p:cNvSpPr/>
          <p:nvPr/>
        </p:nvSpPr>
        <p:spPr>
          <a:xfrm>
            <a:off x="6309360" y="1371600"/>
            <a:ext cx="5394960" cy="3074670"/>
          </a:xfrm>
          <a:prstGeom prst="roundRect">
            <a:avLst>
              <a:gd name="adj" fmla="val 2379"/>
            </a:avLst>
          </a:prstGeom>
          <a:solidFill>
            <a:schemeClr val="tx2"/>
          </a:solidFill>
          <a:ln w="12700">
            <a:solidFill>
              <a:schemeClr val="tx2"/>
            </a:solidFill>
            <a:prstDash val="solid"/>
          </a:ln>
          <a:effectLst>
            <a:outerShdw sx="100000" sy="100000" kx="0" ky="0" algn="bl" rotWithShape="0" blurRad="127000" dist="38100" dir="5400000">
              <a:srgbClr val="0B1220">
                <a:alpha val="16000"/>
              </a:srgbClr>
            </a:outerShdw>
          </a:effectLst>
        </p:spPr>
      </p:sp>
      <p:pic>
        <p:nvPicPr>
          <p:cNvPr id="8" name="Hero screenshot" descr="SentinelWeb overview dashboard">    </p:cNvPr>
          <p:cNvPicPr>
            <a:picLocks noChangeAspect="1"/>
          </p:cNvPicPr>
          <p:nvPr/>
        </p:nvPicPr>
        <p:blipFill>
          <a:blip r:embed="rId3"/>
          <a:stretch>
            <a:fillRect/>
          </a:stretch>
        </p:blipFill>
        <p:spPr>
          <a:xfrm>
            <a:off x="6355080" y="1417320"/>
            <a:ext cx="5303520" cy="2983230"/>
          </a:xfrm>
          <a:prstGeom prst="rect">
            <a:avLst/>
          </a:prstGeom>
        </p:spPr>
      </p:pic>
      <p:sp>
        <p:nvSpPr>
          <p:cNvPr id="9" name="Text 4"/>
          <p:cNvSpPr txBox="1"/>
          <p:nvPr/>
        </p:nvSpPr>
        <p:spPr>
          <a:xfrm>
            <a:off x="640080" y="6035040"/>
            <a:ext cx="5486400" cy="320040"/>
          </a:xfrm>
          <a:prstGeom prst="rect">
            <a:avLst/>
          </a:prstGeom>
          <a:noFill/>
          <a:ln/>
        </p:spPr>
        <p:txBody>
          <a:bodyPr wrap="square" lIns="0" tIns="0" rIns="0" bIns="0" rtlCol="0" anchor="t"/>
          <a:lstStyle/>
          <a:p>
            <a:pPr indent="0" marL="0">
              <a:buNone/>
            </a:pPr>
            <a:r>
              <a:rPr lang="en-US" sz="1400" dirty="0">
                <a:solidFill>
                  <a:schemeClr val="bg2"/>
                </a:solidFill>
              </a:rPr>
              <a:t>[Presenter name] ·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1"/>
                </a:solidFill>
              </a:rPr>
              <a:t>THE PROBLEM</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tx1"/>
                </a:solidFill>
              </a:rPr>
              <a:t>Four attacks a small web app sees every day</a:t>
            </a:r>
            <a:endParaRPr lang="en-US" sz="3200" dirty="0"/>
          </a:p>
        </p:txBody>
      </p:sp>
      <p:sp>
        <p:nvSpPr>
          <p:cNvPr id="4" name="SQL injection card"/>
          <p:cNvSpPr/>
          <p:nvPr/>
        </p:nvSpPr>
        <p:spPr>
          <a:xfrm>
            <a:off x="548640" y="1691640"/>
            <a:ext cx="2606040" cy="3154680"/>
          </a:xfrm>
          <a:prstGeom prst="roundRect">
            <a:avLst>
              <a:gd name="adj" fmla="val 4211"/>
            </a:avLst>
          </a:prstGeom>
          <a:solidFill>
            <a:schemeClr val="bg2"/>
          </a:solidFill>
          <a:ln w="12700">
            <a:solidFill>
              <a:schemeClr val="bg2">
                <a:alpha val="0"/>
              </a:schemeClr>
            </a:solidFill>
            <a:prstDash val="solid"/>
          </a:ln>
        </p:spPr>
      </p:sp>
      <p:sp>
        <p:nvSpPr>
          <p:cNvPr id="5" name="SQL injection circle"/>
          <p:cNvSpPr/>
          <p:nvPr/>
        </p:nvSpPr>
        <p:spPr>
          <a:xfrm>
            <a:off x="868680" y="2011680"/>
            <a:ext cx="731520" cy="731520"/>
          </a:xfrm>
          <a:prstGeom prst="ellipse">
            <a:avLst/>
          </a:prstGeom>
          <a:solidFill>
            <a:srgbClr val="B91C1C"/>
          </a:solidFill>
          <a:ln w="12700">
            <a:solidFill>
              <a:srgbClr val="B91C1C"/>
            </a:solidFill>
            <a:prstDash val="solid"/>
          </a:ln>
        </p:spPr>
      </p:sp>
      <p:pic>
        <p:nvPicPr>
          <p:cNvPr id="6" name="SQL injection icon"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7" name="Text 4"/>
          <p:cNvSpPr txBox="1"/>
          <p:nvPr/>
        </p:nvSpPr>
        <p:spPr>
          <a:xfrm>
            <a:off x="868680" y="2926080"/>
            <a:ext cx="2011680" cy="685800"/>
          </a:xfrm>
          <a:prstGeom prst="rect">
            <a:avLst/>
          </a:prstGeom>
          <a:noFill/>
          <a:ln/>
        </p:spPr>
        <p:txBody>
          <a:bodyPr wrap="square" lIns="0" tIns="0" rIns="0" bIns="0" rtlCol="0" anchor="b"/>
          <a:lstStyle/>
          <a:p>
            <a:pPr indent="0" marL="0">
              <a:buNone/>
            </a:pPr>
            <a:r>
              <a:rPr lang="en-US" sz="2000" b="1" dirty="0">
                <a:solidFill>
                  <a:schemeClr val="tx1"/>
                </a:solidFill>
                <a:latin typeface="Arial" pitchFamily="34" charset="0"/>
                <a:ea typeface="Arial" pitchFamily="34" charset="-122"/>
                <a:cs typeface="Arial" pitchFamily="34" charset="-120"/>
              </a:rPr>
              <a:t>SQL injection</a:t>
            </a:r>
            <a:endParaRPr lang="en-US" sz="2000" dirty="0"/>
          </a:p>
        </p:txBody>
      </p:sp>
      <p:sp>
        <p:nvSpPr>
          <p:cNvPr id="8" name="Text 5"/>
          <p:cNvSpPr txBox="1"/>
          <p:nvPr/>
        </p:nvSpPr>
        <p:spPr>
          <a:xfrm>
            <a:off x="868680" y="3703320"/>
            <a:ext cx="2011680" cy="1005840"/>
          </a:xfrm>
          <a:prstGeom prst="rect">
            <a:avLst/>
          </a:prstGeom>
          <a:noFill/>
          <a:ln/>
        </p:spPr>
        <p:txBody>
          <a:bodyPr wrap="square" lIns="0" tIns="0" rIns="0" bIns="0" rtlCol="0" anchor="t"/>
          <a:lstStyle/>
          <a:p>
            <a:pPr indent="0" marL="0">
              <a:buNone/>
            </a:pPr>
            <a:r>
              <a:rPr lang="en-US" sz="1500" dirty="0">
                <a:solidFill>
                  <a:schemeClr val="tx2"/>
                </a:solidFill>
              </a:rPr>
              <a:t>Database commands typed into an input box to rewrite a query.</a:t>
            </a:r>
            <a:endParaRPr lang="en-US" sz="1500" dirty="0"/>
          </a:p>
        </p:txBody>
      </p:sp>
      <p:sp>
        <p:nvSpPr>
          <p:cNvPr id="9" name="Cross-site scripting card"/>
          <p:cNvSpPr/>
          <p:nvPr/>
        </p:nvSpPr>
        <p:spPr>
          <a:xfrm>
            <a:off x="3374136" y="1691640"/>
            <a:ext cx="2606040" cy="3154680"/>
          </a:xfrm>
          <a:prstGeom prst="roundRect">
            <a:avLst>
              <a:gd name="adj" fmla="val 4211"/>
            </a:avLst>
          </a:prstGeom>
          <a:solidFill>
            <a:schemeClr val="bg2"/>
          </a:solidFill>
          <a:ln w="12700">
            <a:solidFill>
              <a:schemeClr val="bg2">
                <a:alpha val="0"/>
              </a:schemeClr>
            </a:solidFill>
            <a:prstDash val="solid"/>
          </a:ln>
        </p:spPr>
      </p:sp>
      <p:sp>
        <p:nvSpPr>
          <p:cNvPr id="10" name="Cross-site scripting circle"/>
          <p:cNvSpPr/>
          <p:nvPr/>
        </p:nvSpPr>
        <p:spPr>
          <a:xfrm>
            <a:off x="3694176" y="2011680"/>
            <a:ext cx="731520" cy="731520"/>
          </a:xfrm>
          <a:prstGeom prst="ellipse">
            <a:avLst/>
          </a:prstGeom>
          <a:solidFill>
            <a:srgbClr val="B91C1C"/>
          </a:solidFill>
          <a:ln w="12700">
            <a:solidFill>
              <a:srgbClr val="B91C1C"/>
            </a:solidFill>
            <a:prstDash val="solid"/>
          </a:ln>
        </p:spPr>
      </p:sp>
      <p:pic>
        <p:nvPicPr>
          <p:cNvPr id="11" name="Cross-site scripting icon" descr="preencoded.png">    </p:cNvPr>
          <p:cNvPicPr>
            <a:picLocks noChangeAspect="1"/>
          </p:cNvPicPr>
          <p:nvPr/>
        </p:nvPicPr>
        <p:blipFill>
          <a:blip r:embed="rId2"/>
          <a:stretch>
            <a:fillRect/>
          </a:stretch>
        </p:blipFill>
        <p:spPr>
          <a:xfrm>
            <a:off x="3869741" y="2187245"/>
            <a:ext cx="380390" cy="380390"/>
          </a:xfrm>
          <a:prstGeom prst="rect">
            <a:avLst/>
          </a:prstGeom>
        </p:spPr>
      </p:pic>
      <p:sp>
        <p:nvSpPr>
          <p:cNvPr id="12" name="Text 8"/>
          <p:cNvSpPr txBox="1"/>
          <p:nvPr/>
        </p:nvSpPr>
        <p:spPr>
          <a:xfrm>
            <a:off x="3694176" y="2926080"/>
            <a:ext cx="2011680" cy="685800"/>
          </a:xfrm>
          <a:prstGeom prst="rect">
            <a:avLst/>
          </a:prstGeom>
          <a:noFill/>
          <a:ln/>
        </p:spPr>
        <p:txBody>
          <a:bodyPr wrap="square" lIns="0" tIns="0" rIns="0" bIns="0" rtlCol="0" anchor="b"/>
          <a:lstStyle/>
          <a:p>
            <a:pPr indent="0" marL="0">
              <a:buNone/>
            </a:pPr>
            <a:r>
              <a:rPr lang="en-US" sz="2000" b="1" dirty="0">
                <a:solidFill>
                  <a:schemeClr val="tx1"/>
                </a:solidFill>
                <a:latin typeface="Arial" pitchFamily="34" charset="0"/>
                <a:ea typeface="Arial" pitchFamily="34" charset="-122"/>
                <a:cs typeface="Arial" pitchFamily="34" charset="-120"/>
              </a:rPr>
              <a:t>Cross-site scripting</a:t>
            </a:r>
            <a:endParaRPr lang="en-US" sz="2000" dirty="0"/>
          </a:p>
        </p:txBody>
      </p:sp>
      <p:sp>
        <p:nvSpPr>
          <p:cNvPr id="13" name="Text 9"/>
          <p:cNvSpPr txBox="1"/>
          <p:nvPr/>
        </p:nvSpPr>
        <p:spPr>
          <a:xfrm>
            <a:off x="3694176" y="3703320"/>
            <a:ext cx="2011680" cy="1005840"/>
          </a:xfrm>
          <a:prstGeom prst="rect">
            <a:avLst/>
          </a:prstGeom>
          <a:noFill/>
          <a:ln/>
        </p:spPr>
        <p:txBody>
          <a:bodyPr wrap="square" lIns="0" tIns="0" rIns="0" bIns="0" rtlCol="0" anchor="t"/>
          <a:lstStyle/>
          <a:p>
            <a:pPr indent="0" marL="0">
              <a:buNone/>
            </a:pPr>
            <a:r>
              <a:rPr lang="en-US" sz="1500" dirty="0">
                <a:solidFill>
                  <a:schemeClr val="tx2"/>
                </a:solidFill>
              </a:rPr>
              <a:t>Script-like text a browser could run if a page showed it unsafely.</a:t>
            </a:r>
            <a:endParaRPr lang="en-US" sz="1500" dirty="0"/>
          </a:p>
        </p:txBody>
      </p:sp>
      <p:sp>
        <p:nvSpPr>
          <p:cNvPr id="14" name="Brute-force logins card"/>
          <p:cNvSpPr/>
          <p:nvPr/>
        </p:nvSpPr>
        <p:spPr>
          <a:xfrm>
            <a:off x="6199632" y="1691640"/>
            <a:ext cx="2606040" cy="3154680"/>
          </a:xfrm>
          <a:prstGeom prst="roundRect">
            <a:avLst>
              <a:gd name="adj" fmla="val 4211"/>
            </a:avLst>
          </a:prstGeom>
          <a:solidFill>
            <a:schemeClr val="bg2"/>
          </a:solidFill>
          <a:ln w="12700">
            <a:solidFill>
              <a:schemeClr val="bg2">
                <a:alpha val="0"/>
              </a:schemeClr>
            </a:solidFill>
            <a:prstDash val="solid"/>
          </a:ln>
        </p:spPr>
      </p:sp>
      <p:sp>
        <p:nvSpPr>
          <p:cNvPr id="15" name="Brute-force logins circle"/>
          <p:cNvSpPr/>
          <p:nvPr/>
        </p:nvSpPr>
        <p:spPr>
          <a:xfrm>
            <a:off x="6519672" y="2011680"/>
            <a:ext cx="731520" cy="731520"/>
          </a:xfrm>
          <a:prstGeom prst="ellipse">
            <a:avLst/>
          </a:prstGeom>
          <a:solidFill>
            <a:srgbClr val="B45309"/>
          </a:solidFill>
          <a:ln w="12700">
            <a:solidFill>
              <a:srgbClr val="B45309"/>
            </a:solidFill>
            <a:prstDash val="solid"/>
          </a:ln>
        </p:spPr>
      </p:sp>
      <p:pic>
        <p:nvPicPr>
          <p:cNvPr id="16" name="Brute-force logins icon" descr="preencoded.png">    </p:cNvPr>
          <p:cNvPicPr>
            <a:picLocks noChangeAspect="1"/>
          </p:cNvPicPr>
          <p:nvPr/>
        </p:nvPicPr>
        <p:blipFill>
          <a:blip r:embed="rId3"/>
          <a:stretch>
            <a:fillRect/>
          </a:stretch>
        </p:blipFill>
        <p:spPr>
          <a:xfrm>
            <a:off x="6695237" y="2187245"/>
            <a:ext cx="380390" cy="380390"/>
          </a:xfrm>
          <a:prstGeom prst="rect">
            <a:avLst/>
          </a:prstGeom>
        </p:spPr>
      </p:pic>
      <p:sp>
        <p:nvSpPr>
          <p:cNvPr id="17" name="Text 12"/>
          <p:cNvSpPr txBox="1"/>
          <p:nvPr/>
        </p:nvSpPr>
        <p:spPr>
          <a:xfrm>
            <a:off x="6519672" y="2926080"/>
            <a:ext cx="2011680" cy="685800"/>
          </a:xfrm>
          <a:prstGeom prst="rect">
            <a:avLst/>
          </a:prstGeom>
          <a:noFill/>
          <a:ln/>
        </p:spPr>
        <p:txBody>
          <a:bodyPr wrap="square" lIns="0" tIns="0" rIns="0" bIns="0" rtlCol="0" anchor="b"/>
          <a:lstStyle/>
          <a:p>
            <a:pPr indent="0" marL="0">
              <a:buNone/>
            </a:pPr>
            <a:r>
              <a:rPr lang="en-US" sz="2000" b="1" dirty="0">
                <a:solidFill>
                  <a:schemeClr val="tx1"/>
                </a:solidFill>
                <a:latin typeface="Arial" pitchFamily="34" charset="0"/>
                <a:ea typeface="Arial" pitchFamily="34" charset="-122"/>
                <a:cs typeface="Arial" pitchFamily="34" charset="-120"/>
              </a:rPr>
              <a:t>Brute-force logins</a:t>
            </a:r>
            <a:endParaRPr lang="en-US" sz="2000" dirty="0"/>
          </a:p>
        </p:txBody>
      </p:sp>
      <p:sp>
        <p:nvSpPr>
          <p:cNvPr id="18" name="Text 13"/>
          <p:cNvSpPr txBox="1"/>
          <p:nvPr/>
        </p:nvSpPr>
        <p:spPr>
          <a:xfrm>
            <a:off x="6519672" y="3703320"/>
            <a:ext cx="2011680" cy="1005840"/>
          </a:xfrm>
          <a:prstGeom prst="rect">
            <a:avLst/>
          </a:prstGeom>
          <a:noFill/>
          <a:ln/>
        </p:spPr>
        <p:txBody>
          <a:bodyPr wrap="square" lIns="0" tIns="0" rIns="0" bIns="0" rtlCol="0" anchor="t"/>
          <a:lstStyle/>
          <a:p>
            <a:pPr indent="0" marL="0">
              <a:buNone/>
            </a:pPr>
            <a:r>
              <a:rPr lang="en-US" sz="1500" dirty="0">
                <a:solidFill>
                  <a:schemeClr val="tx2"/>
                </a:solidFill>
              </a:rPr>
              <a:t>Many password guesses against one account in a short time.</a:t>
            </a:r>
            <a:endParaRPr lang="en-US" sz="1500" dirty="0"/>
          </a:p>
        </p:txBody>
      </p:sp>
      <p:sp>
        <p:nvSpPr>
          <p:cNvPr id="19" name="Request floods card"/>
          <p:cNvSpPr/>
          <p:nvPr/>
        </p:nvSpPr>
        <p:spPr>
          <a:xfrm>
            <a:off x="9025128" y="1691640"/>
            <a:ext cx="2606040" cy="3154680"/>
          </a:xfrm>
          <a:prstGeom prst="roundRect">
            <a:avLst>
              <a:gd name="adj" fmla="val 4211"/>
            </a:avLst>
          </a:prstGeom>
          <a:solidFill>
            <a:schemeClr val="bg2"/>
          </a:solidFill>
          <a:ln w="12700">
            <a:solidFill>
              <a:schemeClr val="bg2">
                <a:alpha val="0"/>
              </a:schemeClr>
            </a:solidFill>
            <a:prstDash val="solid"/>
          </a:ln>
        </p:spPr>
      </p:sp>
      <p:sp>
        <p:nvSpPr>
          <p:cNvPr id="20" name="Request floods circle"/>
          <p:cNvSpPr/>
          <p:nvPr/>
        </p:nvSpPr>
        <p:spPr>
          <a:xfrm>
            <a:off x="9345168" y="2011680"/>
            <a:ext cx="731520" cy="731520"/>
          </a:xfrm>
          <a:prstGeom prst="ellipse">
            <a:avLst/>
          </a:prstGeom>
          <a:solidFill>
            <a:srgbClr val="B45309"/>
          </a:solidFill>
          <a:ln w="12700">
            <a:solidFill>
              <a:srgbClr val="B45309"/>
            </a:solidFill>
            <a:prstDash val="solid"/>
          </a:ln>
        </p:spPr>
      </p:sp>
      <p:pic>
        <p:nvPicPr>
          <p:cNvPr id="21" name="Request floods icon" descr="preencoded.png">    </p:cNvPr>
          <p:cNvPicPr>
            <a:picLocks noChangeAspect="1"/>
          </p:cNvPicPr>
          <p:nvPr/>
        </p:nvPicPr>
        <p:blipFill>
          <a:blip r:embed="rId4"/>
          <a:stretch>
            <a:fillRect/>
          </a:stretch>
        </p:blipFill>
        <p:spPr>
          <a:xfrm>
            <a:off x="9520733" y="2187245"/>
            <a:ext cx="380390" cy="380390"/>
          </a:xfrm>
          <a:prstGeom prst="rect">
            <a:avLst/>
          </a:prstGeom>
        </p:spPr>
      </p:pic>
      <p:sp>
        <p:nvSpPr>
          <p:cNvPr id="22" name="Text 16"/>
          <p:cNvSpPr txBox="1"/>
          <p:nvPr/>
        </p:nvSpPr>
        <p:spPr>
          <a:xfrm>
            <a:off x="9345168" y="2926080"/>
            <a:ext cx="2011680" cy="685800"/>
          </a:xfrm>
          <a:prstGeom prst="rect">
            <a:avLst/>
          </a:prstGeom>
          <a:noFill/>
          <a:ln/>
        </p:spPr>
        <p:txBody>
          <a:bodyPr wrap="square" lIns="0" tIns="0" rIns="0" bIns="0" rtlCol="0" anchor="b"/>
          <a:lstStyle/>
          <a:p>
            <a:pPr indent="0" marL="0">
              <a:buNone/>
            </a:pPr>
            <a:r>
              <a:rPr lang="en-US" sz="2000" b="1" dirty="0">
                <a:solidFill>
                  <a:schemeClr val="tx1"/>
                </a:solidFill>
                <a:latin typeface="Arial" pitchFamily="34" charset="0"/>
                <a:ea typeface="Arial" pitchFamily="34" charset="-122"/>
                <a:cs typeface="Arial" pitchFamily="34" charset="-120"/>
              </a:rPr>
              <a:t>Request floods</a:t>
            </a:r>
            <a:endParaRPr lang="en-US" sz="2000" dirty="0"/>
          </a:p>
        </p:txBody>
      </p:sp>
      <p:sp>
        <p:nvSpPr>
          <p:cNvPr id="23" name="Text 17"/>
          <p:cNvSpPr txBox="1"/>
          <p:nvPr/>
        </p:nvSpPr>
        <p:spPr>
          <a:xfrm>
            <a:off x="9345168" y="3703320"/>
            <a:ext cx="2011680" cy="1005840"/>
          </a:xfrm>
          <a:prstGeom prst="rect">
            <a:avLst/>
          </a:prstGeom>
          <a:noFill/>
          <a:ln/>
        </p:spPr>
        <p:txBody>
          <a:bodyPr wrap="square" lIns="0" tIns="0" rIns="0" bIns="0" rtlCol="0" anchor="t"/>
          <a:lstStyle/>
          <a:p>
            <a:pPr indent="0" marL="0">
              <a:buNone/>
            </a:pPr>
            <a:r>
              <a:rPr lang="en-US" sz="1500" dirty="0">
                <a:solidFill>
                  <a:schemeClr val="tx2"/>
                </a:solidFill>
              </a:rPr>
              <a:t>One client sending far more requests than a person ever would.</a:t>
            </a:r>
            <a:endParaRPr lang="en-US" sz="1500" dirty="0"/>
          </a:p>
        </p:txBody>
      </p:sp>
      <p:sp>
        <p:nvSpPr>
          <p:cNvPr id="24" name="Text 18"/>
          <p:cNvSpPr txBox="1"/>
          <p:nvPr/>
        </p:nvSpPr>
        <p:spPr>
          <a:xfrm>
            <a:off x="548640" y="5303520"/>
            <a:ext cx="11064240" cy="548640"/>
          </a:xfrm>
          <a:prstGeom prst="rect">
            <a:avLst/>
          </a:prstGeom>
          <a:noFill/>
          <a:ln/>
        </p:spPr>
        <p:txBody>
          <a:bodyPr wrap="square" lIns="0" tIns="0" rIns="0" bIns="0" rtlCol="0" anchor="t"/>
          <a:lstStyle/>
          <a:p>
            <a:pPr indent="0" marL="0">
              <a:buNone/>
            </a:pPr>
            <a:r>
              <a:rPr lang="en-US" sz="1800" i="1" dirty="0">
                <a:solidFill>
                  <a:schemeClr val="tx1"/>
                </a:solidFill>
              </a:rPr>
              <a:t>Small teams rarely read raw logs. They need alerts they can trust, understand and test.</a:t>
            </a:r>
            <a:endParaRPr lang="en-US" sz="18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1"/>
                </a:solidFill>
              </a:rPr>
              <a:t>HOW IT WORKS</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tx1"/>
                </a:solidFill>
              </a:rPr>
              <a:t>Send, check, explain</a:t>
            </a:r>
            <a:endParaRPr lang="en-US" sz="3200" dirty="0"/>
          </a:p>
        </p:txBody>
      </p:sp>
      <p:sp>
        <p:nvSpPr>
          <p:cNvPr id="4" name="SentinelWeb Lab box"/>
          <p:cNvSpPr/>
          <p:nvPr/>
        </p:nvSpPr>
        <p:spPr>
          <a:xfrm>
            <a:off x="548640" y="1737360"/>
            <a:ext cx="1920240" cy="1097280"/>
          </a:xfrm>
          <a:prstGeom prst="roundRect">
            <a:avLst>
              <a:gd name="adj" fmla="val 10000"/>
            </a:avLst>
          </a:prstGeom>
          <a:solidFill>
            <a:srgbClr val="0D9488"/>
          </a:solidFill>
          <a:ln w="12700">
            <a:solidFill>
              <a:srgbClr val="0D9488">
                <a:alpha val="0"/>
              </a:srgbClr>
            </a:solidFill>
            <a:prstDash val="solid"/>
          </a:ln>
        </p:spPr>
      </p:sp>
      <p:sp>
        <p:nvSpPr>
          <p:cNvPr id="5" name="Text 3"/>
          <p:cNvSpPr txBox="1"/>
          <p:nvPr/>
        </p:nvSpPr>
        <p:spPr>
          <a:xfrm>
            <a:off x="594360" y="1737360"/>
            <a:ext cx="1828800" cy="109728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SentinelWeb Lab</a:t>
            </a:r>
            <a:endParaRPr lang="en-US" sz="1500" dirty="0"/>
          </a:p>
          <a:p>
            <a:pPr algn="ctr" indent="0" marL="0">
              <a:buNone/>
            </a:pPr>
            <a:r>
              <a:rPr lang="en-US" sz="1300" dirty="0">
                <a:solidFill>
                  <a:schemeClr val="bg1"/>
                </a:solidFill>
              </a:rPr>
              <a:t>scenarios → requests</a:t>
            </a:r>
            <a:endParaRPr lang="en-US" sz="1500" dirty="0"/>
          </a:p>
        </p:txBody>
      </p:sp>
      <p:sp>
        <p:nvSpPr>
          <p:cNvPr id="6" name="Flow arrow 1"/>
          <p:cNvSpPr/>
          <p:nvPr/>
        </p:nvSpPr>
        <p:spPr>
          <a:xfrm>
            <a:off x="2487168" y="2286000"/>
            <a:ext cx="329184" cy="0"/>
          </a:xfrm>
          <a:prstGeom prst="line">
            <a:avLst/>
          </a:prstGeom>
          <a:noFill/>
          <a:ln w="25400">
            <a:solidFill>
              <a:srgbClr val="334155"/>
            </a:solidFill>
            <a:prstDash val="solid"/>
            <a:tailEnd type="triangle"/>
          </a:ln>
        </p:spPr>
      </p:sp>
      <p:sp>
        <p:nvSpPr>
          <p:cNvPr id="7" name="RequestMonitor box"/>
          <p:cNvSpPr/>
          <p:nvPr/>
        </p:nvSpPr>
        <p:spPr>
          <a:xfrm>
            <a:off x="2834640" y="1737360"/>
            <a:ext cx="1920240" cy="1097280"/>
          </a:xfrm>
          <a:prstGeom prst="roundRect">
            <a:avLst>
              <a:gd name="adj" fmla="val 10000"/>
            </a:avLst>
          </a:prstGeom>
          <a:solidFill>
            <a:srgbClr val="2563EB"/>
          </a:solidFill>
          <a:ln w="12700">
            <a:solidFill>
              <a:srgbClr val="2563EB">
                <a:alpha val="0"/>
              </a:srgbClr>
            </a:solidFill>
            <a:prstDash val="solid"/>
          </a:ln>
        </p:spPr>
      </p:sp>
      <p:sp>
        <p:nvSpPr>
          <p:cNvPr id="8" name="Text 6"/>
          <p:cNvSpPr txBox="1"/>
          <p:nvPr/>
        </p:nvSpPr>
        <p:spPr>
          <a:xfrm>
            <a:off x="2880360" y="1737360"/>
            <a:ext cx="1828800" cy="109728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RequestMonitor</a:t>
            </a:r>
            <a:endParaRPr lang="en-US" sz="1500" dirty="0"/>
          </a:p>
          <a:p>
            <a:pPr algn="ctr" indent="0" marL="0">
              <a:buNone/>
            </a:pPr>
            <a:r>
              <a:rPr lang="en-US" sz="1300" dirty="0">
                <a:solidFill>
                  <a:schemeClr val="bg1"/>
                </a:solidFill>
              </a:rPr>
              <a:t>4 checks per request</a:t>
            </a:r>
            <a:endParaRPr lang="en-US" sz="1500" dirty="0"/>
          </a:p>
        </p:txBody>
      </p:sp>
      <p:sp>
        <p:nvSpPr>
          <p:cNvPr id="9" name="Flow arrow 2"/>
          <p:cNvSpPr/>
          <p:nvPr/>
        </p:nvSpPr>
        <p:spPr>
          <a:xfrm>
            <a:off x="4773168" y="2286000"/>
            <a:ext cx="329184" cy="0"/>
          </a:xfrm>
          <a:prstGeom prst="line">
            <a:avLst/>
          </a:prstGeom>
          <a:noFill/>
          <a:ln w="25400">
            <a:solidFill>
              <a:srgbClr val="334155"/>
            </a:solidFill>
            <a:prstDash val="solid"/>
            <a:tailEnd type="triangle"/>
          </a:ln>
        </p:spPr>
      </p:sp>
      <p:sp>
        <p:nvSpPr>
          <p:cNvPr id="10" name="Detectors box"/>
          <p:cNvSpPr/>
          <p:nvPr/>
        </p:nvSpPr>
        <p:spPr>
          <a:xfrm>
            <a:off x="5120640" y="1737360"/>
            <a:ext cx="1920240" cy="1097280"/>
          </a:xfrm>
          <a:prstGeom prst="roundRect">
            <a:avLst>
              <a:gd name="adj" fmla="val 10000"/>
            </a:avLst>
          </a:prstGeom>
          <a:solidFill>
            <a:schemeClr val="bg2"/>
          </a:solidFill>
          <a:ln w="12700">
            <a:solidFill>
              <a:schemeClr val="bg2">
                <a:alpha val="0"/>
              </a:schemeClr>
            </a:solidFill>
            <a:prstDash val="solid"/>
          </a:ln>
        </p:spPr>
      </p:sp>
      <p:sp>
        <p:nvSpPr>
          <p:cNvPr id="11" name="Text 9"/>
          <p:cNvSpPr txBox="1"/>
          <p:nvPr/>
        </p:nvSpPr>
        <p:spPr>
          <a:xfrm>
            <a:off x="5166360" y="1737360"/>
            <a:ext cx="1828800" cy="1097280"/>
          </a:xfrm>
          <a:prstGeom prst="rect">
            <a:avLst/>
          </a:prstGeom>
          <a:noFill/>
          <a:ln/>
        </p:spPr>
        <p:txBody>
          <a:bodyPr wrap="square" lIns="0" tIns="0" rIns="0" bIns="0" rtlCol="0" anchor="ctr"/>
          <a:lstStyle/>
          <a:p>
            <a:pPr algn="ctr" indent="0" marL="0">
              <a:buNone/>
            </a:pPr>
            <a:r>
              <a:rPr lang="en-US" sz="1500" b="1" dirty="0">
                <a:solidFill>
                  <a:schemeClr val="tx1"/>
                </a:solidFill>
                <a:latin typeface="Arial" pitchFamily="34" charset="0"/>
                <a:ea typeface="Arial" pitchFamily="34" charset="-122"/>
                <a:cs typeface="Arial" pitchFamily="34" charset="-120"/>
              </a:rPr>
              <a:t>Detectors</a:t>
            </a:r>
            <a:endParaRPr lang="en-US" sz="1500" dirty="0"/>
          </a:p>
          <a:p>
            <a:pPr algn="ctr" indent="0" marL="0">
              <a:buNone/>
            </a:pPr>
            <a:r>
              <a:rPr lang="en-US" sz="1300" dirty="0">
                <a:solidFill>
                  <a:schemeClr val="tx1"/>
                </a:solidFill>
              </a:rPr>
              <a:t>rules + ML model</a:t>
            </a:r>
            <a:endParaRPr lang="en-US" sz="1500" dirty="0"/>
          </a:p>
        </p:txBody>
      </p:sp>
      <p:sp>
        <p:nvSpPr>
          <p:cNvPr id="12" name="Flow arrow 3"/>
          <p:cNvSpPr/>
          <p:nvPr/>
        </p:nvSpPr>
        <p:spPr>
          <a:xfrm>
            <a:off x="7059168" y="2286000"/>
            <a:ext cx="329184" cy="0"/>
          </a:xfrm>
          <a:prstGeom prst="line">
            <a:avLst/>
          </a:prstGeom>
          <a:noFill/>
          <a:ln w="25400">
            <a:solidFill>
              <a:srgbClr val="334155"/>
            </a:solidFill>
            <a:prstDash val="solid"/>
            <a:tailEnd type="triangle"/>
          </a:ln>
        </p:spPr>
      </p:sp>
      <p:sp>
        <p:nvSpPr>
          <p:cNvPr id="13" name="Event log box"/>
          <p:cNvSpPr/>
          <p:nvPr/>
        </p:nvSpPr>
        <p:spPr>
          <a:xfrm>
            <a:off x="7406640" y="1737360"/>
            <a:ext cx="1920240" cy="1097280"/>
          </a:xfrm>
          <a:prstGeom prst="roundRect">
            <a:avLst>
              <a:gd name="adj" fmla="val 10000"/>
            </a:avLst>
          </a:prstGeom>
          <a:solidFill>
            <a:schemeClr val="bg2"/>
          </a:solidFill>
          <a:ln w="12700">
            <a:solidFill>
              <a:schemeClr val="bg2">
                <a:alpha val="0"/>
              </a:schemeClr>
            </a:solidFill>
            <a:prstDash val="solid"/>
          </a:ln>
        </p:spPr>
      </p:sp>
      <p:sp>
        <p:nvSpPr>
          <p:cNvPr id="14" name="Text 12"/>
          <p:cNvSpPr txBox="1"/>
          <p:nvPr/>
        </p:nvSpPr>
        <p:spPr>
          <a:xfrm>
            <a:off x="7452360" y="1737360"/>
            <a:ext cx="1828800" cy="1097280"/>
          </a:xfrm>
          <a:prstGeom prst="rect">
            <a:avLst/>
          </a:prstGeom>
          <a:noFill/>
          <a:ln/>
        </p:spPr>
        <p:txBody>
          <a:bodyPr wrap="square" lIns="0" tIns="0" rIns="0" bIns="0" rtlCol="0" anchor="ctr"/>
          <a:lstStyle/>
          <a:p>
            <a:pPr algn="ctr" indent="0" marL="0">
              <a:buNone/>
            </a:pPr>
            <a:r>
              <a:rPr lang="en-US" sz="1500" b="1" dirty="0">
                <a:solidFill>
                  <a:schemeClr val="tx1"/>
                </a:solidFill>
                <a:latin typeface="Arial" pitchFamily="34" charset="0"/>
                <a:ea typeface="Arial" pitchFamily="34" charset="-122"/>
                <a:cs typeface="Arial" pitchFamily="34" charset="-120"/>
              </a:rPr>
              <a:t>Event log</a:t>
            </a:r>
            <a:endParaRPr lang="en-US" sz="1500" dirty="0"/>
          </a:p>
          <a:p>
            <a:pPr algn="ctr" indent="0" marL="0">
              <a:buNone/>
            </a:pPr>
            <a:r>
              <a:rPr lang="en-US" sz="1300" dirty="0">
                <a:solidFill>
                  <a:schemeClr val="tx1"/>
                </a:solidFill>
              </a:rPr>
              <a:t>SQLite</a:t>
            </a:r>
            <a:endParaRPr lang="en-US" sz="1500" dirty="0"/>
          </a:p>
        </p:txBody>
      </p:sp>
      <p:sp>
        <p:nvSpPr>
          <p:cNvPr id="15" name="Flow arrow 4"/>
          <p:cNvSpPr/>
          <p:nvPr/>
        </p:nvSpPr>
        <p:spPr>
          <a:xfrm>
            <a:off x="9345168" y="2286000"/>
            <a:ext cx="329184" cy="0"/>
          </a:xfrm>
          <a:prstGeom prst="line">
            <a:avLst/>
          </a:prstGeom>
          <a:noFill/>
          <a:ln w="25400">
            <a:solidFill>
              <a:srgbClr val="334155"/>
            </a:solidFill>
            <a:prstDash val="solid"/>
            <a:tailEnd type="triangle"/>
          </a:ln>
        </p:spPr>
      </p:sp>
      <p:sp>
        <p:nvSpPr>
          <p:cNvPr id="16" name="Dashboard box"/>
          <p:cNvSpPr/>
          <p:nvPr/>
        </p:nvSpPr>
        <p:spPr>
          <a:xfrm>
            <a:off x="9692640" y="1737360"/>
            <a:ext cx="1920240" cy="1097280"/>
          </a:xfrm>
          <a:prstGeom prst="roundRect">
            <a:avLst>
              <a:gd name="adj" fmla="val 10000"/>
            </a:avLst>
          </a:prstGeom>
          <a:solidFill>
            <a:schemeClr val="bg2"/>
          </a:solidFill>
          <a:ln w="12700">
            <a:solidFill>
              <a:schemeClr val="bg2">
                <a:alpha val="0"/>
              </a:schemeClr>
            </a:solidFill>
            <a:prstDash val="solid"/>
          </a:ln>
        </p:spPr>
      </p:sp>
      <p:sp>
        <p:nvSpPr>
          <p:cNvPr id="17" name="Text 15"/>
          <p:cNvSpPr txBox="1"/>
          <p:nvPr/>
        </p:nvSpPr>
        <p:spPr>
          <a:xfrm>
            <a:off x="9738360" y="1737360"/>
            <a:ext cx="1828800" cy="1097280"/>
          </a:xfrm>
          <a:prstGeom prst="rect">
            <a:avLst/>
          </a:prstGeom>
          <a:noFill/>
          <a:ln/>
        </p:spPr>
        <p:txBody>
          <a:bodyPr wrap="square" lIns="0" tIns="0" rIns="0" bIns="0" rtlCol="0" anchor="ctr"/>
          <a:lstStyle/>
          <a:p>
            <a:pPr algn="ctr" indent="0" marL="0">
              <a:buNone/>
            </a:pPr>
            <a:r>
              <a:rPr lang="en-US" sz="1500" b="1" dirty="0">
                <a:solidFill>
                  <a:schemeClr val="tx1"/>
                </a:solidFill>
                <a:latin typeface="Arial" pitchFamily="34" charset="0"/>
                <a:ea typeface="Arial" pitchFamily="34" charset="-122"/>
                <a:cs typeface="Arial" pitchFamily="34" charset="-120"/>
              </a:rPr>
              <a:t>Dashboard</a:t>
            </a:r>
            <a:endParaRPr lang="en-US" sz="1500" dirty="0"/>
          </a:p>
          <a:p>
            <a:pPr algn="ctr" indent="0" marL="0">
              <a:buNone/>
            </a:pPr>
            <a:r>
              <a:rPr lang="en-US" sz="1300" dirty="0">
                <a:solidFill>
                  <a:schemeClr val="tx1"/>
                </a:solidFill>
              </a:rPr>
              <a:t>UI + assistant</a:t>
            </a:r>
            <a:endParaRPr lang="en-US" sz="1500" dirty="0"/>
          </a:p>
        </p:txBody>
      </p:sp>
      <p:sp>
        <p:nvSpPr>
          <p:cNvPr id="18" name="Demo app box"/>
          <p:cNvSpPr/>
          <p:nvPr/>
        </p:nvSpPr>
        <p:spPr>
          <a:xfrm>
            <a:off x="2834640" y="3429000"/>
            <a:ext cx="1920240" cy="822960"/>
          </a:xfrm>
          <a:prstGeom prst="roundRect">
            <a:avLst>
              <a:gd name="adj" fmla="val 13333"/>
            </a:avLst>
          </a:prstGeom>
          <a:solidFill>
            <a:schemeClr val="bg2"/>
          </a:solidFill>
          <a:ln w="12700">
            <a:solidFill>
              <a:schemeClr val="bg2">
                <a:alpha val="0"/>
              </a:schemeClr>
            </a:solidFill>
            <a:prstDash val="solid"/>
          </a:ln>
        </p:spPr>
      </p:sp>
      <p:sp>
        <p:nvSpPr>
          <p:cNvPr id="19" name="Text 17"/>
          <p:cNvSpPr txBox="1"/>
          <p:nvPr/>
        </p:nvSpPr>
        <p:spPr>
          <a:xfrm>
            <a:off x="2926080" y="3429000"/>
            <a:ext cx="1737360" cy="822960"/>
          </a:xfrm>
          <a:prstGeom prst="rect">
            <a:avLst/>
          </a:prstGeom>
          <a:noFill/>
          <a:ln/>
        </p:spPr>
        <p:txBody>
          <a:bodyPr wrap="square" lIns="0" tIns="0" rIns="0" bIns="0" rtlCol="0" anchor="ctr"/>
          <a:lstStyle/>
          <a:p>
            <a:pPr algn="ctr" indent="0" marL="0">
              <a:buNone/>
            </a:pPr>
            <a:r>
              <a:rPr lang="en-US" sz="1400" b="1" dirty="0">
                <a:solidFill>
                  <a:schemeClr val="tx1"/>
                </a:solidFill>
              </a:rPr>
              <a:t>Demo app</a:t>
            </a:r>
            <a:endParaRPr lang="en-US" sz="1400" dirty="0"/>
          </a:p>
          <a:p>
            <a:pPr algn="ctr" indent="0" marL="0">
              <a:buNone/>
            </a:pPr>
            <a:r>
              <a:rPr lang="en-US" sz="1400" dirty="0">
                <a:solidFill>
                  <a:schemeClr val="tx1"/>
                </a:solidFill>
              </a:rPr>
              <a:t>answers if allowed</a:t>
            </a:r>
            <a:endParaRPr lang="en-US" sz="1400" dirty="0"/>
          </a:p>
        </p:txBody>
      </p:sp>
      <p:sp>
        <p:nvSpPr>
          <p:cNvPr id="20" name="Allowed arrow"/>
          <p:cNvSpPr/>
          <p:nvPr/>
        </p:nvSpPr>
        <p:spPr>
          <a:xfrm>
            <a:off x="3794760" y="2852928"/>
            <a:ext cx="0" cy="548640"/>
          </a:xfrm>
          <a:prstGeom prst="line">
            <a:avLst/>
          </a:prstGeom>
          <a:noFill/>
          <a:ln w="25400">
            <a:solidFill>
              <a:srgbClr val="0D9488"/>
            </a:solidFill>
            <a:prstDash val="solid"/>
            <a:tailEnd type="triangle"/>
          </a:ln>
        </p:spPr>
      </p:sp>
      <p:sp>
        <p:nvSpPr>
          <p:cNvPr id="21" name="AI box"/>
          <p:cNvSpPr/>
          <p:nvPr/>
        </p:nvSpPr>
        <p:spPr>
          <a:xfrm>
            <a:off x="9692640" y="3429000"/>
            <a:ext cx="1920240" cy="822960"/>
          </a:xfrm>
          <a:prstGeom prst="roundRect">
            <a:avLst>
              <a:gd name="adj" fmla="val 13333"/>
            </a:avLst>
          </a:prstGeom>
          <a:solidFill>
            <a:schemeClr val="bg1"/>
          </a:solidFill>
          <a:ln w="12700">
            <a:solidFill>
              <a:srgbClr val="CBD5E1"/>
            </a:solidFill>
            <a:prstDash val="solid"/>
          </a:ln>
        </p:spPr>
      </p:sp>
      <p:sp>
        <p:nvSpPr>
          <p:cNvPr id="22" name="Text 20"/>
          <p:cNvSpPr txBox="1"/>
          <p:nvPr/>
        </p:nvSpPr>
        <p:spPr>
          <a:xfrm>
            <a:off x="9784080" y="3429000"/>
            <a:ext cx="1737360" cy="822960"/>
          </a:xfrm>
          <a:prstGeom prst="rect">
            <a:avLst/>
          </a:prstGeom>
          <a:noFill/>
          <a:ln/>
        </p:spPr>
        <p:txBody>
          <a:bodyPr wrap="square" lIns="0" tIns="0" rIns="0" bIns="0" rtlCol="0" anchor="ctr"/>
          <a:lstStyle/>
          <a:p>
            <a:pPr algn="ctr" indent="0" marL="0">
              <a:buNone/>
            </a:pPr>
            <a:r>
              <a:rPr lang="en-US" sz="1400" b="1" dirty="0">
                <a:solidFill>
                  <a:schemeClr val="tx1"/>
                </a:solidFill>
              </a:rPr>
              <a:t>Gemini / Groq</a:t>
            </a:r>
            <a:endParaRPr lang="en-US" sz="1400" dirty="0"/>
          </a:p>
          <a:p>
            <a:pPr algn="ctr" indent="0" marL="0">
              <a:buNone/>
            </a:pPr>
            <a:r>
              <a:rPr lang="en-US" sz="1400" dirty="0">
                <a:solidFill>
                  <a:schemeClr val="tx1"/>
                </a:solidFill>
              </a:rPr>
              <a:t>optional AI</a:t>
            </a:r>
            <a:endParaRPr lang="en-US" sz="1400" dirty="0"/>
          </a:p>
        </p:txBody>
      </p:sp>
      <p:sp>
        <p:nvSpPr>
          <p:cNvPr id="23" name="AI arrow"/>
          <p:cNvSpPr/>
          <p:nvPr/>
        </p:nvSpPr>
        <p:spPr>
          <a:xfrm>
            <a:off x="10652760" y="2852928"/>
            <a:ext cx="0" cy="548640"/>
          </a:xfrm>
          <a:prstGeom prst="line">
            <a:avLst/>
          </a:prstGeom>
          <a:noFill/>
          <a:ln w="19050">
            <a:solidFill>
              <a:srgbClr val="334155"/>
            </a:solidFill>
            <a:prstDash val="dash"/>
            <a:tailEnd type="triangle"/>
          </a:ln>
        </p:spPr>
      </p:sp>
      <p:sp>
        <p:nvSpPr>
          <p:cNvPr id="24" name="Text 22"/>
          <p:cNvSpPr txBox="1"/>
          <p:nvPr/>
        </p:nvSpPr>
        <p:spPr>
          <a:xfrm>
            <a:off x="5029200" y="3611880"/>
            <a:ext cx="4389120" cy="457200"/>
          </a:xfrm>
          <a:prstGeom prst="rect">
            <a:avLst/>
          </a:prstGeom>
          <a:noFill/>
          <a:ln/>
        </p:spPr>
        <p:txBody>
          <a:bodyPr wrap="square" lIns="0" tIns="0" rIns="0" bIns="0" rtlCol="0" anchor="t"/>
          <a:lstStyle/>
          <a:p>
            <a:pPr indent="0" marL="0">
              <a:buNone/>
            </a:pPr>
            <a:r>
              <a:rPr lang="en-US" sz="1400" i="1" dirty="0">
                <a:solidFill>
                  <a:schemeClr val="tx2"/>
                </a:solidFill>
              </a:rPr>
              <a:t>Blocked requests never reach the demo app</a:t>
            </a:r>
            <a:endParaRPr lang="en-US" sz="1400" dirty="0"/>
          </a:p>
        </p:txBody>
      </p:sp>
      <p:sp>
        <p:nvSpPr>
          <p:cNvPr id="25" name="Step 1"/>
          <p:cNvSpPr/>
          <p:nvPr/>
        </p:nvSpPr>
        <p:spPr>
          <a:xfrm>
            <a:off x="548640" y="4617720"/>
            <a:ext cx="3611880" cy="1417320"/>
          </a:xfrm>
          <a:prstGeom prst="roundRect">
            <a:avLst>
              <a:gd name="adj" fmla="val 7742"/>
            </a:avLst>
          </a:prstGeom>
          <a:solidFill>
            <a:schemeClr val="bg2"/>
          </a:solidFill>
          <a:ln w="12700">
            <a:solidFill>
              <a:schemeClr val="bg2">
                <a:alpha val="0"/>
              </a:schemeClr>
            </a:solidFill>
            <a:prstDash val="solid"/>
          </a:ln>
        </p:spPr>
      </p:sp>
      <p:sp>
        <p:nvSpPr>
          <p:cNvPr id="26" name="Step number 1"/>
          <p:cNvSpPr/>
          <p:nvPr/>
        </p:nvSpPr>
        <p:spPr>
          <a:xfrm>
            <a:off x="777240" y="4846320"/>
            <a:ext cx="457200" cy="457200"/>
          </a:xfrm>
          <a:prstGeom prst="ellipse">
            <a:avLst/>
          </a:prstGeom>
          <a:solidFill>
            <a:srgbClr val="2563EB"/>
          </a:solidFill>
          <a:ln w="12700">
            <a:solidFill>
              <a:srgbClr val="2563EB"/>
            </a:solidFill>
            <a:prstDash val="solid"/>
          </a:ln>
        </p:spPr>
      </p:sp>
      <p:sp>
        <p:nvSpPr>
          <p:cNvPr id="27" name="Text 25"/>
          <p:cNvSpPr txBox="1"/>
          <p:nvPr/>
        </p:nvSpPr>
        <p:spPr>
          <a:xfrm>
            <a:off x="777240" y="4846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8" name="Text 26"/>
          <p:cNvSpPr txBox="1"/>
          <p:nvPr/>
        </p:nvSpPr>
        <p:spPr>
          <a:xfrm>
            <a:off x="1417320" y="4828032"/>
            <a:ext cx="256032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Send</a:t>
            </a:r>
            <a:endParaRPr lang="en-US" sz="1800" dirty="0"/>
          </a:p>
        </p:txBody>
      </p:sp>
      <p:sp>
        <p:nvSpPr>
          <p:cNvPr id="29" name="Text 27"/>
          <p:cNvSpPr txBox="1"/>
          <p:nvPr/>
        </p:nvSpPr>
        <p:spPr>
          <a:xfrm>
            <a:off x="1417320" y="5230368"/>
            <a:ext cx="2606040" cy="731520"/>
          </a:xfrm>
          <a:prstGeom prst="rect">
            <a:avLst/>
          </a:prstGeom>
          <a:noFill/>
          <a:ln/>
        </p:spPr>
        <p:txBody>
          <a:bodyPr wrap="square" lIns="0" tIns="0" rIns="0" bIns="0" rtlCol="0" anchor="t"/>
          <a:lstStyle/>
          <a:p>
            <a:pPr indent="0" marL="0">
              <a:buNone/>
            </a:pPr>
            <a:r>
              <a:rPr lang="en-US" sz="1400" dirty="0">
                <a:solidFill>
                  <a:schemeClr val="tx2"/>
                </a:solidFill>
              </a:rPr>
              <a:t>The Lab (or any browser) calls the demo app under /demo/*.</a:t>
            </a:r>
            <a:endParaRPr lang="en-US" sz="1400" dirty="0"/>
          </a:p>
        </p:txBody>
      </p:sp>
      <p:sp>
        <p:nvSpPr>
          <p:cNvPr id="30" name="Step 2"/>
          <p:cNvSpPr/>
          <p:nvPr/>
        </p:nvSpPr>
        <p:spPr>
          <a:xfrm>
            <a:off x="4274820" y="4617720"/>
            <a:ext cx="3611880" cy="1417320"/>
          </a:xfrm>
          <a:prstGeom prst="roundRect">
            <a:avLst>
              <a:gd name="adj" fmla="val 7742"/>
            </a:avLst>
          </a:prstGeom>
          <a:solidFill>
            <a:schemeClr val="bg2"/>
          </a:solidFill>
          <a:ln w="12700">
            <a:solidFill>
              <a:schemeClr val="bg2">
                <a:alpha val="0"/>
              </a:schemeClr>
            </a:solidFill>
            <a:prstDash val="solid"/>
          </a:ln>
        </p:spPr>
      </p:sp>
      <p:sp>
        <p:nvSpPr>
          <p:cNvPr id="31" name="Step number 2"/>
          <p:cNvSpPr/>
          <p:nvPr/>
        </p:nvSpPr>
        <p:spPr>
          <a:xfrm>
            <a:off x="4503420" y="4846320"/>
            <a:ext cx="457200" cy="457200"/>
          </a:xfrm>
          <a:prstGeom prst="ellipse">
            <a:avLst/>
          </a:prstGeom>
          <a:solidFill>
            <a:srgbClr val="2563EB"/>
          </a:solidFill>
          <a:ln w="12700">
            <a:solidFill>
              <a:srgbClr val="2563EB"/>
            </a:solidFill>
            <a:prstDash val="solid"/>
          </a:ln>
        </p:spPr>
      </p:sp>
      <p:sp>
        <p:nvSpPr>
          <p:cNvPr id="32" name="Text 30"/>
          <p:cNvSpPr txBox="1"/>
          <p:nvPr/>
        </p:nvSpPr>
        <p:spPr>
          <a:xfrm>
            <a:off x="4503420" y="4846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3" name="Text 31"/>
          <p:cNvSpPr txBox="1"/>
          <p:nvPr/>
        </p:nvSpPr>
        <p:spPr>
          <a:xfrm>
            <a:off x="5143500" y="4828032"/>
            <a:ext cx="256032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Check</a:t>
            </a:r>
            <a:endParaRPr lang="en-US" sz="1800" dirty="0"/>
          </a:p>
        </p:txBody>
      </p:sp>
      <p:sp>
        <p:nvSpPr>
          <p:cNvPr id="34" name="Text 32"/>
          <p:cNvSpPr txBox="1"/>
          <p:nvPr/>
        </p:nvSpPr>
        <p:spPr>
          <a:xfrm>
            <a:off x="5143500" y="5230368"/>
            <a:ext cx="2606040" cy="731520"/>
          </a:xfrm>
          <a:prstGeom prst="rect">
            <a:avLst/>
          </a:prstGeom>
          <a:noFill/>
          <a:ln/>
        </p:spPr>
        <p:txBody>
          <a:bodyPr wrap="square" lIns="0" tIns="0" rIns="0" bIns="0" rtlCol="0" anchor="t"/>
          <a:lstStyle/>
          <a:p>
            <a:pPr indent="0" marL="0">
              <a:buNone/>
            </a:pPr>
            <a:r>
              <a:rPr lang="en-US" sz="1400" dirty="0">
                <a:solidFill>
                  <a:schemeClr val="tx2"/>
                </a:solidFill>
              </a:rPr>
              <a:t>Every request passes 4 checks: locked? → rate → input scan → failed logins.</a:t>
            </a:r>
            <a:endParaRPr lang="en-US" sz="1400" dirty="0"/>
          </a:p>
        </p:txBody>
      </p:sp>
      <p:sp>
        <p:nvSpPr>
          <p:cNvPr id="35" name="Step 3"/>
          <p:cNvSpPr/>
          <p:nvPr/>
        </p:nvSpPr>
        <p:spPr>
          <a:xfrm>
            <a:off x="8001000" y="4617720"/>
            <a:ext cx="3611880" cy="1417320"/>
          </a:xfrm>
          <a:prstGeom prst="roundRect">
            <a:avLst>
              <a:gd name="adj" fmla="val 7742"/>
            </a:avLst>
          </a:prstGeom>
          <a:solidFill>
            <a:schemeClr val="bg2"/>
          </a:solidFill>
          <a:ln w="12700">
            <a:solidFill>
              <a:schemeClr val="bg2">
                <a:alpha val="0"/>
              </a:schemeClr>
            </a:solidFill>
            <a:prstDash val="solid"/>
          </a:ln>
        </p:spPr>
      </p:sp>
      <p:sp>
        <p:nvSpPr>
          <p:cNvPr id="36" name="Step number 3"/>
          <p:cNvSpPr/>
          <p:nvPr/>
        </p:nvSpPr>
        <p:spPr>
          <a:xfrm>
            <a:off x="8229600" y="4846320"/>
            <a:ext cx="457200" cy="457200"/>
          </a:xfrm>
          <a:prstGeom prst="ellipse">
            <a:avLst/>
          </a:prstGeom>
          <a:solidFill>
            <a:srgbClr val="2563EB"/>
          </a:solidFill>
          <a:ln w="12700">
            <a:solidFill>
              <a:srgbClr val="2563EB"/>
            </a:solidFill>
            <a:prstDash val="solid"/>
          </a:ln>
        </p:spPr>
      </p:sp>
      <p:sp>
        <p:nvSpPr>
          <p:cNvPr id="37" name="Text 35"/>
          <p:cNvSpPr txBox="1"/>
          <p:nvPr/>
        </p:nvSpPr>
        <p:spPr>
          <a:xfrm>
            <a:off x="8229600" y="4846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8" name="Text 36"/>
          <p:cNvSpPr txBox="1"/>
          <p:nvPr/>
        </p:nvSpPr>
        <p:spPr>
          <a:xfrm>
            <a:off x="8869680" y="4828032"/>
            <a:ext cx="256032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Explain</a:t>
            </a:r>
            <a:endParaRPr lang="en-US" sz="1800" dirty="0"/>
          </a:p>
        </p:txBody>
      </p:sp>
      <p:sp>
        <p:nvSpPr>
          <p:cNvPr id="39" name="Text 37"/>
          <p:cNvSpPr txBox="1"/>
          <p:nvPr/>
        </p:nvSpPr>
        <p:spPr>
          <a:xfrm>
            <a:off x="8869680" y="5230368"/>
            <a:ext cx="2606040" cy="731520"/>
          </a:xfrm>
          <a:prstGeom prst="rect">
            <a:avLst/>
          </a:prstGeom>
          <a:noFill/>
          <a:ln/>
        </p:spPr>
        <p:txBody>
          <a:bodyPr wrap="square" lIns="0" tIns="0" rIns="0" bIns="0" rtlCol="0" anchor="t"/>
          <a:lstStyle/>
          <a:p>
            <a:pPr indent="0" marL="0">
              <a:buNone/>
            </a:pPr>
            <a:r>
              <a:rPr lang="en-US" sz="1400" dirty="0">
                <a:solidFill>
                  <a:schemeClr val="tx2"/>
                </a:solidFill>
              </a:rPr>
              <a:t>Each event is logged with its evidence and a plain reason, shown live.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5"/>
                </a:solidFill>
              </a:rPr>
              <a:t>RULES + MACHINE LEARNING</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bg1"/>
                </a:solidFill>
              </a:rPr>
              <a:t>The model catches what the rules miss</a:t>
            </a:r>
            <a:endParaRPr lang="en-US" sz="3200" dirty="0"/>
          </a:p>
        </p:txBody>
      </p:sp>
      <p:sp>
        <p:nvSpPr>
          <p:cNvPr id="4" name="Recall card"/>
          <p:cNvSpPr/>
          <p:nvPr/>
        </p:nvSpPr>
        <p:spPr>
          <a:xfrm>
            <a:off x="548640" y="1691640"/>
            <a:ext cx="5669280" cy="3017520"/>
          </a:xfrm>
          <a:prstGeom prst="roundRect">
            <a:avLst>
              <a:gd name="adj" fmla="val 3636"/>
            </a:avLst>
          </a:prstGeom>
          <a:solidFill>
            <a:schemeClr val="tx2">
              <a:alpha val="55000"/>
            </a:schemeClr>
          </a:solidFill>
          <a:ln w="12700">
            <a:solidFill>
              <a:schemeClr val="tx2">
                <a:alpha val="0"/>
              </a:schemeClr>
            </a:solidFill>
            <a:prstDash val="solid"/>
          </a:ln>
        </p:spPr>
      </p:sp>
      <p:sp>
        <p:nvSpPr>
          <p:cNvPr id="5" name="Text 3"/>
          <p:cNvSpPr txBox="1"/>
          <p:nvPr/>
        </p:nvSpPr>
        <p:spPr>
          <a:xfrm>
            <a:off x="868680" y="1920240"/>
            <a:ext cx="5120640" cy="365760"/>
          </a:xfrm>
          <a:prstGeom prst="rect">
            <a:avLst/>
          </a:prstGeom>
          <a:noFill/>
          <a:ln/>
        </p:spPr>
        <p:txBody>
          <a:bodyPr wrap="square" lIns="0" tIns="0" rIns="0" bIns="0" rtlCol="0" anchor="t"/>
          <a:lstStyle/>
          <a:p>
            <a:pPr indent="0" marL="0">
              <a:buNone/>
            </a:pPr>
            <a:r>
              <a:rPr lang="en-US" sz="1600" dirty="0">
                <a:solidFill>
                  <a:schemeClr val="bg2"/>
                </a:solidFill>
              </a:rPr>
              <a:t>Recall on 2,256 held-out attacks</a:t>
            </a:r>
            <a:endParaRPr lang="en-US" sz="1600" dirty="0"/>
          </a:p>
        </p:txBody>
      </p:sp>
      <p:sp>
        <p:nvSpPr>
          <p:cNvPr id="6" name="Text 4"/>
          <p:cNvSpPr txBox="1"/>
          <p:nvPr/>
        </p:nvSpPr>
        <p:spPr>
          <a:xfrm>
            <a:off x="868680" y="2423160"/>
            <a:ext cx="2194560" cy="914400"/>
          </a:xfrm>
          <a:prstGeom prst="rect">
            <a:avLst/>
          </a:prstGeom>
          <a:noFill/>
          <a:ln/>
        </p:spPr>
        <p:txBody>
          <a:bodyPr wrap="square" lIns="0" tIns="0" rIns="0" bIns="0" rtlCol="0" anchor="t"/>
          <a:lstStyle/>
          <a:p>
            <a:pPr indent="0" marL="0">
              <a:buNone/>
            </a:pPr>
            <a:r>
              <a:rPr lang="en-US" sz="4800" b="1" dirty="0">
                <a:solidFill>
                  <a:schemeClr val="bg2"/>
                </a:solidFill>
                <a:latin typeface="Arial" pitchFamily="34" charset="0"/>
                <a:ea typeface="Arial" pitchFamily="34" charset="-122"/>
                <a:cs typeface="Arial" pitchFamily="34" charset="-120"/>
              </a:rPr>
              <a:t>31.1%</a:t>
            </a:r>
            <a:endParaRPr lang="en-US" sz="4800" dirty="0"/>
          </a:p>
        </p:txBody>
      </p:sp>
      <p:sp>
        <p:nvSpPr>
          <p:cNvPr id="7" name="Text 5"/>
          <p:cNvSpPr txBox="1"/>
          <p:nvPr/>
        </p:nvSpPr>
        <p:spPr>
          <a:xfrm>
            <a:off x="868680" y="3337560"/>
            <a:ext cx="2194560" cy="365760"/>
          </a:xfrm>
          <a:prstGeom prst="rect">
            <a:avLst/>
          </a:prstGeom>
          <a:noFill/>
          <a:ln/>
        </p:spPr>
        <p:txBody>
          <a:bodyPr wrap="square" lIns="0" tIns="0" rIns="0" bIns="0" rtlCol="0" anchor="t"/>
          <a:lstStyle/>
          <a:p>
            <a:pPr indent="0" marL="0">
              <a:buNone/>
            </a:pPr>
            <a:r>
              <a:rPr lang="en-US" sz="1600" dirty="0">
                <a:solidFill>
                  <a:schemeClr val="bg2"/>
                </a:solidFill>
              </a:rPr>
              <a:t>rules only</a:t>
            </a:r>
            <a:endParaRPr lang="en-US" sz="1600" dirty="0"/>
          </a:p>
        </p:txBody>
      </p:sp>
      <p:sp>
        <p:nvSpPr>
          <p:cNvPr id="8" name="Improvement arrow"/>
          <p:cNvSpPr/>
          <p:nvPr/>
        </p:nvSpPr>
        <p:spPr>
          <a:xfrm>
            <a:off x="2926080" y="2697480"/>
            <a:ext cx="731520" cy="411480"/>
          </a:xfrm>
          <a:prstGeom prst="rightArrow">
            <a:avLst/>
          </a:prstGeom>
          <a:solidFill>
            <a:srgbClr val="3DE6FF"/>
          </a:solidFill>
          <a:ln w="12700">
            <a:solidFill>
              <a:srgbClr val="3DE6FF"/>
            </a:solidFill>
            <a:prstDash val="solid"/>
          </a:ln>
        </p:spPr>
      </p:sp>
      <p:sp>
        <p:nvSpPr>
          <p:cNvPr id="9" name="Text 7"/>
          <p:cNvSpPr txBox="1"/>
          <p:nvPr/>
        </p:nvSpPr>
        <p:spPr>
          <a:xfrm>
            <a:off x="3840480" y="2423160"/>
            <a:ext cx="2194560" cy="914400"/>
          </a:xfrm>
          <a:prstGeom prst="rect">
            <a:avLst/>
          </a:prstGeom>
          <a:noFill/>
          <a:ln/>
        </p:spPr>
        <p:txBody>
          <a:bodyPr wrap="square" lIns="0" tIns="0" rIns="0" bIns="0" rtlCol="0" anchor="t"/>
          <a:lstStyle/>
          <a:p>
            <a:pPr indent="0" marL="0">
              <a:buNone/>
            </a:pPr>
            <a:r>
              <a:rPr lang="en-US" sz="4800" b="1" dirty="0">
                <a:solidFill>
                  <a:schemeClr val="accent5"/>
                </a:solidFill>
                <a:latin typeface="Arial" pitchFamily="34" charset="0"/>
                <a:ea typeface="Arial" pitchFamily="34" charset="-122"/>
                <a:cs typeface="Arial" pitchFamily="34" charset="-120"/>
              </a:rPr>
              <a:t>98.3%</a:t>
            </a:r>
            <a:endParaRPr lang="en-US" sz="4800" dirty="0"/>
          </a:p>
        </p:txBody>
      </p:sp>
      <p:sp>
        <p:nvSpPr>
          <p:cNvPr id="10" name="Text 8"/>
          <p:cNvSpPr txBox="1"/>
          <p:nvPr/>
        </p:nvSpPr>
        <p:spPr>
          <a:xfrm>
            <a:off x="3840480" y="3337560"/>
            <a:ext cx="2194560" cy="365760"/>
          </a:xfrm>
          <a:prstGeom prst="rect">
            <a:avLst/>
          </a:prstGeom>
          <a:noFill/>
          <a:ln/>
        </p:spPr>
        <p:txBody>
          <a:bodyPr wrap="square" lIns="0" tIns="0" rIns="0" bIns="0" rtlCol="0" anchor="t"/>
          <a:lstStyle/>
          <a:p>
            <a:pPr indent="0" marL="0">
              <a:buNone/>
            </a:pPr>
            <a:r>
              <a:rPr lang="en-US" sz="1600" b="1" dirty="0">
                <a:solidFill>
                  <a:schemeClr val="bg1"/>
                </a:solidFill>
              </a:rPr>
              <a:t>rules + ML</a:t>
            </a:r>
            <a:endParaRPr lang="en-US" sz="1600" dirty="0"/>
          </a:p>
        </p:txBody>
      </p:sp>
      <p:sp>
        <p:nvSpPr>
          <p:cNvPr id="11" name="Text 9"/>
          <p:cNvSpPr txBox="1"/>
          <p:nvPr/>
        </p:nvSpPr>
        <p:spPr>
          <a:xfrm>
            <a:off x="868680" y="3977640"/>
            <a:ext cx="5120640" cy="457200"/>
          </a:xfrm>
          <a:prstGeom prst="rect">
            <a:avLst/>
          </a:prstGeom>
          <a:noFill/>
          <a:ln/>
        </p:spPr>
        <p:txBody>
          <a:bodyPr wrap="square" lIns="0" tIns="0" rIns="0" bIns="0" rtlCol="0" anchor="t"/>
          <a:lstStyle/>
          <a:p>
            <a:pPr indent="0" marL="0">
              <a:buNone/>
            </a:pPr>
            <a:r>
              <a:rPr lang="en-US" sz="1800" dirty="0">
                <a:solidFill>
                  <a:schemeClr val="bg1"/>
                </a:solidFill>
              </a:rPr>
              <a:t>Missed attacks: 1,554 → 39</a:t>
            </a:r>
            <a:endParaRPr lang="en-US" sz="1800" dirty="0"/>
          </a:p>
        </p:txBody>
      </p:sp>
      <p:sp>
        <p:nvSpPr>
          <p:cNvPr id="12" name="Text 10"/>
          <p:cNvSpPr txBox="1"/>
          <p:nvPr/>
        </p:nvSpPr>
        <p:spPr>
          <a:xfrm>
            <a:off x="6675120" y="1737360"/>
            <a:ext cx="4937760" cy="365760"/>
          </a:xfrm>
          <a:prstGeom prst="rect">
            <a:avLst/>
          </a:prstGeom>
          <a:noFill/>
          <a:ln/>
        </p:spPr>
        <p:txBody>
          <a:bodyPr wrap="square" lIns="0" tIns="0" rIns="0" bIns="0" rtlCol="0" anchor="t"/>
          <a:lstStyle/>
          <a:p>
            <a:pPr indent="0" marL="0">
              <a:buNone/>
            </a:pPr>
            <a:r>
              <a:rPr lang="en-US" sz="1800" b="1" dirty="0">
                <a:solidFill>
                  <a:schemeClr val="accent5"/>
                </a:solidFill>
                <a:latin typeface="Arial" pitchFamily="34" charset="0"/>
                <a:ea typeface="Arial" pitchFamily="34" charset="-122"/>
                <a:cs typeface="Arial" pitchFamily="34" charset="-120"/>
              </a:rPr>
              <a:t>Rules</a:t>
            </a:r>
            <a:endParaRPr lang="en-US" sz="1800" dirty="0"/>
          </a:p>
        </p:txBody>
      </p:sp>
      <p:sp>
        <p:nvSpPr>
          <p:cNvPr id="13" name="Text 11"/>
          <p:cNvSpPr txBox="1"/>
          <p:nvPr/>
        </p:nvSpPr>
        <p:spPr>
          <a:xfrm>
            <a:off x="6675120" y="2103120"/>
            <a:ext cx="4937760" cy="548640"/>
          </a:xfrm>
          <a:prstGeom prst="rect">
            <a:avLst/>
          </a:prstGeom>
          <a:noFill/>
          <a:ln/>
        </p:spPr>
        <p:txBody>
          <a:bodyPr wrap="square" lIns="0" tIns="0" rIns="0" bIns="0" rtlCol="0" anchor="t"/>
          <a:lstStyle/>
          <a:p>
            <a:pPr indent="0" marL="0">
              <a:buNone/>
            </a:pPr>
            <a:r>
              <a:rPr lang="en-US" sz="1500" dirty="0">
                <a:solidFill>
                  <a:schemeClr val="bg2"/>
                </a:solidFill>
              </a:rPr>
              <a:t>5 SQL injection + 4 XSS patterns. High severity, blocked.</a:t>
            </a:r>
            <a:endParaRPr lang="en-US" sz="1500" dirty="0"/>
          </a:p>
        </p:txBody>
      </p:sp>
      <p:sp>
        <p:nvSpPr>
          <p:cNvPr id="14" name="Text 12"/>
          <p:cNvSpPr txBox="1"/>
          <p:nvPr/>
        </p:nvSpPr>
        <p:spPr>
          <a:xfrm>
            <a:off x="6675120" y="2743200"/>
            <a:ext cx="4937760" cy="365760"/>
          </a:xfrm>
          <a:prstGeom prst="rect">
            <a:avLst/>
          </a:prstGeom>
          <a:noFill/>
          <a:ln/>
        </p:spPr>
        <p:txBody>
          <a:bodyPr wrap="square" lIns="0" tIns="0" rIns="0" bIns="0" rtlCol="0" anchor="t"/>
          <a:lstStyle/>
          <a:p>
            <a:pPr indent="0" marL="0">
              <a:buNone/>
            </a:pPr>
            <a:r>
              <a:rPr lang="en-US" sz="1800" b="1" dirty="0">
                <a:solidFill>
                  <a:schemeClr val="accent5"/>
                </a:solidFill>
                <a:latin typeface="Arial" pitchFamily="34" charset="0"/>
                <a:ea typeface="Arial" pitchFamily="34" charset="-122"/>
                <a:cs typeface="Arial" pitchFamily="34" charset="-120"/>
              </a:rPr>
              <a:t>ML model</a:t>
            </a:r>
            <a:endParaRPr lang="en-US" sz="1800" dirty="0"/>
          </a:p>
        </p:txBody>
      </p:sp>
      <p:sp>
        <p:nvSpPr>
          <p:cNvPr id="15" name="Text 13"/>
          <p:cNvSpPr txBox="1"/>
          <p:nvPr/>
        </p:nvSpPr>
        <p:spPr>
          <a:xfrm>
            <a:off x="6675120" y="3108960"/>
            <a:ext cx="4937760" cy="548640"/>
          </a:xfrm>
          <a:prstGeom prst="rect">
            <a:avLst/>
          </a:prstGeom>
          <a:noFill/>
          <a:ln/>
        </p:spPr>
        <p:txBody>
          <a:bodyPr wrap="square" lIns="0" tIns="0" rIns="0" bIns="0" rtlCol="0" anchor="t"/>
          <a:lstStyle/>
          <a:p>
            <a:pPr indent="0" marL="0">
              <a:buNone/>
            </a:pPr>
            <a:r>
              <a:rPr lang="en-US" sz="1500" dirty="0">
                <a:solidFill>
                  <a:schemeClr val="bg2"/>
                </a:solidFill>
              </a:rPr>
              <a:t>TF-IDF character n-grams + logistic regression on 30,529 rows.</a:t>
            </a:r>
            <a:endParaRPr lang="en-US" sz="1500" dirty="0"/>
          </a:p>
        </p:txBody>
      </p:sp>
      <p:sp>
        <p:nvSpPr>
          <p:cNvPr id="16" name="Text 14"/>
          <p:cNvSpPr txBox="1"/>
          <p:nvPr/>
        </p:nvSpPr>
        <p:spPr>
          <a:xfrm>
            <a:off x="6675120" y="3749040"/>
            <a:ext cx="4937760" cy="365760"/>
          </a:xfrm>
          <a:prstGeom prst="rect">
            <a:avLst/>
          </a:prstGeom>
          <a:noFill/>
          <a:ln/>
        </p:spPr>
        <p:txBody>
          <a:bodyPr wrap="square" lIns="0" tIns="0" rIns="0" bIns="0" rtlCol="0" anchor="t"/>
          <a:lstStyle/>
          <a:p>
            <a:pPr indent="0" marL="0">
              <a:buNone/>
            </a:pPr>
            <a:r>
              <a:rPr lang="en-US" sz="1800" b="1" dirty="0">
                <a:solidFill>
                  <a:schemeClr val="accent5"/>
                </a:solidFill>
                <a:latin typeface="Arial" pitchFamily="34" charset="0"/>
                <a:ea typeface="Arial" pitchFamily="34" charset="-122"/>
                <a:cs typeface="Arial" pitchFamily="34" charset="-120"/>
              </a:rPr>
              <a:t>Model only</a:t>
            </a:r>
            <a:endParaRPr lang="en-US" sz="1800" dirty="0"/>
          </a:p>
        </p:txBody>
      </p:sp>
      <p:sp>
        <p:nvSpPr>
          <p:cNvPr id="17" name="Text 15"/>
          <p:cNvSpPr txBox="1"/>
          <p:nvPr/>
        </p:nvSpPr>
        <p:spPr>
          <a:xfrm>
            <a:off x="6675120" y="4114800"/>
            <a:ext cx="4937760" cy="548640"/>
          </a:xfrm>
          <a:prstGeom prst="rect">
            <a:avLst/>
          </a:prstGeom>
          <a:noFill/>
          <a:ln/>
        </p:spPr>
        <p:txBody>
          <a:bodyPr wrap="square" lIns="0" tIns="0" rIns="0" bIns="0" rtlCol="0" anchor="t"/>
          <a:lstStyle/>
          <a:p>
            <a:pPr indent="0" marL="0">
              <a:buNone/>
            </a:pPr>
            <a:r>
              <a:rPr lang="en-US" sz="1500" dirty="0">
                <a:solidFill>
                  <a:schemeClr val="bg2"/>
                </a:solidFill>
              </a:rPr>
              <a:t>Score ≥ 0.70 is flagged for review, never auto-blocked.</a:t>
            </a:r>
            <a:endParaRPr lang="en-US" sz="1500" dirty="0"/>
          </a:p>
        </p:txBody>
      </p:sp>
      <p:sp>
        <p:nvSpPr>
          <p:cNvPr id="18" name="Text 16"/>
          <p:cNvSpPr txBox="1"/>
          <p:nvPr/>
        </p:nvSpPr>
        <p:spPr>
          <a:xfrm>
            <a:off x="548640" y="5074920"/>
            <a:ext cx="11064240" cy="457200"/>
          </a:xfrm>
          <a:prstGeom prst="rect">
            <a:avLst/>
          </a:prstGeom>
          <a:noFill/>
          <a:ln/>
        </p:spPr>
        <p:txBody>
          <a:bodyPr wrap="square" lIns="0" tIns="0" rIns="0" bIns="0" rtlCol="0" anchor="t"/>
          <a:lstStyle/>
          <a:p>
            <a:pPr indent="0" marL="0">
              <a:buNone/>
            </a:pPr>
            <a:r>
              <a:rPr lang="en-US" sz="1400" i="1" dirty="0">
                <a:solidFill>
                  <a:schemeClr val="bg2"/>
                </a:solidFill>
              </a:rPr>
              <a:t>Test split of 6,106 rows (Kaggle SQLiV3). The dataset repeats similar payloads, so real traffic will score lower.</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5"/>
                </a:solidFill>
              </a:rPr>
              <a:t>SENTINELWEB DASHBOARD</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bg1"/>
                </a:solidFill>
              </a:rPr>
              <a:t>Every alert explains itself</a:t>
            </a:r>
            <a:endParaRPr lang="en-US" sz="3200" dirty="0"/>
          </a:p>
        </p:txBody>
      </p:sp>
      <p:sp>
        <p:nvSpPr>
          <p:cNvPr id="4" name="Overview screenshot frame"/>
          <p:cNvSpPr/>
          <p:nvPr/>
        </p:nvSpPr>
        <p:spPr>
          <a:xfrm>
            <a:off x="502920" y="1645920"/>
            <a:ext cx="6035040" cy="3434715"/>
          </a:xfrm>
          <a:prstGeom prst="roundRect">
            <a:avLst>
              <a:gd name="adj" fmla="val 2130"/>
            </a:avLst>
          </a:prstGeom>
          <a:solidFill>
            <a:schemeClr val="tx2"/>
          </a:solidFill>
          <a:ln w="12700">
            <a:solidFill>
              <a:schemeClr val="tx2"/>
            </a:solidFill>
            <a:prstDash val="solid"/>
          </a:ln>
          <a:effectLst>
            <a:outerShdw sx="100000" sy="100000" kx="0" ky="0" algn="bl" rotWithShape="0" blurRad="127000" dist="38100" dir="5400000">
              <a:srgbClr val="0B1220">
                <a:alpha val="16000"/>
              </a:srgbClr>
            </a:outerShdw>
          </a:effectLst>
        </p:spPr>
      </p:sp>
      <p:pic>
        <p:nvPicPr>
          <p:cNvPr id="5" name="Overview screenshot" descr="Overview page with threat level, counters, activity chart and latest alerts">    </p:cNvPr>
          <p:cNvPicPr>
            <a:picLocks noChangeAspect="1"/>
          </p:cNvPicPr>
          <p:nvPr/>
        </p:nvPicPr>
        <p:blipFill>
          <a:blip r:embed="rId1"/>
          <a:stretch>
            <a:fillRect/>
          </a:stretch>
        </p:blipFill>
        <p:spPr>
          <a:xfrm>
            <a:off x="548640" y="1691640"/>
            <a:ext cx="5943600" cy="3343275"/>
          </a:xfrm>
          <a:prstGeom prst="rect">
            <a:avLst/>
          </a:prstGeom>
        </p:spPr>
      </p:pic>
      <p:sp>
        <p:nvSpPr>
          <p:cNvPr id="6" name="Event details screenshot frame"/>
          <p:cNvSpPr/>
          <p:nvPr/>
        </p:nvSpPr>
        <p:spPr>
          <a:xfrm>
            <a:off x="6629400" y="1645920"/>
            <a:ext cx="5074920" cy="2894648"/>
          </a:xfrm>
          <a:prstGeom prst="roundRect">
            <a:avLst>
              <a:gd name="adj" fmla="val 2527"/>
            </a:avLst>
          </a:prstGeom>
          <a:solidFill>
            <a:schemeClr val="tx2"/>
          </a:solidFill>
          <a:ln w="12700">
            <a:solidFill>
              <a:schemeClr val="tx2"/>
            </a:solidFill>
            <a:prstDash val="solid"/>
          </a:ln>
          <a:effectLst>
            <a:outerShdw sx="100000" sy="100000" kx="0" ky="0" algn="bl" rotWithShape="0" blurRad="127000" dist="38100" dir="5400000">
              <a:srgbClr val="0B1220">
                <a:alpha val="16000"/>
              </a:srgbClr>
            </a:outerShdw>
          </a:effectLst>
        </p:spPr>
      </p:sp>
      <p:pic>
        <p:nvPicPr>
          <p:cNvPr id="7" name="Event details screenshot" descr="Event details drawer with evidence, explanation and model score">    </p:cNvPr>
          <p:cNvPicPr>
            <a:picLocks noChangeAspect="1"/>
          </p:cNvPicPr>
          <p:nvPr/>
        </p:nvPicPr>
        <p:blipFill>
          <a:blip r:embed="rId2"/>
          <a:stretch>
            <a:fillRect/>
          </a:stretch>
        </p:blipFill>
        <p:spPr>
          <a:xfrm>
            <a:off x="6675120" y="1691640"/>
            <a:ext cx="4983480" cy="2803208"/>
          </a:xfrm>
          <a:prstGeom prst="rect">
            <a:avLst/>
          </a:prstGeom>
        </p:spPr>
      </p:pic>
      <p:sp>
        <p:nvSpPr>
          <p:cNvPr id="8" name="Text 4"/>
          <p:cNvSpPr txBox="1"/>
          <p:nvPr/>
        </p:nvSpPr>
        <p:spPr>
          <a:xfrm>
            <a:off x="548640" y="5166360"/>
            <a:ext cx="5943600" cy="640080"/>
          </a:xfrm>
          <a:prstGeom prst="rect">
            <a:avLst/>
          </a:prstGeom>
          <a:noFill/>
          <a:ln/>
        </p:spPr>
        <p:txBody>
          <a:bodyPr wrap="square" lIns="0" tIns="0" rIns="0" bIns="0" rtlCol="0" anchor="t"/>
          <a:lstStyle/>
          <a:p>
            <a:pPr indent="0" marL="0">
              <a:buNone/>
            </a:pPr>
            <a:r>
              <a:rPr lang="en-US" sz="1500" b="1" dirty="0">
                <a:solidFill>
                  <a:schemeClr val="bg1"/>
                </a:solidFill>
              </a:rPr>
              <a:t>Overview</a:t>
            </a:r>
            <a:pPr indent="0" marL="0">
              <a:buNone/>
            </a:pPr>
            <a:r>
              <a:rPr lang="en-US" sz="1500" dirty="0">
                <a:solidFill>
                  <a:schemeClr val="bg2"/>
                </a:solidFill>
              </a:rPr>
              <a:t>  threat level, live counters, 5-minute activity, latest alerts</a:t>
            </a:r>
            <a:endParaRPr lang="en-US" sz="1500" dirty="0"/>
          </a:p>
        </p:txBody>
      </p:sp>
      <p:sp>
        <p:nvSpPr>
          <p:cNvPr id="9" name="Text 5"/>
          <p:cNvSpPr txBox="1"/>
          <p:nvPr/>
        </p:nvSpPr>
        <p:spPr>
          <a:xfrm>
            <a:off x="6675120" y="5166360"/>
            <a:ext cx="4983480" cy="640080"/>
          </a:xfrm>
          <a:prstGeom prst="rect">
            <a:avLst/>
          </a:prstGeom>
          <a:noFill/>
          <a:ln/>
        </p:spPr>
        <p:txBody>
          <a:bodyPr wrap="square" lIns="0" tIns="0" rIns="0" bIns="0" rtlCol="0" anchor="t"/>
          <a:lstStyle/>
          <a:p>
            <a:pPr indent="0" marL="0">
              <a:buNone/>
            </a:pPr>
            <a:r>
              <a:rPr lang="en-US" sz="1500" b="1" dirty="0">
                <a:solidFill>
                  <a:schemeClr val="bg1"/>
                </a:solidFill>
              </a:rPr>
              <a:t>Event details</a:t>
            </a:r>
            <a:pPr indent="0" marL="0">
              <a:buNone/>
            </a:pPr>
            <a:r>
              <a:rPr lang="en-US" sz="1500" dirty="0">
                <a:solidFill>
                  <a:schemeClr val="bg2"/>
                </a:solidFill>
              </a:rPr>
              <a:t>  evidence, why it matters, ML score vs the 0.70 threshold</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5"/>
                </a:solidFill>
              </a:rPr>
              <a:t>ASSISTANT</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bg1"/>
                </a:solidFill>
              </a:rPr>
              <a:t>Plain-language answers, optional AI</a:t>
            </a:r>
            <a:endParaRPr lang="en-US" sz="3200" dirty="0"/>
          </a:p>
        </p:txBody>
      </p:sp>
      <p:sp>
        <p:nvSpPr>
          <p:cNvPr id="4" name="Assistant screenshot frame"/>
          <p:cNvSpPr/>
          <p:nvPr/>
        </p:nvSpPr>
        <p:spPr>
          <a:xfrm>
            <a:off x="502920" y="1645920"/>
            <a:ext cx="5577840" cy="3177540"/>
          </a:xfrm>
          <a:prstGeom prst="roundRect">
            <a:avLst>
              <a:gd name="adj" fmla="val 2302"/>
            </a:avLst>
          </a:prstGeom>
          <a:solidFill>
            <a:schemeClr val="tx2"/>
          </a:solidFill>
          <a:ln w="12700">
            <a:solidFill>
              <a:schemeClr val="tx2"/>
            </a:solidFill>
            <a:prstDash val="solid"/>
          </a:ln>
          <a:effectLst>
            <a:outerShdw sx="100000" sy="100000" kx="0" ky="0" algn="bl" rotWithShape="0" blurRad="127000" dist="38100" dir="5400000">
              <a:srgbClr val="0B1220">
                <a:alpha val="16000"/>
              </a:srgbClr>
            </a:outerShdw>
          </a:effectLst>
        </p:spPr>
      </p:sp>
      <p:pic>
        <p:nvPicPr>
          <p:cNvPr id="5" name="Assistant screenshot" descr="Assistant answering Summary, Latest alert and What is SQL injection">    </p:cNvPr>
          <p:cNvPicPr>
            <a:picLocks noChangeAspect="1"/>
          </p:cNvPicPr>
          <p:nvPr/>
        </p:nvPicPr>
        <p:blipFill>
          <a:blip r:embed="rId1"/>
          <a:stretch>
            <a:fillRect/>
          </a:stretch>
        </p:blipFill>
        <p:spPr>
          <a:xfrm>
            <a:off x="548640" y="1691640"/>
            <a:ext cx="5486400" cy="3086100"/>
          </a:xfrm>
          <a:prstGeom prst="rect">
            <a:avLst/>
          </a:prstGeom>
        </p:spPr>
      </p:pic>
      <p:sp>
        <p:nvSpPr>
          <p:cNvPr id="6" name="Settings screenshot frame"/>
          <p:cNvSpPr/>
          <p:nvPr/>
        </p:nvSpPr>
        <p:spPr>
          <a:xfrm>
            <a:off x="6126480" y="1645920"/>
            <a:ext cx="5577840" cy="3177540"/>
          </a:xfrm>
          <a:prstGeom prst="roundRect">
            <a:avLst>
              <a:gd name="adj" fmla="val 2302"/>
            </a:avLst>
          </a:prstGeom>
          <a:solidFill>
            <a:schemeClr val="tx2"/>
          </a:solidFill>
          <a:ln w="12700">
            <a:solidFill>
              <a:schemeClr val="tx2"/>
            </a:solidFill>
            <a:prstDash val="solid"/>
          </a:ln>
          <a:effectLst>
            <a:outerShdw sx="100000" sy="100000" kx="0" ky="0" algn="bl" rotWithShape="0" blurRad="127000" dist="38100" dir="5400000">
              <a:srgbClr val="0B1220">
                <a:alpha val="16000"/>
              </a:srgbClr>
            </a:outerShdw>
          </a:effectLst>
        </p:spPr>
      </p:sp>
      <p:pic>
        <p:nvPicPr>
          <p:cNvPr id="7" name="Settings screenshot" descr="Settings page for the AI provider, model and API key">    </p:cNvPr>
          <p:cNvPicPr>
            <a:picLocks noChangeAspect="1"/>
          </p:cNvPicPr>
          <p:nvPr/>
        </p:nvPicPr>
        <p:blipFill>
          <a:blip r:embed="rId2"/>
          <a:stretch>
            <a:fillRect/>
          </a:stretch>
        </p:blipFill>
        <p:spPr>
          <a:xfrm>
            <a:off x="6172200" y="1691640"/>
            <a:ext cx="5486400" cy="3086100"/>
          </a:xfrm>
          <a:prstGeom prst="rect">
            <a:avLst/>
          </a:prstGeom>
        </p:spPr>
      </p:pic>
      <p:sp>
        <p:nvSpPr>
          <p:cNvPr id="8" name="Text 4"/>
          <p:cNvSpPr txBox="1"/>
          <p:nvPr/>
        </p:nvSpPr>
        <p:spPr>
          <a:xfrm>
            <a:off x="548640" y="4983480"/>
            <a:ext cx="5486400" cy="640080"/>
          </a:xfrm>
          <a:prstGeom prst="rect">
            <a:avLst/>
          </a:prstGeom>
          <a:noFill/>
          <a:ln/>
        </p:spPr>
        <p:txBody>
          <a:bodyPr wrap="square" lIns="0" tIns="0" rIns="0" bIns="0" rtlCol="0" anchor="t"/>
          <a:lstStyle/>
          <a:p>
            <a:pPr indent="0" marL="0">
              <a:buNone/>
            </a:pPr>
            <a:r>
              <a:rPr lang="en-US" sz="1500" b="1" dirty="0">
                <a:solidFill>
                  <a:schemeClr val="accent5"/>
                </a:solidFill>
              </a:rPr>
              <a:t>Rules first</a:t>
            </a:r>
            <a:pPr indent="0" marL="0">
              <a:buNone/>
            </a:pPr>
            <a:r>
              <a:rPr lang="en-US" sz="1500" dirty="0">
                <a:solidFill>
                  <a:schemeClr val="bg2"/>
                </a:solidFill>
              </a:rPr>
              <a:t>  summaries, latest alert, FAQs, with no internet needed</a:t>
            </a:r>
            <a:endParaRPr lang="en-US" sz="1500" dirty="0"/>
          </a:p>
        </p:txBody>
      </p:sp>
      <p:sp>
        <p:nvSpPr>
          <p:cNvPr id="9" name="Text 5"/>
          <p:cNvSpPr txBox="1"/>
          <p:nvPr/>
        </p:nvSpPr>
        <p:spPr>
          <a:xfrm>
            <a:off x="6172200" y="4983480"/>
            <a:ext cx="5486400" cy="822960"/>
          </a:xfrm>
          <a:prstGeom prst="rect">
            <a:avLst/>
          </a:prstGeom>
          <a:noFill/>
          <a:ln/>
        </p:spPr>
        <p:txBody>
          <a:bodyPr wrap="square" lIns="0" tIns="0" rIns="0" bIns="0" rtlCol="0" anchor="t"/>
          <a:lstStyle/>
          <a:p>
            <a:pPr indent="0" marL="0">
              <a:buNone/>
            </a:pPr>
            <a:r>
              <a:rPr lang="en-US" sz="1500" b="1" dirty="0">
                <a:solidFill>
                  <a:schemeClr val="accent5"/>
                </a:solidFill>
              </a:rPr>
              <a:t>AI optional</a:t>
            </a:r>
            <a:pPr indent="0" marL="0">
              <a:buNone/>
            </a:pPr>
            <a:r>
              <a:rPr lang="en-US" sz="1500" dirty="0">
                <a:solidFill>
                  <a:schemeClr val="bg2"/>
                </a:solidFill>
              </a:rPr>
              <a:t>  Gemini or Groq key on the Settings page or in .env; never shown again, only summary numbers sent</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5"/>
                </a:solidFill>
              </a:rPr>
              <a:t>SENTINELWEB LAB</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bg1"/>
                </a:solidFill>
              </a:rPr>
              <a:t>Test it live, and add your own scenarios</a:t>
            </a:r>
            <a:endParaRPr lang="en-US" sz="3200" dirty="0"/>
          </a:p>
        </p:txBody>
      </p:sp>
      <p:sp>
        <p:nvSpPr>
          <p:cNvPr id="4" name="Lab screenshot frame"/>
          <p:cNvSpPr/>
          <p:nvPr/>
        </p:nvSpPr>
        <p:spPr>
          <a:xfrm>
            <a:off x="502920" y="1645920"/>
            <a:ext cx="6035040" cy="3434715"/>
          </a:xfrm>
          <a:prstGeom prst="roundRect">
            <a:avLst>
              <a:gd name="adj" fmla="val 2130"/>
            </a:avLst>
          </a:prstGeom>
          <a:solidFill>
            <a:srgbClr val="0D9488"/>
          </a:solidFill>
          <a:ln w="12700">
            <a:solidFill>
              <a:srgbClr val="0D9488"/>
            </a:solidFill>
            <a:prstDash val="solid"/>
          </a:ln>
          <a:effectLst>
            <a:outerShdw sx="100000" sy="100000" kx="0" ky="0" algn="bl" rotWithShape="0" blurRad="127000" dist="38100" dir="5400000">
              <a:srgbClr val="0B1220">
                <a:alpha val="16000"/>
              </a:srgbClr>
            </a:outerShdw>
          </a:effectLst>
        </p:spPr>
      </p:sp>
      <p:pic>
        <p:nvPicPr>
          <p:cNvPr id="5" name="Lab screenshot" descr="SentinelWeb Lab with scenario cards and result cards marked As expected">    </p:cNvPr>
          <p:cNvPicPr>
            <a:picLocks noChangeAspect="1"/>
          </p:cNvPicPr>
          <p:nvPr/>
        </p:nvPicPr>
        <p:blipFill>
          <a:blip r:embed="rId1"/>
          <a:stretch>
            <a:fillRect/>
          </a:stretch>
        </p:blipFill>
        <p:spPr>
          <a:xfrm>
            <a:off x="548640" y="1691640"/>
            <a:ext cx="5943600" cy="3343275"/>
          </a:xfrm>
          <a:prstGeom prst="rect">
            <a:avLst/>
          </a:prstGeom>
        </p:spPr>
      </p:pic>
      <p:sp>
        <p:nvSpPr>
          <p:cNvPr id="6" name="Editor screenshot frame"/>
          <p:cNvSpPr/>
          <p:nvPr/>
        </p:nvSpPr>
        <p:spPr>
          <a:xfrm>
            <a:off x="6629400" y="1645920"/>
            <a:ext cx="5074920" cy="2894648"/>
          </a:xfrm>
          <a:prstGeom prst="roundRect">
            <a:avLst>
              <a:gd name="adj" fmla="val 2527"/>
            </a:avLst>
          </a:prstGeom>
          <a:solidFill>
            <a:srgbClr val="0D9488"/>
          </a:solidFill>
          <a:ln w="12700">
            <a:solidFill>
              <a:srgbClr val="0D9488"/>
            </a:solidFill>
            <a:prstDash val="solid"/>
          </a:ln>
          <a:effectLst>
            <a:outerShdw sx="100000" sy="100000" kx="0" ky="0" algn="bl" rotWithShape="0" blurRad="127000" dist="38100" dir="5400000">
              <a:srgbClr val="0B1220">
                <a:alpha val="16000"/>
              </a:srgbClr>
            </a:outerShdw>
          </a:effectLst>
        </p:spPr>
      </p:sp>
      <p:pic>
        <p:nvPicPr>
          <p:cNvPr id="7" name="Editor screenshot" descr="Scenario editor building a custom XSS scenario with a form body">    </p:cNvPr>
          <p:cNvPicPr>
            <a:picLocks noChangeAspect="1"/>
          </p:cNvPicPr>
          <p:nvPr/>
        </p:nvPicPr>
        <p:blipFill>
          <a:blip r:embed="rId2"/>
          <a:stretch>
            <a:fillRect/>
          </a:stretch>
        </p:blipFill>
        <p:spPr>
          <a:xfrm>
            <a:off x="6675120" y="1691640"/>
            <a:ext cx="4983480" cy="2803208"/>
          </a:xfrm>
          <a:prstGeom prst="rect">
            <a:avLst/>
          </a:prstGeom>
        </p:spPr>
      </p:pic>
      <p:sp>
        <p:nvSpPr>
          <p:cNvPr id="8" name="Text 4"/>
          <p:cNvSpPr txBox="1"/>
          <p:nvPr/>
        </p:nvSpPr>
        <p:spPr>
          <a:xfrm>
            <a:off x="548640" y="5166360"/>
            <a:ext cx="5943600" cy="685800"/>
          </a:xfrm>
          <a:prstGeom prst="rect">
            <a:avLst/>
          </a:prstGeom>
          <a:noFill/>
          <a:ln/>
        </p:spPr>
        <p:txBody>
          <a:bodyPr wrap="square" lIns="0" tIns="0" rIns="0" bIns="0" rtlCol="0" anchor="t"/>
          <a:lstStyle/>
          <a:p>
            <a:pPr indent="0" marL="0">
              <a:buNone/>
            </a:pPr>
            <a:r>
              <a:rPr lang="en-US" sz="1500" b="1" dirty="0">
                <a:solidFill>
                  <a:schemeClr val="bg1"/>
                </a:solidFill>
              </a:rPr>
              <a:t>16 ready scenarios</a:t>
            </a:r>
            <a:pPr indent="0" marL="0">
              <a:buNone/>
            </a:pPr>
            <a:r>
              <a:rPr lang="en-US" sz="1500" dirty="0">
                <a:solidFill>
                  <a:schemeClr val="bg2"/>
                </a:solidFill>
              </a:rPr>
              <a:t>  normal traffic, injections, logins, floods; each result shows the verdict and ✓ As expected</a:t>
            </a:r>
            <a:endParaRPr lang="en-US" sz="1500" dirty="0"/>
          </a:p>
        </p:txBody>
      </p:sp>
      <p:sp>
        <p:nvSpPr>
          <p:cNvPr id="9" name="Text 5"/>
          <p:cNvSpPr txBox="1"/>
          <p:nvPr/>
        </p:nvSpPr>
        <p:spPr>
          <a:xfrm>
            <a:off x="6675120" y="5166360"/>
            <a:ext cx="4983480" cy="685800"/>
          </a:xfrm>
          <a:prstGeom prst="rect">
            <a:avLst/>
          </a:prstGeom>
          <a:noFill/>
          <a:ln/>
        </p:spPr>
        <p:txBody>
          <a:bodyPr wrap="square" lIns="0" tIns="0" rIns="0" bIns="0" rtlCol="0" anchor="t"/>
          <a:lstStyle/>
          <a:p>
            <a:pPr indent="0" marL="0">
              <a:buNone/>
            </a:pPr>
            <a:r>
              <a:rPr lang="en-US" sz="1500" b="1" dirty="0">
                <a:solidFill>
                  <a:schemeClr val="bg1"/>
                </a:solidFill>
              </a:rPr>
              <a:t>Your own scenarios</a:t>
            </a:r>
            <a:pPr indent="0" marL="0">
              <a:buNone/>
            </a:pPr>
            <a:r>
              <a:rPr lang="en-US" sz="1500" dirty="0">
                <a:solidFill>
                  <a:schemeClr val="bg2"/>
                </a:solidFill>
              </a:rPr>
              <a:t>  any /demo path, method and body; save, duplicate, import or export as JSON</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1"/>
                </a:solidFill>
              </a:rPr>
              <a:t>SAFE BY DESIGN · RUN IT</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tx1"/>
                </a:solidFill>
              </a:rPr>
              <a:t>Built so the monitor is never the weak spot</a:t>
            </a:r>
            <a:endParaRPr lang="en-US" sz="3200" dirty="0"/>
          </a:p>
        </p:txBody>
      </p:sp>
      <p:sp>
        <p:nvSpPr>
          <p:cNvPr id="4" name="Safety 1 circle"/>
          <p:cNvSpPr/>
          <p:nvPr/>
        </p:nvSpPr>
        <p:spPr>
          <a:xfrm>
            <a:off x="548640" y="1737360"/>
            <a:ext cx="548640" cy="548640"/>
          </a:xfrm>
          <a:prstGeom prst="ellipse">
            <a:avLst/>
          </a:prstGeom>
          <a:solidFill>
            <a:srgbClr val="2563EB"/>
          </a:solidFill>
          <a:ln w="12700">
            <a:solidFill>
              <a:srgbClr val="2563EB"/>
            </a:solidFill>
            <a:prstDash val="solid"/>
          </a:ln>
        </p:spPr>
      </p:sp>
      <p:pic>
        <p:nvPicPr>
          <p:cNvPr id="5" name="Safety 1 icon" descr="preencoded.png">    </p:cNvPr>
          <p:cNvPicPr>
            <a:picLocks noChangeAspect="1"/>
          </p:cNvPicPr>
          <p:nvPr/>
        </p:nvPicPr>
        <p:blipFill>
          <a:blip r:embed="rId1"/>
          <a:stretch>
            <a:fillRect/>
          </a:stretch>
        </p:blipFill>
        <p:spPr>
          <a:xfrm>
            <a:off x="680314" y="1869034"/>
            <a:ext cx="285293" cy="285293"/>
          </a:xfrm>
          <a:prstGeom prst="rect">
            <a:avLst/>
          </a:prstGeom>
        </p:spPr>
      </p:pic>
      <p:sp>
        <p:nvSpPr>
          <p:cNvPr id="6" name="Text 3"/>
          <p:cNvSpPr txBox="1"/>
          <p:nvPr/>
        </p:nvSpPr>
        <p:spPr>
          <a:xfrm>
            <a:off x="1280160" y="1737360"/>
            <a:ext cx="4572000" cy="548640"/>
          </a:xfrm>
          <a:prstGeom prst="rect">
            <a:avLst/>
          </a:prstGeom>
          <a:noFill/>
          <a:ln/>
        </p:spPr>
        <p:txBody>
          <a:bodyPr wrap="square" lIns="0" tIns="0" rIns="0" bIns="0" rtlCol="0" anchor="ctr"/>
          <a:lstStyle/>
          <a:p>
            <a:pPr indent="0" marL="0">
              <a:buNone/>
            </a:pPr>
            <a:r>
              <a:rPr lang="en-US" sz="1700" dirty="0">
                <a:solidFill>
                  <a:schemeClr val="tx1"/>
                </a:solidFill>
              </a:rPr>
              <a:t>Attack strings are shown as text, never run as HTML</a:t>
            </a:r>
            <a:endParaRPr lang="en-US" sz="1700" dirty="0"/>
          </a:p>
        </p:txBody>
      </p:sp>
      <p:sp>
        <p:nvSpPr>
          <p:cNvPr id="7" name="Safety 2 circle"/>
          <p:cNvSpPr/>
          <p:nvPr/>
        </p:nvSpPr>
        <p:spPr>
          <a:xfrm>
            <a:off x="548640" y="2606040"/>
            <a:ext cx="548640" cy="548640"/>
          </a:xfrm>
          <a:prstGeom prst="ellipse">
            <a:avLst/>
          </a:prstGeom>
          <a:solidFill>
            <a:srgbClr val="2563EB"/>
          </a:solidFill>
          <a:ln w="12700">
            <a:solidFill>
              <a:srgbClr val="2563EB"/>
            </a:solidFill>
            <a:prstDash val="solid"/>
          </a:ln>
        </p:spPr>
      </p:sp>
      <p:pic>
        <p:nvPicPr>
          <p:cNvPr id="8" name="Safety 2 icon" descr="preencoded.png">    </p:cNvPr>
          <p:cNvPicPr>
            <a:picLocks noChangeAspect="1"/>
          </p:cNvPicPr>
          <p:nvPr/>
        </p:nvPicPr>
        <p:blipFill>
          <a:blip r:embed="rId2"/>
          <a:stretch>
            <a:fillRect/>
          </a:stretch>
        </p:blipFill>
        <p:spPr>
          <a:xfrm>
            <a:off x="680314" y="2737714"/>
            <a:ext cx="285293" cy="285293"/>
          </a:xfrm>
          <a:prstGeom prst="rect">
            <a:avLst/>
          </a:prstGeom>
        </p:spPr>
      </p:pic>
      <p:sp>
        <p:nvSpPr>
          <p:cNvPr id="9" name="Text 5"/>
          <p:cNvSpPr txBox="1"/>
          <p:nvPr/>
        </p:nvSpPr>
        <p:spPr>
          <a:xfrm>
            <a:off x="1280160" y="2606040"/>
            <a:ext cx="4572000" cy="548640"/>
          </a:xfrm>
          <a:prstGeom prst="rect">
            <a:avLst/>
          </a:prstGeom>
          <a:noFill/>
          <a:ln/>
        </p:spPr>
        <p:txBody>
          <a:bodyPr wrap="square" lIns="0" tIns="0" rIns="0" bIns="0" rtlCol="0" anchor="ctr"/>
          <a:lstStyle/>
          <a:p>
            <a:pPr indent="0" marL="0">
              <a:buNone/>
            </a:pPr>
            <a:r>
              <a:rPr lang="en-US" sz="1700" dirty="0">
                <a:solidFill>
                  <a:schemeClr val="tx1"/>
                </a:solidFill>
              </a:rPr>
              <a:t>Parameterized SQL everywhere</a:t>
            </a:r>
            <a:endParaRPr lang="en-US" sz="1700" dirty="0"/>
          </a:p>
        </p:txBody>
      </p:sp>
      <p:sp>
        <p:nvSpPr>
          <p:cNvPr id="10" name="Safety 3 circle"/>
          <p:cNvSpPr/>
          <p:nvPr/>
        </p:nvSpPr>
        <p:spPr>
          <a:xfrm>
            <a:off x="548640" y="3474720"/>
            <a:ext cx="548640" cy="548640"/>
          </a:xfrm>
          <a:prstGeom prst="ellipse">
            <a:avLst/>
          </a:prstGeom>
          <a:solidFill>
            <a:srgbClr val="2563EB"/>
          </a:solidFill>
          <a:ln w="12700">
            <a:solidFill>
              <a:srgbClr val="2563EB"/>
            </a:solidFill>
            <a:prstDash val="solid"/>
          </a:ln>
        </p:spPr>
      </p:sp>
      <p:pic>
        <p:nvPicPr>
          <p:cNvPr id="11" name="Safety 3 icon" descr="preencoded.png">    </p:cNvPr>
          <p:cNvPicPr>
            <a:picLocks noChangeAspect="1"/>
          </p:cNvPicPr>
          <p:nvPr/>
        </p:nvPicPr>
        <p:blipFill>
          <a:blip r:embed="rId3"/>
          <a:stretch>
            <a:fillRect/>
          </a:stretch>
        </p:blipFill>
        <p:spPr>
          <a:xfrm>
            <a:off x="680314" y="3606394"/>
            <a:ext cx="285293" cy="285293"/>
          </a:xfrm>
          <a:prstGeom prst="rect">
            <a:avLst/>
          </a:prstGeom>
        </p:spPr>
      </p:pic>
      <p:sp>
        <p:nvSpPr>
          <p:cNvPr id="12" name="Text 7"/>
          <p:cNvSpPr txBox="1"/>
          <p:nvPr/>
        </p:nvSpPr>
        <p:spPr>
          <a:xfrm>
            <a:off x="1280160" y="3474720"/>
            <a:ext cx="4572000" cy="548640"/>
          </a:xfrm>
          <a:prstGeom prst="rect">
            <a:avLst/>
          </a:prstGeom>
          <a:noFill/>
          <a:ln/>
        </p:spPr>
        <p:txBody>
          <a:bodyPr wrap="square" lIns="0" tIns="0" rIns="0" bIns="0" rtlCol="0" anchor="ctr"/>
          <a:lstStyle/>
          <a:p>
            <a:pPr indent="0" marL="0">
              <a:buNone/>
            </a:pPr>
            <a:r>
              <a:rPr lang="en-US" sz="1700" dirty="0">
                <a:solidFill>
                  <a:schemeClr val="tx1"/>
                </a:solidFill>
              </a:rPr>
              <a:t>Passwords, tokens and keys are never scanned, stored or shown</a:t>
            </a:r>
            <a:endParaRPr lang="en-US" sz="1700" dirty="0"/>
          </a:p>
        </p:txBody>
      </p:sp>
      <p:sp>
        <p:nvSpPr>
          <p:cNvPr id="13" name="Safety 4 circle"/>
          <p:cNvSpPr/>
          <p:nvPr/>
        </p:nvSpPr>
        <p:spPr>
          <a:xfrm>
            <a:off x="548640" y="4343400"/>
            <a:ext cx="548640" cy="548640"/>
          </a:xfrm>
          <a:prstGeom prst="ellipse">
            <a:avLst/>
          </a:prstGeom>
          <a:solidFill>
            <a:srgbClr val="B45309"/>
          </a:solidFill>
          <a:ln w="12700">
            <a:solidFill>
              <a:srgbClr val="B45309"/>
            </a:solidFill>
            <a:prstDash val="solid"/>
          </a:ln>
        </p:spPr>
      </p:sp>
      <p:pic>
        <p:nvPicPr>
          <p:cNvPr id="14" name="Safety 4 icon" descr="preencoded.png">    </p:cNvPr>
          <p:cNvPicPr>
            <a:picLocks noChangeAspect="1"/>
          </p:cNvPicPr>
          <p:nvPr/>
        </p:nvPicPr>
        <p:blipFill>
          <a:blip r:embed="rId4"/>
          <a:stretch>
            <a:fillRect/>
          </a:stretch>
        </p:blipFill>
        <p:spPr>
          <a:xfrm>
            <a:off x="680314" y="4475074"/>
            <a:ext cx="285293" cy="285293"/>
          </a:xfrm>
          <a:prstGeom prst="rect">
            <a:avLst/>
          </a:prstGeom>
        </p:spPr>
      </p:pic>
      <p:sp>
        <p:nvSpPr>
          <p:cNvPr id="15" name="Text 9"/>
          <p:cNvSpPr txBox="1"/>
          <p:nvPr/>
        </p:nvSpPr>
        <p:spPr>
          <a:xfrm>
            <a:off x="1280160" y="4343400"/>
            <a:ext cx="4572000" cy="548640"/>
          </a:xfrm>
          <a:prstGeom prst="rect">
            <a:avLst/>
          </a:prstGeom>
          <a:noFill/>
          <a:ln/>
        </p:spPr>
        <p:txBody>
          <a:bodyPr wrap="square" lIns="0" tIns="0" rIns="0" bIns="0" rtlCol="0" anchor="ctr"/>
          <a:lstStyle/>
          <a:p>
            <a:pPr indent="0" marL="0">
              <a:buNone/>
            </a:pPr>
            <a:r>
              <a:rPr lang="en-US" sz="1700" dirty="0">
                <a:solidFill>
                  <a:schemeClr val="tx1"/>
                </a:solidFill>
              </a:rPr>
              <a:t>Model-only detections are flagged, not blocked</a:t>
            </a:r>
            <a:endParaRPr lang="en-US" sz="1700" dirty="0"/>
          </a:p>
        </p:txBody>
      </p:sp>
      <p:sp>
        <p:nvSpPr>
          <p:cNvPr id="16" name="Command card"/>
          <p:cNvSpPr/>
          <p:nvPr/>
        </p:nvSpPr>
        <p:spPr>
          <a:xfrm>
            <a:off x="6400800" y="1691640"/>
            <a:ext cx="5257800" cy="2148840"/>
          </a:xfrm>
          <a:prstGeom prst="roundRect">
            <a:avLst>
              <a:gd name="adj" fmla="val 5106"/>
            </a:avLst>
          </a:prstGeom>
          <a:solidFill>
            <a:schemeClr val="tx1"/>
          </a:solidFill>
          <a:ln w="12700">
            <a:solidFill>
              <a:schemeClr val="tx1">
                <a:alpha val="0"/>
              </a:schemeClr>
            </a:solidFill>
            <a:prstDash val="solid"/>
          </a:ln>
        </p:spPr>
      </p:sp>
      <p:sp>
        <p:nvSpPr>
          <p:cNvPr id="17" name="Text 11"/>
          <p:cNvSpPr txBox="1"/>
          <p:nvPr/>
        </p:nvSpPr>
        <p:spPr>
          <a:xfrm>
            <a:off x="6720840" y="1828800"/>
            <a:ext cx="4754880" cy="1874520"/>
          </a:xfrm>
          <a:prstGeom prst="rect">
            <a:avLst/>
          </a:prstGeom>
          <a:noFill/>
          <a:ln/>
        </p:spPr>
        <p:txBody>
          <a:bodyPr wrap="square" lIns="0" tIns="0" rIns="0" bIns="0" rtlCol="0" anchor="ctr"/>
          <a:lstStyle/>
          <a:p>
            <a:pPr indent="0" marL="0">
              <a:spcAft>
                <a:spcPts val="800"/>
              </a:spcAft>
              <a:buNone/>
            </a:pPr>
            <a:r>
              <a:rPr lang="en-US" sz="1800" dirty="0">
                <a:solidFill>
                  <a:schemeClr val="accent5"/>
                </a:solidFill>
                <a:latin typeface="Courier New" pitchFamily="34" charset="0"/>
                <a:ea typeface="Courier New" pitchFamily="34" charset="-122"/>
                <a:cs typeface="Courier New" pitchFamily="34" charset="-120"/>
              </a:rPr>
              <a:t>$ cd docker</a:t>
            </a:r>
            <a:endParaRPr lang="en-US" sz="1800" dirty="0"/>
          </a:p>
          <a:p>
            <a:pPr indent="0" marL="0">
              <a:spcAft>
                <a:spcPts val="800"/>
              </a:spcAft>
              <a:buNone/>
            </a:pPr>
            <a:r>
              <a:rPr lang="en-US" sz="1800" dirty="0">
                <a:solidFill>
                  <a:schemeClr val="accent5"/>
                </a:solidFill>
                <a:latin typeface="Courier New" pitchFamily="34" charset="0"/>
                <a:ea typeface="Courier New" pitchFamily="34" charset="-122"/>
                <a:cs typeface="Courier New" pitchFamily="34" charset="-120"/>
              </a:rPr>
              <a:t>$ docker compose up --build</a:t>
            </a:r>
            <a:endParaRPr lang="en-US" sz="1800" dirty="0"/>
          </a:p>
          <a:p>
            <a:pPr indent="0" marL="0">
              <a:spcAft>
                <a:spcPts val="800"/>
              </a:spcAft>
              <a:buNone/>
            </a:pPr>
            <a:r>
              <a:rPr lang="en-US" sz="1800" dirty="0">
                <a:solidFill>
                  <a:schemeClr val="bg1"/>
                </a:solidFill>
                <a:latin typeface="Courier New" pitchFamily="34" charset="0"/>
                <a:ea typeface="Courier New" pitchFamily="34" charset="-122"/>
                <a:cs typeface="Courier New" pitchFamily="34" charset="-120"/>
              </a:rPr>
              <a:t>dashboard  → localhost:8000</a:t>
            </a:r>
            <a:endParaRPr lang="en-US" sz="1800" dirty="0"/>
          </a:p>
          <a:p>
            <a:pPr indent="0" marL="0">
              <a:spcAft>
                <a:spcPts val="800"/>
              </a:spcAft>
              <a:buNone/>
            </a:pPr>
            <a:r>
              <a:rPr lang="en-US" sz="1800" dirty="0">
                <a:solidFill>
                  <a:schemeClr val="bg1"/>
                </a:solidFill>
                <a:latin typeface="Courier New" pitchFamily="34" charset="0"/>
                <a:ea typeface="Courier New" pitchFamily="34" charset="-122"/>
                <a:cs typeface="Courier New" pitchFamily="34" charset="-120"/>
              </a:rPr>
              <a:t>lab        → localhost:8001</a:t>
            </a:r>
            <a:endParaRPr lang="en-US" sz="1800" dirty="0"/>
          </a:p>
        </p:txBody>
      </p:sp>
      <p:sp>
        <p:nvSpPr>
          <p:cNvPr id="18" name="Text 12"/>
          <p:cNvSpPr txBox="1"/>
          <p:nvPr/>
        </p:nvSpPr>
        <p:spPr>
          <a:xfrm>
            <a:off x="6400800" y="3977640"/>
            <a:ext cx="5257800" cy="457200"/>
          </a:xfrm>
          <a:prstGeom prst="rect">
            <a:avLst/>
          </a:prstGeom>
          <a:noFill/>
          <a:ln/>
        </p:spPr>
        <p:txBody>
          <a:bodyPr wrap="square" lIns="0" tIns="0" rIns="0" bIns="0" rtlCol="0" anchor="t"/>
          <a:lstStyle/>
          <a:p>
            <a:pPr indent="0" marL="0">
              <a:buNone/>
            </a:pPr>
            <a:r>
              <a:rPr lang="en-US" sz="1400" dirty="0">
                <a:solidFill>
                  <a:schemeClr val="tx2"/>
                </a:solidFill>
              </a:rPr>
              <a:t>Without Docker: uvicorn main:app + python client/app.py</a:t>
            </a:r>
            <a:endParaRPr lang="en-US" sz="1400" dirty="0"/>
          </a:p>
        </p:txBody>
      </p:sp>
      <p:sp>
        <p:nvSpPr>
          <p:cNvPr id="19" name="Text 13"/>
          <p:cNvSpPr txBox="1"/>
          <p:nvPr/>
        </p:nvSpPr>
        <p:spPr>
          <a:xfrm>
            <a:off x="6400800" y="4617720"/>
            <a:ext cx="5257800" cy="73152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Questions?</a:t>
            </a:r>
            <a:endParaRPr lang="en-US" sz="4000" dirty="0"/>
          </a:p>
        </p:txBody>
      </p:sp>
      <p:sp>
        <p:nvSpPr>
          <p:cNvPr id="20" name="Text 14"/>
          <p:cNvSpPr txBox="1"/>
          <p:nvPr/>
        </p:nvSpPr>
        <p:spPr>
          <a:xfrm>
            <a:off x="548640" y="5440680"/>
            <a:ext cx="5669280" cy="640080"/>
          </a:xfrm>
          <a:prstGeom prst="rect">
            <a:avLst/>
          </a:prstGeom>
          <a:noFill/>
          <a:ln/>
        </p:spPr>
        <p:txBody>
          <a:bodyPr wrap="square" lIns="0" tIns="0" rIns="0" bIns="0" rtlCol="0" anchor="t"/>
          <a:lstStyle/>
          <a:p>
            <a:pPr indent="0" marL="0">
              <a:buNone/>
            </a:pPr>
            <a:r>
              <a:rPr lang="en-US" sz="1400" i="1" dirty="0">
                <a:solidFill>
                  <a:schemeClr val="tx2"/>
                </a:solidFill>
              </a:rPr>
              <a:t>Next: an XSS model, tuning rules that flag benign SQL-like text, and testing on real traffic.</a:t>
            </a:r>
            <a:endParaRPr lang="en-US" sz="1400" dirty="0"/>
          </a:p>
        </p:txBody>
      </p:sp>
      <p:sp>
        <p:nvSpPr>
          <p:cNvPr id="21" name="Text 15"/>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100" dirty="0">
                <a:solidFill>
                  <a:schemeClr val="tx2"/>
                </a:solidFill>
              </a:rPr>
              <a:t>Dataset: SQLiV3.csv, Kaggle · [dataset author] · [license]</a:t>
            </a:r>
            <a:endParaRPr lang="en-US" sz="1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SentinelWeb">
  <a:themeElements>
    <a:clrScheme name="SentinelWeb">
      <a:dk1>
        <a:srgbClr val="0B1220"/>
      </a:dk1>
      <a:lt1>
        <a:srgbClr val="FFFFFF"/>
      </a:lt1>
      <a:dk2>
        <a:srgbClr val="334155"/>
      </a:dk2>
      <a:lt2>
        <a:srgbClr val="EEF2F7"/>
      </a:lt2>
      <a:accent1>
        <a:srgbClr val="2563EB"/>
      </a:accent1>
      <a:accent2>
        <a:srgbClr val="B45309"/>
      </a:accent2>
      <a:accent3>
        <a:srgbClr val="B91C1C"/>
      </a:accent3>
      <a:accent4>
        <a:srgbClr val="0D9488"/>
      </a:accent4>
      <a:accent5>
        <a:srgbClr val="3DE6FF"/>
      </a:accent5>
      <a:accent6>
        <a:srgbClr val="FBBF24"/>
      </a:accent6>
      <a:hlink>
        <a:srgbClr val="2563EB"/>
      </a:hlink>
      <a:folHlink>
        <a:srgbClr val="334155"/>
      </a:folHlink>
    </a:clrScheme>
    <a:fontScheme name="SentinelWeb">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SentinelWeb</dc:title>
  <dc:subject>PptxGenJS Presentation</dc:subject>
  <dc:creator>[Presenter name]</dc:creator>
  <cp:lastModifiedBy>[Presenter name]</cp:lastModifiedBy>
  <cp:revision>1</cp:revision>
  <dcterms:created xsi:type="dcterms:W3CDTF">2026-10-04T10:41:33Z</dcterms:created>
  <dcterms:modified xsi:type="dcterms:W3CDTF">2026-10-04T10:41:33Z</dcterms:modified>
</cp:coreProperties>
</file>